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2930" y="377190"/>
            <a:ext cx="377190" cy="48006"/>
          </a:xfrm>
          <a:prstGeom prst="rect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2930" y="514350"/>
            <a:ext cx="82296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MCP 入門工作坊  ·  第四講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1371600"/>
            <a:ext cx="8229600" cy="10972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300" b="1" i="0">
                <a:solidFill>
                  <a:srgbClr val="1F2937"/>
                </a:solidFill>
                <a:latin typeface="Arial Black"/>
              </a:rPr>
              <a:t>動手做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2400300"/>
            <a:ext cx="822960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950" b="1" i="0">
                <a:solidFill>
                  <a:srgbClr val="7B5CF5"/>
                </a:solidFill>
                <a:latin typeface="Calibri"/>
              </a:rPr>
              <a:t>Hands-on Lab  ·  70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930" y="2948939"/>
            <a:ext cx="82296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Calibri"/>
              </a:rPr>
              <a:t>mini-project 實作主場 — 現場跑起你自己領域的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930" y="4320540"/>
            <a:ext cx="54864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Calibri"/>
              </a:rPr>
              <a:t>范耀中  Yao-Chung Fan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930" y="4629150"/>
            <a:ext cx="54864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onsolas"/>
              </a:rPr>
              <a:t>github.com/UDICatNCHU/nchu-mcp-workshop-2026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00   O U T C O M 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本節產出物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70 分鐘後,你將親手擁有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2091689"/>
            <a:ext cx="16802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2468880"/>
            <a:ext cx="168021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跑起來的 MCP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" y="3017520"/>
            <a:ext cx="168021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Node.js + Python FastMCP + 極簡 HTML chat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三層完整可運作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4650" y="2091689"/>
            <a:ext cx="16802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4650" y="2468880"/>
            <a:ext cx="168021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一支「你領域」的工具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4650" y="3017520"/>
            <a:ext cx="168021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換 JSON 就好,0 行 Python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實驗室介紹 / 課程大綱 / 研究成果清單都行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347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2091689"/>
            <a:ext cx="16802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468880"/>
            <a:ext cx="168021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Agent 資料流的脈動感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017520"/>
            <a:ext cx="168021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工具選擇 → 參數綁定 → LLM 摘要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在 terminal 看它一次跑通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6374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5190" y="2091689"/>
            <a:ext cx="16802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EF4444"/>
                </a:solidFill>
                <a:latin typeface="Arial Black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5190" y="2468880"/>
            <a:ext cx="168021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L2 / L3 挑戰路徑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5190" y="3017520"/>
            <a:ext cx="168021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帶回去繼續深入:加搜尋工具、呼叫外部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00 · ②   S C H E D U L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70 分鐘時間配置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講師 10 min 引導 + 60 min 巡場陪跑</a:t>
            </a:r>
          </a:p>
        </p:txBody>
      </p:sp>
      <p:sp>
        <p:nvSpPr>
          <p:cNvPr id="7" name="Rectangle 6"/>
          <p:cNvSpPr/>
          <p:nvPr/>
        </p:nvSpPr>
        <p:spPr>
          <a:xfrm>
            <a:off x="582930" y="1851660"/>
            <a:ext cx="1028700" cy="342900"/>
          </a:xfrm>
          <a:prstGeom prst="rect">
            <a:avLst/>
          </a:prstGeom>
          <a:solidFill>
            <a:srgbClr val="EE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19" y="1851660"/>
            <a:ext cx="3771900" cy="342900"/>
          </a:xfrm>
          <a:prstGeom prst="rect">
            <a:avLst/>
          </a:prstGeom>
          <a:solidFill>
            <a:srgbClr val="FF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851660"/>
            <a:ext cx="3394710" cy="342900"/>
          </a:xfrm>
          <a:prstGeom prst="rect">
            <a:avLst/>
          </a:prstGeom>
          <a:solidFill>
            <a:srgbClr val="D4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930" y="1851660"/>
            <a:ext cx="1028700" cy="3429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7B5CF5"/>
                </a:solidFill>
                <a:latin typeface="Arial Black"/>
              </a:rPr>
              <a:t>時段 (min)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1851660"/>
            <a:ext cx="3771900" cy="3429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FB7048"/>
                </a:solidFill>
                <a:latin typeface="Arial Black"/>
              </a:rPr>
              <a:t>做什麼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851660"/>
            <a:ext cx="3394710" cy="3429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0F766E"/>
                </a:solidFill>
                <a:latin typeface="Arial Black"/>
              </a:rPr>
              <a:t>產出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930" y="2194560"/>
            <a:ext cx="10287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7B5CF5"/>
                </a:solidFill>
                <a:latin typeface="Consolas"/>
              </a:rPr>
              <a:t>0–10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194560"/>
            <a:ext cx="3634739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講師 demo + 學員同步 ./setup.sh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59" y="2194560"/>
            <a:ext cx="325755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1">
                <a:solidFill>
                  <a:srgbClr val="374151"/>
                </a:solidFill>
                <a:latin typeface="Calibri"/>
              </a:rPr>
              <a:t>環境綠燈 5/5 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2930" y="2571750"/>
            <a:ext cx="8298179" cy="37719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930" y="2571750"/>
            <a:ext cx="10287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7B5CF5"/>
                </a:solidFill>
                <a:latin typeface="Consolas"/>
              </a:rPr>
              <a:t>10–25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571750"/>
            <a:ext cx="3634739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L1 Step 1–2:觀察現況 + 換自己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59" y="2571750"/>
            <a:ext cx="325755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1">
                <a:solidFill>
                  <a:srgbClr val="374151"/>
                </a:solidFill>
                <a:latin typeface="Calibri"/>
              </a:rPr>
              <a:t>data/your.json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930" y="2948940"/>
            <a:ext cx="10287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7B5CF5"/>
                </a:solidFill>
                <a:latin typeface="Consolas"/>
              </a:rPr>
              <a:t>25–45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2948940"/>
            <a:ext cx="3634739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L1 Step 3–4:改 docstring + 重啟驗證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59" y="2948940"/>
            <a:ext cx="325755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1">
                <a:solidFill>
                  <a:srgbClr val="374151"/>
                </a:solidFill>
                <a:latin typeface="Calibri"/>
              </a:rPr>
              <a:t>問自己資料會答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2930" y="3326130"/>
            <a:ext cx="8298179" cy="37719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930" y="3326130"/>
            <a:ext cx="10287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7B5CF5"/>
                </a:solidFill>
                <a:latin typeface="Consolas"/>
              </a:rPr>
              <a:t>45–60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3326130"/>
            <a:ext cx="3634739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交叉展示 + L2/L3 試玩 — 老師 demo 自己領域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59" y="3326130"/>
            <a:ext cx="325755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1">
                <a:solidFill>
                  <a:srgbClr val="374151"/>
                </a:solidFill>
                <a:latin typeface="Calibri"/>
              </a:rPr>
              <a:t>見識不同落地方式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930" y="3703320"/>
            <a:ext cx="10287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7B5CF5"/>
                </a:solidFill>
                <a:latin typeface="Consolas"/>
              </a:rPr>
              <a:t>60–70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3703320"/>
            <a:ext cx="3634739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Q&amp;A + 為 L2/L3 與 Segment 5 鋪陳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59" y="3703320"/>
            <a:ext cx="325755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1">
                <a:solidFill>
                  <a:srgbClr val="374151"/>
                </a:solidFill>
                <a:latin typeface="Calibri"/>
              </a:rPr>
              <a:t>清楚下一步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2930" y="442341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8669" y="442341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7B5CF5"/>
                </a:solidFill>
                <a:latin typeface="Calibri"/>
              </a:rPr>
              <a:t>▶  40 分鐘巡場預計 80% 在幫卡住的老師 — 開場預演越短,越多時間陪跑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  A R C H I T E C T U R E   R E C A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架構快速回顧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不是單向 pipeline —— Node ⟷ LLM 多輪迭代才是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17369"/>
            <a:ext cx="6172200" cy="480059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1509" y="1885950"/>
            <a:ext cx="137160" cy="34289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1817369"/>
            <a:ext cx="1714500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Arial Black"/>
              </a:rP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817369"/>
            <a:ext cx="3977639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374151"/>
                </a:solidFill>
                <a:latin typeface="Consolas"/>
              </a:rPr>
              <a:t>web/index.html  ·  fetch POST /chat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2930" y="2400300"/>
            <a:ext cx="6172200" cy="48005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509" y="2468880"/>
            <a:ext cx="137160" cy="342899"/>
          </a:xfrm>
          <a:prstGeom prst="rect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19" y="2400300"/>
            <a:ext cx="1714500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00" b="1" i="0">
                <a:solidFill>
                  <a:srgbClr val="7B5CF5"/>
                </a:solidFill>
                <a:latin typeface="Arial Black"/>
              </a:rPr>
              <a:t>Node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400300"/>
            <a:ext cx="3977639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374151"/>
                </a:solidFill>
                <a:latin typeface="Consolas"/>
              </a:rPr>
              <a:t>Express  ·  LLMClient  ·  MCPClient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930" y="2983229"/>
            <a:ext cx="6172200" cy="48005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509" y="3051809"/>
            <a:ext cx="137160" cy="342899"/>
          </a:xfrm>
          <a:prstGeom prst="rect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19" y="2983229"/>
            <a:ext cx="1714500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00" b="1" i="0">
                <a:solidFill>
                  <a:srgbClr val="0EA594"/>
                </a:solidFill>
                <a:latin typeface="Arial Black"/>
              </a:rPr>
              <a:t>Python FastMCP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983229"/>
            <a:ext cx="3977639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374151"/>
                </a:solidFill>
                <a:latin typeface="Consolas"/>
              </a:rPr>
              <a:t>@mcp.tool()  ·  stdio JSON-RPC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2930" y="3566159"/>
            <a:ext cx="6172200" cy="480059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509" y="3634739"/>
            <a:ext cx="137160" cy="342899"/>
          </a:xfrm>
          <a:prstGeom prst="rect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" y="3566159"/>
            <a:ext cx="1714500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00" b="1" i="0">
                <a:solidFill>
                  <a:srgbClr val="FB7048"/>
                </a:solidFill>
                <a:latin typeface="Arial Black"/>
              </a:rPr>
              <a:t>data/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566159"/>
            <a:ext cx="3977639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374151"/>
                </a:solidFill>
                <a:latin typeface="Consolas"/>
              </a:rPr>
              <a:t>你的 JSON  ·  外部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63740" y="2400300"/>
            <a:ext cx="1783080" cy="1165860"/>
          </a:xfrm>
          <a:prstGeom prst="roundRect">
            <a:avLst>
              <a:gd name="adj" fmla="val 10000"/>
            </a:avLst>
          </a:prstGeom>
          <a:solidFill>
            <a:srgbClr val="0F1429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63740" y="2503170"/>
            <a:ext cx="178308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125" b="1" i="0">
                <a:solidFill>
                  <a:srgbClr val="7B5CF5"/>
                </a:solidFill>
                <a:latin typeface="Arial Black"/>
              </a:rPr>
              <a:t>☁  LLM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3740" y="2880360"/>
            <a:ext cx="1783080" cy="5486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00" b="0" i="0">
                <a:solidFill>
                  <a:srgbClr val="E5E7EB"/>
                </a:solidFill>
                <a:latin typeface="Calibri"/>
              </a:rPr>
              <a:t>Claude · Gemma
· GPT · 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2930" y="438912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8669" y="438912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7B5CF5"/>
                </a:solidFill>
                <a:latin typeface="Calibri"/>
              </a:rPr>
              <a:t>▶  Node ⟷ LLM 之間迭代「問 → tool_use → 跑 → 答 → 再問」直到 end_turn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①   L L M - C L I E N T . J S   ·   2 0   L I N 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agent loop 真實長這樣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backend-node/llm-client.js — 整個系統的 20 行核心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582930" y="1714500"/>
            <a:ext cx="8229600" cy="2743200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386" y="1865376"/>
            <a:ext cx="7852409" cy="245516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async chat(messages) {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const history = [...messages];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FB924D"/>
                </a:solidFill>
                <a:latin typeface="Consolas"/>
              </a:rPr>
              <a:t>  for (let i = 0; i &lt; maxIterations; i++) {  // ← 護欄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const resp = await anthropic.messages.create({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model, tools: mcp.getAnthropicTools(),  // ① 餵 tools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messages: history,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});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history.push({ role: "assistant", content: resp.content });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FB924D"/>
                </a:solidFill>
                <a:latin typeface="Consolas"/>
              </a:rPr>
              <a:t>    if (resp.stop_reason !== "tool_use") {  // ② 結束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return { reply: extractText(resp) };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const toolUses = resp.content                  // ③ 跑工具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.filter(b =&gt; b.type === "tool_use");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const toolResults = await Promise.all(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toolUses.map(t =&gt; mcp.callTool(t.name, t.input))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);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history.push({ role: "user", content: toolResults });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}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2930" y="4560570"/>
            <a:ext cx="8229600" cy="27432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669" y="4560570"/>
            <a:ext cx="7818120" cy="2743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1" i="0">
                <a:solidFill>
                  <a:srgbClr val="7B5CF5"/>
                </a:solidFill>
                <a:latin typeface="Calibri"/>
              </a:rPr>
              <a:t>  △  maxIterations=5 是護欄;整個 agent 沒有 magic — 就是 for-loop + if-else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  P R E - W O R K S H O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Arial Black"/>
              </a:rPr>
              <a:t>行前準備(請於上課前完成)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這幾步無關概念,但卡住會吃掉現場時間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83080"/>
            <a:ext cx="8229600" cy="58293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4652" y="1892807"/>
            <a:ext cx="356616" cy="356616"/>
          </a:xfrm>
          <a:prstGeom prst="ellipse">
            <a:avLst/>
          </a:prstGeom>
          <a:solidFill>
            <a:srgbClr val="FFFFFF"/>
          </a:solidFill>
          <a:ln w="23812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" y="1892807"/>
            <a:ext cx="35661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0EA594"/>
                </a:solidFill>
                <a:latin typeface="Arial Black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83080"/>
            <a:ext cx="30861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0F766E"/>
                </a:solidFill>
                <a:latin typeface="Arial Black"/>
              </a:rPr>
              <a:t>git clone 教材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0" y="1837944"/>
            <a:ext cx="4320540" cy="53492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1F2937"/>
                </a:solidFill>
                <a:latin typeface="Consolas"/>
              </a:rPr>
              <a:t>$ git clone github.com/UDICatNCHU/nchu-mcp-workshop-2026</a:t>
            </a:r>
          </a:p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1F2937"/>
                </a:solidFill>
                <a:latin typeface="Consolas"/>
              </a:rPr>
              <a:t>$ cd nchu-mcp-workshop-2026/mini-project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2930" y="2468880"/>
            <a:ext cx="8229600" cy="58293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" y="2578608"/>
            <a:ext cx="356616" cy="356616"/>
          </a:xfrm>
          <a:prstGeom prst="ellipse">
            <a:avLst/>
          </a:prstGeom>
          <a:solidFill>
            <a:srgbClr val="FFFFFF"/>
          </a:solidFill>
          <a:ln w="23812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" y="2578608"/>
            <a:ext cx="35661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0EA594"/>
                </a:solidFill>
                <a:latin typeface="Arial Blac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68880"/>
            <a:ext cx="30861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0F766E"/>
                </a:solidFill>
                <a:latin typeface="Arial Black"/>
              </a:rPr>
              <a:t>取得 LLM 存取(二選一)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7700" y="2523744"/>
            <a:ext cx="4320540" cy="53492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1F2937"/>
                </a:solidFill>
                <a:latin typeface="Consolas"/>
              </a:rPr>
              <a:t>雲端:Anthropic Console 申請 API key(新帳號 $5 試用)</a:t>
            </a:r>
          </a:p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1F2937"/>
                </a:solidFill>
                <a:latin typeface="Consolas"/>
              </a:rPr>
              <a:t>本地:確認你會走 NCHU vLLM 路線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2930" y="3154679"/>
            <a:ext cx="8229600" cy="58293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2" y="3264408"/>
            <a:ext cx="356616" cy="356616"/>
          </a:xfrm>
          <a:prstGeom prst="ellipse">
            <a:avLst/>
          </a:prstGeom>
          <a:solidFill>
            <a:srgbClr val="FFFFFF"/>
          </a:solidFill>
          <a:ln w="23812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" y="3264408"/>
            <a:ext cx="35661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0EA594"/>
                </a:solidFill>
                <a:latin typeface="Arial Black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154679"/>
            <a:ext cx="30861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0F766E"/>
                </a:solidFill>
                <a:latin typeface="Arial Black"/>
              </a:rPr>
              <a:t>建 .env 並填入金鑰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700" y="3209544"/>
            <a:ext cx="4320540" cy="53492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1F2937"/>
                </a:solidFill>
                <a:latin typeface="Consolas"/>
              </a:rPr>
              <a:t>$ cp .env.example .env</a:t>
            </a:r>
          </a:p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1F2937"/>
                </a:solidFill>
                <a:latin typeface="Consolas"/>
              </a:rPr>
              <a:t>$ vim .env  # 填 ANTHROPIC_API_KEY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2930" y="3840479"/>
            <a:ext cx="8229600" cy="58293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" y="3950208"/>
            <a:ext cx="356616" cy="356616"/>
          </a:xfrm>
          <a:prstGeom prst="ellipse">
            <a:avLst/>
          </a:prstGeom>
          <a:solidFill>
            <a:srgbClr val="FFFFFF"/>
          </a:solidFill>
          <a:ln w="23812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" y="3950208"/>
            <a:ext cx="35661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0EA594"/>
                </a:solidFill>
                <a:latin typeface="Arial Black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840479"/>
            <a:ext cx="30861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0F766E"/>
                </a:solidFill>
                <a:latin typeface="Arial Black"/>
              </a:rPr>
              <a:t>跑環境預檢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7700" y="3895344"/>
            <a:ext cx="4320540" cy="53492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1F2937"/>
                </a:solidFill>
                <a:latin typeface="Consolas"/>
              </a:rPr>
              <a:t>$ ./setup.sh</a:t>
            </a:r>
          </a:p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1F2937"/>
                </a:solidFill>
                <a:latin typeface="Consolas"/>
              </a:rPr>
              <a:t>→ 看到 5/5 ✅ 代表現場可以直接 npm start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①   Q U I C K   S T A R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現場啟動 (5 分鐘)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三條指令 + 對照「該長什麼樣」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51660"/>
            <a:ext cx="8229600" cy="116586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975104"/>
            <a:ext cx="78867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▶  你輸入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90" y="2263139"/>
            <a:ext cx="7886700" cy="720090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" y="2414016"/>
            <a:ext cx="7509509" cy="43205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$ ./setup.sh                           # 1. sanity check 環境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$ cd backend-node &amp;&amp; npm start         # 2. 啟動 backend + MCP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$ open http://localhost:3000           # 3. 瀏覽器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2930" y="3120389"/>
            <a:ext cx="8229600" cy="157733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" y="3243833"/>
            <a:ext cx="78867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▶  你應該看到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90" y="3531870"/>
            <a:ext cx="7886700" cy="1131569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546" y="3682746"/>
            <a:ext cx="7509509" cy="84353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9CA3AF"/>
                </a:solidFill>
                <a:latin typeface="Consolas"/>
              </a:rPr>
              <a:t>&gt; mini-assistant@1.0.0 start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9CA3AF"/>
                </a:solidFill>
                <a:latin typeface="Consolas"/>
              </a:rPr>
              <a:t>&gt; node server.js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✓ hello_tool → get_english_center_info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✓ teachers_tool → search_teachers, get_teacher_detail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✓ weather_tool → get_weather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FB924D"/>
                </a:solidFill>
                <a:latin typeface="Consolas"/>
              </a:rPr>
              <a:t>→ Mini AI Assistant: http://localhost:3000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930" y="4834890"/>
            <a:ext cx="8229600" cy="2057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75" b="0" i="1">
                <a:solidFill>
                  <a:srgbClr val="0F766E"/>
                </a:solidFill>
                <a:latin typeface="Calibri"/>
              </a:rPr>
              <a:t>★  三行 ✓ + URL → MCP server 都連上了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!   S E T U P · 卡住怎麼辦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Arial Black"/>
              </a:rPr>
              <a:t>卡住了?5 個常見救援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Setup 失敗 90% 是這 5 種,先看這頁再舉手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14500"/>
            <a:ext cx="8298179" cy="534924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14500"/>
            <a:ext cx="411479" cy="53492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50" b="1" i="0">
                <a:solidFill>
                  <a:srgbClr val="EF4444"/>
                </a:solidFill>
                <a:latin typeface="Arial Black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" y="1748789"/>
            <a:ext cx="2263139" cy="2743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Arial Black"/>
              </a:rPr>
              <a:t>uv 未安裝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" y="1988819"/>
            <a:ext cx="68580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5" b="1" i="0">
                <a:solidFill>
                  <a:srgbClr val="9CA3AF"/>
                </a:solidFill>
                <a:latin typeface="Consolas"/>
              </a:rPr>
              <a:t>Mac/Linux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748789"/>
            <a:ext cx="548640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825" b="0" i="0">
                <a:solidFill>
                  <a:srgbClr val="374151"/>
                </a:solidFill>
                <a:latin typeface="Consolas"/>
              </a:rPr>
              <a:t>curl -LsSf https://astral.sh/uv/install.sh | 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5860" y="1988819"/>
            <a:ext cx="68580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5" b="1" i="0">
                <a:solidFill>
                  <a:srgbClr val="9CA3AF"/>
                </a:solidFill>
                <a:latin typeface="Consola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002536"/>
            <a:ext cx="58293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5" b="1" i="0">
                <a:solidFill>
                  <a:srgbClr val="3B82F6"/>
                </a:solidFill>
                <a:latin typeface="Consolas"/>
              </a:rPr>
              <a:t>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1929" y="2002536"/>
            <a:ext cx="490347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825" b="0" i="0">
                <a:solidFill>
                  <a:srgbClr val="374151"/>
                </a:solidFill>
                <a:latin typeface="Consolas"/>
              </a:rPr>
              <a:t>irm https://astral.sh/uv/install.ps1 | iex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930" y="2297430"/>
            <a:ext cx="8298179" cy="534924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297430"/>
            <a:ext cx="411479" cy="53492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5860" y="2331720"/>
            <a:ext cx="2263139" cy="2743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Arial Black"/>
              </a:rPr>
              <a:t>API key 沒填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5860" y="2571750"/>
            <a:ext cx="68580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5" b="1" i="0">
                <a:solidFill>
                  <a:srgbClr val="9CA3AF"/>
                </a:solidFill>
                <a:latin typeface="Consolas"/>
              </a:rPr>
              <a:t>Mac/Linux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331720"/>
            <a:ext cx="548640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825" b="0" i="0">
                <a:solidFill>
                  <a:srgbClr val="374151"/>
                </a:solidFill>
                <a:latin typeface="Consolas"/>
              </a:rPr>
              <a:t>nano .env  → 填入 sk-ant-...(不要加引號)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5860" y="2571750"/>
            <a:ext cx="68580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5" b="1" i="0">
                <a:solidFill>
                  <a:srgbClr val="9CA3AF"/>
                </a:solidFill>
                <a:latin typeface="Consola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585466"/>
            <a:ext cx="58293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5" b="1" i="0">
                <a:solidFill>
                  <a:srgbClr val="3B82F6"/>
                </a:solidFill>
                <a:latin typeface="Consolas"/>
              </a:rPr>
              <a:t>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11929" y="2585466"/>
            <a:ext cx="490347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825" b="0" i="0">
                <a:solidFill>
                  <a:srgbClr val="374151"/>
                </a:solidFill>
                <a:latin typeface="Consolas"/>
              </a:rPr>
              <a:t>notepad .env  → 填入 sk-ant-...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2930" y="2880360"/>
            <a:ext cx="8298179" cy="534924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880360"/>
            <a:ext cx="411479" cy="53492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5860" y="2914650"/>
            <a:ext cx="2263139" cy="2743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Arial Black"/>
              </a:rPr>
              <a:t>Port 3000 被佔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5860" y="3154680"/>
            <a:ext cx="68580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5" b="1" i="0">
                <a:solidFill>
                  <a:srgbClr val="9CA3AF"/>
                </a:solidFill>
                <a:latin typeface="Consolas"/>
              </a:rPr>
              <a:t>Mac/Linux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914650"/>
            <a:ext cx="548640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825" b="0" i="0">
                <a:solidFill>
                  <a:srgbClr val="374151"/>
                </a:solidFill>
                <a:latin typeface="Consolas"/>
              </a:rPr>
              <a:t>lsof -i :3000  → kill -9 &lt;PID&gt;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5860" y="3154680"/>
            <a:ext cx="68580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5" b="1" i="0">
                <a:solidFill>
                  <a:srgbClr val="9CA3AF"/>
                </a:solidFill>
                <a:latin typeface="Consola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3168396"/>
            <a:ext cx="58293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5" b="1" i="0">
                <a:solidFill>
                  <a:srgbClr val="3B82F6"/>
                </a:solidFill>
                <a:latin typeface="Consolas"/>
              </a:rPr>
              <a:t>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11929" y="3168396"/>
            <a:ext cx="490347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825" b="0" i="0">
                <a:solidFill>
                  <a:srgbClr val="374151"/>
                </a:solidFill>
                <a:latin typeface="Consolas"/>
              </a:rPr>
              <a:t>netstat -ano | findstr :3000  → taskkill /F /PID &lt;PID&gt;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2930" y="3463290"/>
            <a:ext cx="8298179" cy="534924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463290"/>
            <a:ext cx="411479" cy="53492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5860" y="3497580"/>
            <a:ext cx="2263139" cy="2743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Arial Black"/>
              </a:rPr>
              <a:t>npm install 失敗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5860" y="3737610"/>
            <a:ext cx="68580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5" b="1" i="0">
                <a:solidFill>
                  <a:srgbClr val="9CA3AF"/>
                </a:solidFill>
                <a:latin typeface="Consolas"/>
              </a:rPr>
              <a:t>Mac/Linux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3497580"/>
            <a:ext cx="548640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825" b="0" i="0">
                <a:solidFill>
                  <a:srgbClr val="374151"/>
                </a:solidFill>
                <a:latin typeface="Consolas"/>
              </a:rPr>
              <a:t>cat /tmp/mini-npm.log  → --legacy-peer-deps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5860" y="3737610"/>
            <a:ext cx="68580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5" b="1" i="0">
                <a:solidFill>
                  <a:srgbClr val="9CA3AF"/>
                </a:solidFill>
                <a:latin typeface="Consolas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3751326"/>
            <a:ext cx="58293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5" b="1" i="0">
                <a:solidFill>
                  <a:srgbClr val="3B82F6"/>
                </a:solidFill>
                <a:latin typeface="Consolas"/>
              </a:rPr>
              <a:t>Win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11929" y="3751326"/>
            <a:ext cx="490347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825" b="0" i="0">
                <a:solidFill>
                  <a:srgbClr val="374151"/>
                </a:solidFill>
                <a:latin typeface="Consolas"/>
              </a:rPr>
              <a:t>type %TEMP%\mini-npm.log  → --legacy-peer-deps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2930" y="4046220"/>
            <a:ext cx="8298179" cy="534924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046220"/>
            <a:ext cx="411479" cy="53492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50" b="1" i="0">
                <a:solidFill>
                  <a:srgbClr val="3B82F6"/>
                </a:solidFill>
                <a:latin typeface="Arial Black"/>
              </a:rPr>
              <a:t>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5860" y="4080510"/>
            <a:ext cx="2263139" cy="2743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Arial Black"/>
              </a:rPr>
              <a:t>LLM 答錯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5860" y="4320540"/>
            <a:ext cx="68580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5" b="1" i="0">
                <a:solidFill>
                  <a:srgbClr val="9CA3AF"/>
                </a:solidFill>
                <a:latin typeface="Consolas"/>
              </a:rPr>
              <a:t>Mac/Linux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0" y="4080510"/>
            <a:ext cx="548640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825" b="0" i="0">
                <a:solidFill>
                  <a:srgbClr val="374151"/>
                </a:solidFill>
                <a:latin typeface="Consolas"/>
              </a:rPr>
              <a:t>Ctrl+C 重啟 server  →  把 docstring 寫更具體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5860" y="4320540"/>
            <a:ext cx="68580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5" b="1" i="0">
                <a:solidFill>
                  <a:srgbClr val="9CA3AF"/>
                </a:solidFill>
                <a:latin typeface="Consolas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4334256"/>
            <a:ext cx="58293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5" b="1" i="0">
                <a:solidFill>
                  <a:srgbClr val="3B82F6"/>
                </a:solidFill>
                <a:latin typeface="Consolas"/>
              </a:rPr>
              <a:t>Win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11929" y="4334256"/>
            <a:ext cx="4903470" cy="24002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825" b="0" i="0">
                <a:solidFill>
                  <a:srgbClr val="374151"/>
                </a:solidFill>
                <a:latin typeface="Consolas"/>
              </a:rPr>
              <a:t>Ctrl+C 重啟 server  →  把 docstring 寫更具體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2930" y="4697729"/>
            <a:ext cx="8229600" cy="30861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8669" y="4697729"/>
            <a:ext cx="7818120" cy="30861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  <a:latin typeface="Calibri"/>
              </a:rPr>
              <a:t>i  Windows 學員建議用 Git Bash:Mac/Linux 指令一律可跑(setup.sh 也直接用)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②   L L M   R O U T E   ·   1   L I N E   T O   S W I T C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選你的 LLM 路線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.env 一行切換 —— 因為 MCP 工具兩家都認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51660"/>
            <a:ext cx="4080510" cy="253746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975104"/>
            <a:ext cx="37376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☁  雲端 · Anthropic Claude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63139"/>
            <a:ext cx="3874770" cy="1988819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414016"/>
            <a:ext cx="3497580" cy="170078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# .env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FB924D"/>
                </a:solidFill>
                <a:latin typeface="Consolas"/>
              </a:rPr>
              <a:t>LLM_PROVIDER=anthropic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ANTHROPIC_API_KEY=sk-ant-...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ANTHROPIC_MODEL=claude-haiku-4-5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# 優點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# • 工具呼叫品質最佳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# • 啟動快,$5 試用額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34890" y="1851660"/>
            <a:ext cx="4011929" cy="253746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6340" y="1975104"/>
            <a:ext cx="366902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🏠  本地 · NCHU vLLM (Gemma 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263139"/>
            <a:ext cx="3806189" cy="1988819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2414016"/>
            <a:ext cx="3429000" cy="170078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# .env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FB924D"/>
                </a:solidFill>
                <a:latin typeface="Consolas"/>
              </a:rPr>
              <a:t>LLM_PROVIDER=openai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OPENAI_BASE_URL=http://&lt;ws&gt;:8000/v1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OPENAI_API_KEY=dummy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OPENAI_MODEL=gemma-4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# 優點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# • 0 美金,無 token 限制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930" y="442341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669" y="442341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7B5CF5"/>
                </a:solidFill>
                <a:latin typeface="Calibri"/>
              </a:rPr>
              <a:t>  ★  N+M 的甜蜜:你的工具一支不變,adapter 差別只在 mcp-client.js 幾行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03   L A B   1   ·   換   J S 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Lab 1 — 換 JSON 做你領域的助理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0 行 Python · 40 分鐘 · 現場必做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6374" y="2009394"/>
            <a:ext cx="438912" cy="438912"/>
          </a:xfrm>
          <a:prstGeom prst="ellipse">
            <a:avLst/>
          </a:prstGeom>
          <a:solidFill>
            <a:srgbClr val="FFFFFF"/>
          </a:solidFill>
          <a:ln w="23812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6374" y="2009394"/>
            <a:ext cx="438912" cy="43891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7B5CF5"/>
                </a:solidFill>
                <a:latin typeface="Arial Black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" y="2708910"/>
            <a:ext cx="16802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觀察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" y="3154679"/>
            <a:ext cx="168021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看 [tool_use] log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AI 摘要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" y="4080510"/>
            <a:ext cx="168021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1" i="1">
                <a:solidFill>
                  <a:srgbClr val="7B5CF5"/>
                </a:solidFill>
                <a:latin typeface="Consolas"/>
              </a:rPr>
              <a:t>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66644" y="2009394"/>
            <a:ext cx="438912" cy="438912"/>
          </a:xfrm>
          <a:prstGeom prst="ellipse">
            <a:avLst/>
          </a:prstGeom>
          <a:solidFill>
            <a:srgbClr val="FFFFFF"/>
          </a:solidFill>
          <a:ln w="23812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6644" y="2009394"/>
            <a:ext cx="438912" cy="43891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FB7048"/>
                </a:solidFill>
                <a:latin typeface="Arial Black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4650" y="2708910"/>
            <a:ext cx="16802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換資料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4650" y="3154679"/>
            <a:ext cx="168021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編輯 data/*.json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放你的領域內容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4650" y="4080510"/>
            <a:ext cx="168021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1" i="1">
                <a:solidFill>
                  <a:srgbClr val="FB7048"/>
                </a:solidFill>
                <a:latin typeface="Consolas"/>
              </a:rPr>
              <a:t>15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0347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6914" y="2009394"/>
            <a:ext cx="438912" cy="438912"/>
          </a:xfrm>
          <a:prstGeom prst="ellipse">
            <a:avLst/>
          </a:prstGeom>
          <a:solidFill>
            <a:srgbClr val="FFFFFF"/>
          </a:solidFill>
          <a:ln w="23812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6914" y="2009394"/>
            <a:ext cx="438912" cy="43891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0EA594"/>
                </a:solidFill>
                <a:latin typeface="Arial Black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708910"/>
            <a:ext cx="16802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改說明書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154679"/>
            <a:ext cx="168021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docstring 的使用情境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決定工具呼叫率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080510"/>
            <a:ext cx="168021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1" i="1">
                <a:solidFill>
                  <a:srgbClr val="0EA594"/>
                </a:solidFill>
                <a:latin typeface="Consolas"/>
              </a:rPr>
              <a:t>10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6374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87184" y="2009394"/>
            <a:ext cx="438912" cy="438912"/>
          </a:xfrm>
          <a:prstGeom prst="ellipse">
            <a:avLst/>
          </a:prstGeom>
          <a:solidFill>
            <a:srgbClr val="FFFFFF"/>
          </a:solidFill>
          <a:ln w="23812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87184" y="2009394"/>
            <a:ext cx="438912" cy="43891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EF4444"/>
                </a:solidFill>
                <a:latin typeface="Arial Black"/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5190" y="2708910"/>
            <a:ext cx="16802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驗證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5190" y="3154679"/>
            <a:ext cx="168021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重啟 npm start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問自己資料問題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5190" y="4080510"/>
            <a:ext cx="168021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1" i="1">
                <a:solidFill>
                  <a:srgbClr val="EF4444"/>
                </a:solidFill>
                <a:latin typeface="Consolas"/>
              </a:rPr>
              <a:t>5 min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2930" y="4457700"/>
            <a:ext cx="8229600" cy="3429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669" y="4457700"/>
            <a:ext cx="7818120" cy="3429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7B5CF5"/>
                </a:solidFill>
                <a:latin typeface="Calibri"/>
              </a:rPr>
              <a:t>▶  產出:你的 AI 助理會回答你自己放進去的資料 — 不是英文中心 demo 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03 · ①②   L A B   1   ·   S T E P S   1 - 2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Step 1–2:觀察 → 換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還沒動到 Python 一個字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51660"/>
            <a:ext cx="4080510" cy="27432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975104"/>
            <a:ext cx="37376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Step 1  觀察 (5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2263139"/>
            <a:ext cx="3771900" cy="22631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在瀏覽器問:</a:t>
            </a:r>
          </a:p>
          <a:p>
            <a:pPr algn="l">
              <a:spcAft>
                <a:spcPts val="900"/>
              </a:spcAft>
            </a:pPr>
            <a:r>
              <a:rPr sz="1125" b="1" i="0">
                <a:solidFill>
                  <a:srgbClr val="5B3ED9"/>
                </a:solidFill>
                <a:latin typeface="Calibri"/>
              </a:rPr>
              <a:t>「英文中心幾點開門?」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在 terminal 觀察:</a:t>
            </a:r>
          </a:p>
          <a:p>
            <a:pPr algn="l">
              <a:spcAft>
                <a:spcPts val="1050"/>
              </a:spcAft>
            </a:pPr>
            <a:r>
              <a:rPr sz="900" b="1" i="0">
                <a:solidFill>
                  <a:srgbClr val="FB7048"/>
                </a:solidFill>
                <a:latin typeface="Consolas"/>
              </a:rPr>
              <a:t>[tool_use] get_english_center_info</a:t>
            </a:r>
          </a:p>
          <a:p>
            <a:pPr algn="l">
              <a:spcAft>
                <a:spcPts val="300"/>
              </a:spcAft>
            </a:pPr>
            <a:r>
              <a:rPr sz="975" b="1" i="0">
                <a:solidFill>
                  <a:srgbClr val="1F2937"/>
                </a:solidFill>
                <a:latin typeface="Calibri"/>
              </a:rPr>
              <a:t>💡  關鍵觀察:</a:t>
            </a:r>
          </a:p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374151"/>
                </a:solidFill>
                <a:latin typeface="Calibri"/>
              </a:rPr>
              <a:t>Claude 不會 dump 整份 JSON,挑出「開放時間」那一段。這是 LLM 對 tool result 的摘要 — agent 的靈魂。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34890" y="1851660"/>
            <a:ext cx="4011929" cy="27432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6340" y="1975104"/>
            <a:ext cx="366902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Step 2  換 JSON (15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6340" y="2263139"/>
            <a:ext cx="3703320" cy="22631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編輯:</a:t>
            </a:r>
          </a:p>
          <a:p>
            <a:pPr algn="l">
              <a:spcAft>
                <a:spcPts val="900"/>
              </a:spcAft>
            </a:pPr>
            <a:r>
              <a:rPr sz="900" b="1" i="0">
                <a:solidFill>
                  <a:srgbClr val="FB7048"/>
                </a:solidFill>
                <a:latin typeface="Consolas"/>
              </a:rPr>
              <a:t>mcp-server-py/data/english_center.json</a:t>
            </a:r>
          </a:p>
          <a:p>
            <a:pPr algn="l">
              <a:spcAft>
                <a:spcPts val="300"/>
              </a:spcAft>
            </a:pPr>
            <a:r>
              <a:rPr sz="975" b="1" i="0">
                <a:solidFill>
                  <a:srgbClr val="1F2937"/>
                </a:solidFill>
                <a:latin typeface="Calibri"/>
              </a:rPr>
              <a:t>換成你自己的領域資料:</a:t>
            </a:r>
          </a:p>
          <a:p>
            <a:pPr algn="l">
              <a:spcAft>
                <a:spcPts val="15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• 你的研究室介紹</a:t>
            </a:r>
          </a:p>
          <a:p>
            <a:pPr algn="l">
              <a:spcAft>
                <a:spcPts val="15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• 你教的一門課(大綱/作業/評分)</a:t>
            </a:r>
          </a:p>
          <a:p>
            <a:pPr algn="l">
              <a:spcAft>
                <a:spcPts val="9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• 你系所的 FAQ / 研究成果清單</a:t>
            </a:r>
          </a:p>
          <a:p>
            <a:pPr algn="l">
              <a:spcAft>
                <a:spcPts val="150"/>
              </a:spcAft>
            </a:pPr>
            <a:r>
              <a:rPr sz="900" b="1" i="0">
                <a:solidFill>
                  <a:srgbClr val="B91C1C"/>
                </a:solidFill>
                <a:latin typeface="Calibri"/>
              </a:rPr>
              <a:t>△  JSON 語法錯會卡住:</a:t>
            </a:r>
          </a:p>
          <a:p>
            <a:pPr algn="l">
              <a:spcAft>
                <a:spcPts val="0"/>
              </a:spcAft>
            </a:pPr>
            <a:r>
              <a:rPr sz="825" b="0" i="0">
                <a:solidFill>
                  <a:srgbClr val="B91C1C"/>
                </a:solidFill>
                <a:latin typeface="Consolas"/>
              </a:rPr>
              <a:t>python3 -m json.tool data/xxx.json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03 · ③   L A B   1   ·   S T E P   3   ·   D O C S T R I N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250" b="1" i="0">
                <a:solidFill>
                  <a:srgbClr val="1F2937"/>
                </a:solidFill>
                <a:latin typeface="Arial Black"/>
              </a:rPr>
              <a:t>Step 3:改 docstring (10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直接拿 repo 兩支真實工具對照 —— 同樣語法、教 LLM 不同事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51660"/>
            <a:ext cx="4080510" cy="246888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975104"/>
            <a:ext cx="37376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📝  minimal — hello_tool.py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90" y="2263139"/>
            <a:ext cx="3806189" cy="1988819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" y="2414016"/>
            <a:ext cx="3429000" cy="170078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FB924D"/>
                </a:solidFill>
                <a:latin typeface="Consolas"/>
              </a:rPr>
              <a:t>@mcp.tool()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def get_english_center_info() -&gt; str: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"""取得中興大學英語自學暨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檢定中心的完整資訊。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回傳 JSON 字串,包含: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名稱、開放時間、地點、設備…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使用情境:使用者詢問英語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自學中心相關問題時呼叫。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"""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34890" y="1851660"/>
            <a:ext cx="4011929" cy="246888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6340" y="1975104"/>
            <a:ext cx="366902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📖  rich — teachers_tool.py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263139"/>
            <a:ext cx="3806189" cy="1988819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2414016"/>
            <a:ext cx="3429000" cy="170078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FB924D"/>
                </a:solidFill>
                <a:latin typeface="Consolas"/>
              </a:rPr>
              <a:t>@mcp.tool()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def get_teacher_detail(name: str) -&gt; str: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"""取得指定教授的完整資訊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(email、辦公室、研究領域)。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使用情境:使用者問某位教授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的聯絡方式或完整資料時呼叫。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通常在 search_teachers 找到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FB924D"/>
                </a:solidFill>
                <a:latin typeface="Consolas"/>
              </a:rPr>
              <a:t>    候選名單後再呼叫。 ← 跨工具線索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Args: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    name: 教授姓名(完整中文)。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930" y="442341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669" y="442341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7B5CF5"/>
                </a:solidFill>
                <a:latin typeface="Calibri"/>
              </a:rPr>
              <a:t>▶  影響 LLM 行為的 3 元素:使用情境(該不該叫) / Args 描述(怎麼填) / 跨工具線索(呼叫順序)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★   L 2 / L 3   P R E V I E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L2 / L3 — 帶回去繼續深入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課後自修,參考 mini-project/docs/labs/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851660"/>
            <a:ext cx="2708910" cy="253746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54530"/>
            <a:ext cx="6858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800" b="1" i="0">
                <a:solidFill>
                  <a:srgbClr val="0EA594"/>
                </a:solidFill>
                <a:latin typeface="Arial Black"/>
              </a:rPr>
              <a:t>L1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4589" y="2023110"/>
            <a:ext cx="51435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87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34589" y="2023110"/>
            <a:ext cx="514350" cy="2743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1" i="0">
                <a:solidFill>
                  <a:srgbClr val="0EA594"/>
                </a:solidFill>
                <a:latin typeface="Consolas"/>
              </a:rPr>
              <a:t>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34589"/>
            <a:ext cx="236601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換 JSON 做你領域的助理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48939"/>
            <a:ext cx="236601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課堂現場必做</a:t>
            </a:r>
          </a:p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0 行 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3260" y="1851660"/>
            <a:ext cx="2708910" cy="253746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4710" y="1954530"/>
            <a:ext cx="6858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800" b="1" i="0">
                <a:solidFill>
                  <a:srgbClr val="FB7048"/>
                </a:solidFill>
                <a:latin typeface="Arial Black"/>
              </a:rPr>
              <a:t>L2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80660" y="2023110"/>
            <a:ext cx="51435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87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0660" y="2023110"/>
            <a:ext cx="514350" cy="2743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1" i="0">
                <a:solidFill>
                  <a:srgbClr val="FB7048"/>
                </a:solidFill>
                <a:latin typeface="Consolas"/>
              </a:rPr>
              <a:t>+1 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4710" y="2434589"/>
            <a:ext cx="236601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加一支有參數的搜尋工具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4710" y="2948939"/>
            <a:ext cx="236601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課後自修</a:t>
            </a:r>
          </a:p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寫一個 @mcp.tool()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69330" y="1851660"/>
            <a:ext cx="2708910" cy="253746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0780" y="1954530"/>
            <a:ext cx="6858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Arial Black"/>
              </a:rPr>
              <a:t>L3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6730" y="2023110"/>
            <a:ext cx="51435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87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6730" y="2023110"/>
            <a:ext cx="514350" cy="2743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1" i="0">
                <a:solidFill>
                  <a:srgbClr val="EF4444"/>
                </a:solidFill>
                <a:latin typeface="Consolas"/>
              </a:rPr>
              <a:t>+2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0780" y="2434589"/>
            <a:ext cx="236601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呼叫外部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0780" y="2948939"/>
            <a:ext cx="236601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課後自修</a:t>
            </a:r>
          </a:p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串 arxiv/weather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2930" y="4457700"/>
            <a:ext cx="8229600" cy="3429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669" y="4457700"/>
            <a:ext cx="7818120" cy="3429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7B5CF5"/>
                </a:solidFill>
                <a:latin typeface="Calibri"/>
              </a:rPr>
              <a:t>▶  三關手冊:mini-project/docs/labs/L1-customize-your-data.md / L2 / L3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