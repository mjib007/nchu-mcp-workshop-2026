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3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Hands-on Lab  ·  70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29489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O U T C O M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本節產出物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70 分鐘後,你將親手擁有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跑起來的 MCP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Node.js + Python FastMCP + 極簡 HTML chat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三層完整可運作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465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一支「你領域」的工具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換 JSON 就好,0 行 Python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實驗室介紹 / 課程大綱 / 研究成果清單都行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Agent 資料流的脈動感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工具選擇 → 參數綁定 → LLM 摘要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看它一次跑通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519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519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L2 / L3 挑戰路徑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519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帶回去繼續深入:加搜尋工具、呼叫外部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②   S C H E D U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70 分鐘時間配置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講師 10 min 引導 + 60 min 巡場陪跑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時段 (min)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做什麼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Arial Black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19456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0–10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講師 demo + 學員同步 ./setup.sh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219456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環境綠燈 5/5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57175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" y="257175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10–25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7175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1–2:觀察現況 + 換自己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175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data/your.json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294894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25–45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4894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3–4:改 docstring + 重啟驗證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94894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問自己資料會答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2613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930" y="332613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45–60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2613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交叉展示 + L2/L3 試玩 — 老師 demo 自己領域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32613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見識不同落地方式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" y="370332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60–70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70332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59" y="370332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清楚下一步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40 分鐘巡場預計 80% 在幫卡住的老師 — 開場預演越短,越多時間陪跑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R C H I T E C T U R E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架構快速回顧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不是單向 pipeline —— Node ⟷ LLM 多輪迭代才是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34289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400300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509" y="2468880"/>
            <a:ext cx="137160" cy="34289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400300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Node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400300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98322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509" y="3051809"/>
            <a:ext cx="137160" cy="34289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298322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Python FastMCP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8322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56615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509" y="3634739"/>
            <a:ext cx="137160" cy="34289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356615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data/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6615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63740" y="2400300"/>
            <a:ext cx="1783080" cy="1165860"/>
          </a:xfrm>
          <a:prstGeom prst="roundRect">
            <a:avLst>
              <a:gd name="adj" fmla="val 10000"/>
            </a:avLst>
          </a:prstGeom>
          <a:solidFill>
            <a:srgbClr val="0F1429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3740" y="2503170"/>
            <a:ext cx="17830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☁ 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3740" y="2880360"/>
            <a:ext cx="178308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E5E7EB"/>
                </a:solidFill>
                <a:latin typeface="Calibri"/>
              </a:rPr>
              <a:t>Claude · Gemma
· GPT ·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Node ⟷ LLM 之間迭代「問 → tool_use → 跑 → 答 → 再問」直到 end_turn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- C L I E N T . J S   ·   2 0   L I N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 loop 真實長這樣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backend-node/llm-client.js — 整個系統的 20 行核心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chat(messages)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history = [...messages];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for (let i = 0; i &lt; maxIterations; i++) {  // ← 護欄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resp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model, tools: mcp.getAnthropicTools(),  // ① 餵 tools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messages: 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"assistant", content: resp.content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(resp.stop_reason !== "tool_use") {  // ②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return { reply: extractText(resp) };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toolUses = resp.content                  // ③ 跑工具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.filter(b =&gt; b.type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toolResults = await Promise.all(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toolUses.map(t =&gt; mcp.callTool(t.name, t.input))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"user", content: toolResults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7B5CF5"/>
                </a:solidFill>
                <a:latin typeface="Calibri"/>
              </a:rPr>
              <a:t>  △  maxIterations=10 是護欄;整個 agent 沒有 magic — 就是 for-loop + if-else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P R E - W O R K S H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行前準備(請於上課前完成)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這幾步無關概念,但卡住會吃掉現場時間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830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4652" y="1892807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" y="1892807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git clone 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8379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git clone github.com/UDICatNCHU/nchu-mcp-workshop-2026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cd nchu-mcp-workshop-2026/mini-project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4688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" y="25786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" y="25786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688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取得 LLM 存取(二選一)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7700" y="25237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雲端:Anthropic Console 申請 API key(新帳號 $5 試用)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本地:確認你會走 NCHU vLLM 路線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1546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" y="32644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" y="32644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1546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建 .env 並填入金鑰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2095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cp .env.example .env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vim .env  # 填 ANTHROPIC_API_KEY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8404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" y="39502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" y="39502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跑環境預檢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38953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./setup.sh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→ 看到 5/5 ✅ 代表現場可以直接 npm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Q U I C K   S T A R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現場啟動 (5 分鐘)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三條指令 + 對照「該長什麼樣」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▶  你輸入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7886700" cy="7200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7509509" cy="4320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./setup.sh                           # 1. sanity check 環境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cd backend-node &amp;&amp; npm start         # 2. 啟動 backend + MCP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open http://localhost:3000           # 3. 瀏覽器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3120389"/>
            <a:ext cx="8229600" cy="15773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3243833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▶  你應該看到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90" y="3531870"/>
            <a:ext cx="7886700" cy="113156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" y="3682746"/>
            <a:ext cx="7509509" cy="84353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mini-assistant@1.0.0 start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node server.js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hello_tool → get_english_center_info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teachers_tool → search_teachers, get_teacher_detail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weather_tool → get_weather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→ Mini AI Assistant: http://localhost:3000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834890"/>
            <a:ext cx="8229600" cy="2057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0F766E"/>
                </a:solidFill>
                <a:latin typeface="Calibri"/>
              </a:rPr>
              <a:t>★  三行 ✓ + URL → MCP server 都連上了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!   S E T U P · 卡住怎麼辦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卡住了?5 個常見救援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Setup 失敗 90% 是這 5 種,先看這頁再舉手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450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748789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uv 未安裝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748789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curl -LsSf https://astral.sh/uv/install.sh | 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00253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929" y="200253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irm https://astral.sh/uv/install.ps1 | iex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29743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9743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233172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API key 沒填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33172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nano .env  → 填入 sk-ant-...(不要加引號)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58546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929" y="258546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notepad .env  → 填入 sk-ant-...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288036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8036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" y="291465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Port 3000 被佔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291465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lsof -i :3000  → kill -9 &lt;PID&gt;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16839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1929" y="316839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netstat -ano | findstr :3000  → taskkill /F /PID &lt;PID&gt;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346329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46329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860" y="349758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npm install 失敗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49758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cat /tmp/mini-npm.log  → --legacy-peer-deps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75132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11929" y="375132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type %TEMP%\mini-npm.log  → --legacy-peer-deps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2930" y="404622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04622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860" y="408051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LLM 答錯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40805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433425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1929" y="433425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930" y="4697729"/>
            <a:ext cx="8229600" cy="30861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8669" y="4697729"/>
            <a:ext cx="78181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i  Windows 學員建議用 Git Bash:Mac/Linux 指令一律可跑(setup.sh 也直接用)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L L M   R O U T E   ·   1   L I N E   T O   S W I T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選你的 LLM 路線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.env 一行切換 —— 因為 MCP 工具兩家都認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☁  雲端 · Anthropic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63139"/>
            <a:ext cx="3874770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14016"/>
            <a:ext cx="349758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LLM_PROVIDER=anthropic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ANTHROPIC_API_KEY=sk-ant-...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ANTHROPIC_MODEL=claude-haiku-4-5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工具呼叫品質最佳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啟動快,$5 試用額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🏠  本地 · NCHU vLLM (Gemma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LLM_PROVIDER=openai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OPENAI_BASE_URL=http://&lt;ws&gt;:8000/v1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OPENAI_API_KEY=dummy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OPENAI_MODEL=gemma-4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0 美金,無 token 限制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  ★  N+M 的甜蜜:你的工具一支不變,adapter 差別只在 mcp-client.js 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L A B   1   ·   換   J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看 [tool_use] log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AI 摘要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7B5CF5"/>
                </a:solidFill>
                <a:latin typeface="Consolas"/>
              </a:rPr>
              <a:t>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換資料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 data/*.json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放你的領域內容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FB7048"/>
                </a:solidFill>
                <a:latin typeface="Consolas"/>
              </a:rPr>
              <a:t>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改說明書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docstring 的使用情境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決定工具呼叫率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0EA594"/>
                </a:solidFill>
                <a:latin typeface="Consolas"/>
              </a:rPr>
              <a:t>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519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519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重啟 npm start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問自己資料問題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519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EF4444"/>
                </a:solidFill>
                <a:latin typeface="Consolas"/>
              </a:rPr>
              <a:t>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產出:你的 AI 助理會回答你自己放進去的資料 — 不是英文中心 demo 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①②   L A B   1   ·   S T E P S   1 - 2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Step 1–2:觀察 → 換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Step 1  觀察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在瀏覽器問:</a:t>
            </a:r>
          </a:p>
          <a:p>
            <a:pPr algn="l">
              <a:spcAft>
                <a:spcPts val="900"/>
              </a:spcAft>
            </a:pPr>
            <a:r>
              <a:rPr sz="1125" b="1" i="0">
                <a:solidFill>
                  <a:srgbClr val="5B3ED9"/>
                </a:solidFill>
                <a:latin typeface="Calibri"/>
              </a:rPr>
              <a:t>「英文中心幾點開門?」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觀察:</a:t>
            </a:r>
          </a:p>
          <a:p>
            <a:pPr algn="l">
              <a:spcAft>
                <a:spcPts val="10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[tool_use] get_english_center_info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💡  關鍵觀察: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374151"/>
                </a:solidFill>
                <a:latin typeface="Calibri"/>
              </a:rPr>
              <a:t>Claude 不會 dump 整份 JSON,挑出「開放時間」那一段。這是 LLM 對 tool result 的摘要 — agent 的靈魂。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Step 2  換 JSON (15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編輯:</a:t>
            </a:r>
          </a:p>
          <a:p>
            <a:pPr algn="l">
              <a:spcAft>
                <a:spcPts val="90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mcp-server-py/data/english_center.json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換成你自己的領域資料: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你教的一門課(大綱/作業/評分)</a:t>
            </a:r>
          </a:p>
          <a:p>
            <a:pPr algn="l">
              <a:spcAft>
                <a:spcPts val="9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你系所的 FAQ / 研究成果清單</a:t>
            </a:r>
          </a:p>
          <a:p>
            <a:pPr algn="l">
              <a:spcAft>
                <a:spcPts val="150"/>
              </a:spcAft>
            </a:pPr>
            <a:r>
              <a:rPr sz="900" b="1" i="0">
                <a:solidFill>
                  <a:srgbClr val="B91C1C"/>
                </a:solidFill>
                <a:latin typeface="Calibri"/>
              </a:rPr>
              <a:t>△  JSON 語法錯會卡住:</a:t>
            </a:r>
          </a:p>
          <a:p>
            <a:pPr algn="l">
              <a:spcAft>
                <a:spcPts val="0"/>
              </a:spcAft>
            </a:pPr>
            <a:r>
              <a:rPr sz="825" b="0" i="0">
                <a:solidFill>
                  <a:srgbClr val="B91C1C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L A B   1   ·   S T E P   3   ·   D O C S T R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Step 3:改 docstring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直接拿 repo 兩支真實工具對照 —— 同樣語法、教 LLM 不同事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📝  minimal — hello_tool.py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get_english_center_info()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"""取得中興大學英語自學暨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檢定中心的完整資訊。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回傳 JSON 字串,包含: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名稱、開放時間、地點、設備…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使用情境:使用者詢問英語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自學中心相關問題時呼叫。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📖  rich — teachers_tool.py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get_teacher_detail(name: str)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"""取得指定教授的完整資訊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(email、辦公室、研究領域)。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使用情境:使用者問某位教授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的聯絡方式或完整資料時呼叫。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通常在 search_teachers 找到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候選名單後再呼叫。 ← 跨工具線索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Args: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    name: 教授姓名(完整中文)。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影響 LLM 行為的 3 元素:使用情境(該不該叫) / Args 描述(怎麼填) / 跨工具線索(呼叫順序)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L 2 / L 3   P R E V I E 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L2 / L3 — 帶回去繼續深入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課後自修,參考 mini-project/docs/labs/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4589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4589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0EA594"/>
                </a:solidFill>
                <a:latin typeface="Consolas"/>
              </a:rPr>
              <a:t>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換 JSON 做你領域的助理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課堂現場必做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471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066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066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B7048"/>
                </a:solidFill>
                <a:latin typeface="Consolas"/>
              </a:rPr>
              <a:t>+1 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471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加一支有參數的搜尋工具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471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寫一個 @mcp.tool()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Arial Black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673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673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EF4444"/>
                </a:solidFill>
                <a:latin typeface="Consolas"/>
              </a:rPr>
              <a:t>+2 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呼叫外部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串 arxiv/weather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三關手冊:mini-project/docs/labs/L1-customize-your-data.md / L2 / L3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