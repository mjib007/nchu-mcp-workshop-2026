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2930" y="377190"/>
            <a:ext cx="377190" cy="48006"/>
          </a:xfrm>
          <a:prstGeom prst="rect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2930" y="514350"/>
            <a:ext cx="82296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MCP 入門工作坊  ·  第二講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1371600"/>
            <a:ext cx="8229600" cy="10972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6600" b="1" i="0">
                <a:solidFill>
                  <a:srgbClr val="1F2937"/>
                </a:solidFill>
                <a:latin typeface="Arial Black"/>
              </a:rPr>
              <a:t>How MCP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2400300"/>
            <a:ext cx="8229600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100" b="1" i="0">
                <a:solidFill>
                  <a:srgbClr val="7B5CF5"/>
                </a:solidFill>
                <a:latin typeface="Calibri"/>
              </a:rPr>
              <a:t>把 LLM 接到真實工具的標準協定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930" y="4320540"/>
            <a:ext cx="54864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Calibri"/>
              </a:rPr>
              <a:t>范耀中  Yao-Chung Fan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930" y="4629150"/>
            <a:ext cx="54864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Calibri"/>
              </a:rPr>
              <a:t>國立中興大學  ·  AI 學伴系統實務案例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4114800"/>
            <a:ext cx="2948939" cy="75438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37909" y="4149089"/>
            <a:ext cx="27432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200" b="1" i="0">
                <a:solidFill>
                  <a:srgbClr val="5B3ED9"/>
                </a:solidFill>
                <a:latin typeface="Arial Black"/>
              </a:rPr>
              <a:t>LLM 不執行任何東西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7909" y="4457700"/>
            <a:ext cx="27432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975" b="0" i="0">
                <a:solidFill>
                  <a:srgbClr val="1F2937"/>
                </a:solidFill>
                <a:latin typeface="Calibri"/>
              </a:rPr>
              <a:t>所有「執行」都發生在 harness 程式裡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00   A G E N D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Arial Black"/>
              </a:rPr>
              <a:t>本講四個段落 +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33731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從 function calling 底層 → MCP 標準化 → 整體架構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954530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6374" y="2009394"/>
            <a:ext cx="438912" cy="438912"/>
          </a:xfrm>
          <a:prstGeom prst="ellipse">
            <a:avLst/>
          </a:prstGeom>
          <a:solidFill>
            <a:srgbClr val="FFFFFF"/>
          </a:solidFill>
          <a:ln w="23812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6374" y="2009394"/>
            <a:ext cx="438912" cy="43891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FB7048"/>
                </a:solidFill>
                <a:latin typeface="Arial Black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" y="2708910"/>
            <a:ext cx="1680210" cy="58293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Arial Black"/>
              </a:rPr>
              <a:t>Function Calling 怎麼運作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" y="3326129"/>
            <a:ext cx="168021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LLM 只吐字串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harness 才是執行者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954530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66644" y="2009394"/>
            <a:ext cx="438912" cy="438912"/>
          </a:xfrm>
          <a:prstGeom prst="ellipse">
            <a:avLst/>
          </a:prstGeom>
          <a:solidFill>
            <a:srgbClr val="FFFFFF"/>
          </a:solidFill>
          <a:ln w="23812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66644" y="2009394"/>
            <a:ext cx="438912" cy="43891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7B5CF5"/>
                </a:solidFill>
                <a:latin typeface="Arial Black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4650" y="2708910"/>
            <a:ext cx="1680210" cy="58293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Arial Black"/>
              </a:rPr>
              <a:t>從一個查詢開始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4650" y="3326129"/>
            <a:ext cx="168021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場景 → spawn → 兩階段握手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→ 工具呼叫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3470" y="1954530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26914" y="2009394"/>
            <a:ext cx="438912" cy="438912"/>
          </a:xfrm>
          <a:prstGeom prst="ellipse">
            <a:avLst/>
          </a:prstGeom>
          <a:solidFill>
            <a:srgbClr val="FFFFFF"/>
          </a:solidFill>
          <a:ln w="23812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6914" y="2009394"/>
            <a:ext cx="438912" cy="43891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0EA594"/>
                </a:solidFill>
                <a:latin typeface="Arial Black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2708910"/>
            <a:ext cx="1680210" cy="58293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Arial Black"/>
              </a:rPr>
              <a:t>Tool 與 Client 機制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326129"/>
            <a:ext cx="168021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JSON Schema · description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注入 LLM 的 tools 參數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63740" y="1954530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7184" y="2009394"/>
            <a:ext cx="438912" cy="438912"/>
          </a:xfrm>
          <a:prstGeom prst="ellipse">
            <a:avLst/>
          </a:prstGeom>
          <a:solidFill>
            <a:srgbClr val="FFFFFF"/>
          </a:solidFill>
          <a:ln w="23812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7184" y="2009394"/>
            <a:ext cx="438912" cy="43891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EF4444"/>
                </a:solidFill>
                <a:latin typeface="Arial Black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5190" y="2708910"/>
            <a:ext cx="1680210" cy="58293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Arial Black"/>
              </a:rPr>
              <a:t>整體架構與附錄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5190" y="3326129"/>
            <a:ext cx="168021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四層分工 · 一句話總結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+ REST vs JSON-RPC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01   F U N C T I O N   C A L L I N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用一個具體例子搞懂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33731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—— 從使用者輸入 一路追到 真正執行 的程式碼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4500" y="1680210"/>
            <a:ext cx="54864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使用者輸入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14500" y="1988819"/>
            <a:ext cx="5486400" cy="754380"/>
          </a:xfrm>
          <a:prstGeom prst="roundRect">
            <a:avLst>
              <a:gd name="adj" fmla="val 10000"/>
            </a:avLst>
          </a:prstGeom>
          <a:solidFill>
            <a:srgbClr val="7B5CF5"/>
          </a:solidFill>
          <a:ln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4500" y="1988819"/>
            <a:ext cx="5486400" cy="7543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FFFFFF"/>
                </a:solidFill>
                <a:latin typeface="Arial Black"/>
              </a:rPr>
              <a:t>我家目錄底下有幾個 .py 檔？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930" y="3154679"/>
            <a:ext cx="8229600" cy="5486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2400" b="1" i="0">
                <a:solidFill>
                  <a:srgbClr val="FB7048"/>
                </a:solidFill>
                <a:latin typeface="Arial Black"/>
              </a:rPr>
              <a:t>LLM 從頭到尾只做一件事 —— 吐字串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3909060"/>
            <a:ext cx="7063740" cy="51435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909060"/>
            <a:ext cx="6652260" cy="51435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00" b="1" i="0">
                <a:solidFill>
                  <a:srgbClr val="7B5CF5"/>
                </a:solidFill>
                <a:latin typeface="Calibri"/>
              </a:rPr>
              <a:t>▶  所有「真的執行」都發生在外面的程式 —— 我們叫它 harness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01 · ⓪   F U N C T I O N   C A L L I N G   ·   F L O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582930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550" b="1" i="0">
                <a:solidFill>
                  <a:srgbClr val="1F2937"/>
                </a:solidFill>
                <a:latin typeface="Arial Black"/>
              </a:rPr>
              <a:t>Function Calling 完整訊息流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13156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75" b="0" i="1">
                <a:solidFill>
                  <a:srgbClr val="6B7280"/>
                </a:solidFill>
                <a:latin typeface="Calibri"/>
              </a:rPr>
              <a:t>4 lanes · 8 道箭頭 ── 從使用者問題 一路追到 真正執行 再回到 自然語言回答</a:t>
            </a:r>
          </a:p>
        </p:txBody>
      </p:sp>
      <p:pic>
        <p:nvPicPr>
          <p:cNvPr id="7" name="Picture 6" descr="fc-sequenc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089" y="1508760"/>
            <a:ext cx="4421592" cy="31203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2930" y="4766310"/>
            <a:ext cx="72009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900" b="1" i="0">
                <a:solidFill>
                  <a:srgbClr val="FB7048"/>
                </a:solidFill>
                <a:latin typeface="Calibri"/>
              </a:rPr>
              <a:t>▶  接下來各放大一個 Stage:①  送 API  →  ②  LLM 回 JSON  →  ③  harness 執行  →  ④  整合回答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01 · ①   F U N C T I O N   C A L L I N G   ·   S T A G E   1 + 2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250" b="1" i="0">
                <a:solidFill>
                  <a:srgbClr val="1F2937"/>
                </a:solidFill>
                <a:latin typeface="Arial Black"/>
              </a:rPr>
              <a:t>Stage 1+2:開發者準備 schema,送出 API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tools 只是個 Python dict —— 最終會被 SDK 序列化成 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82930" y="1714500"/>
            <a:ext cx="5074920" cy="2743200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2386" y="1865376"/>
            <a:ext cx="4697730" cy="245516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9CA3AF"/>
                </a:solidFill>
                <a:latin typeface="Consolas"/>
              </a:rPr>
              <a:t># 開發者寫的 Python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import anthropic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client = anthropic.Anthropic()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tools = [{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"name": "execute_bash",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"description": "Execute a bash command. Returns stdout.",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"input_schema": {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  "type": "object",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  "properties": {"command": {"type": "string"}},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  "required": ["command"]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}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}]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response = client.messages.create(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  model="claude-opus-4-7",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FB924D"/>
                </a:solidFill>
                <a:latin typeface="Consolas"/>
              </a:rPr>
              <a:t>    tools=tools,        ← 把工具 schema 一起送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  messages=[{'role':'user',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             'content':'我家目錄底下有幾個 .py 檔？'}]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29300" y="1714500"/>
            <a:ext cx="3017520" cy="116586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00750" y="1837944"/>
            <a:ext cx="267462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Arial Black"/>
              </a:rPr>
              <a:t>關鍵觀察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750" y="2091689"/>
            <a:ext cx="2743200" cy="8229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2937"/>
                </a:solidFill>
                <a:latin typeface="Calibri"/>
              </a:rPr>
              <a:t>tools 只是一個 dict。</a:t>
            </a:r>
          </a:p>
          <a:p>
            <a:pPr algn="l">
              <a:spcAft>
                <a:spcPts val="0"/>
              </a:spcAft>
            </a:pPr>
            <a:r>
              <a:rPr sz="975" b="0" i="0">
                <a:solidFill>
                  <a:srgbClr val="1F2937"/>
                </a:solidFill>
                <a:latin typeface="Calibri"/>
              </a:rPr>
              <a:t>它沒有任何「綁定的函式指標」。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29300" y="3017520"/>
            <a:ext cx="3017520" cy="144018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00750" y="3140964"/>
            <a:ext cx="267462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0EA594"/>
                </a:solidFill>
                <a:latin typeface="Arial Black"/>
              </a:rPr>
              <a:t>模型看到什麼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0750" y="3394710"/>
            <a:ext cx="2743200" cy="10972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225"/>
              </a:spcAft>
            </a:pPr>
            <a:r>
              <a:rPr sz="975" b="0" i="0">
                <a:solidFill>
                  <a:srgbClr val="1F2937"/>
                </a:solidFill>
                <a:latin typeface="Calibri"/>
              </a:rPr>
              <a:t>「有一個叫 execute_bash 的東西,</a:t>
            </a:r>
          </a:p>
          <a:p>
            <a:pPr algn="l">
              <a:spcAft>
                <a:spcPts val="600"/>
              </a:spcAft>
            </a:pPr>
            <a:r>
              <a:rPr sz="975" b="0" i="0">
                <a:solidFill>
                  <a:srgbClr val="1F2937"/>
                </a:solidFill>
                <a:latin typeface="Calibri"/>
              </a:rPr>
              <a:t>  描述是這樣,參數長這樣 …」</a:t>
            </a:r>
          </a:p>
          <a:p>
            <a:pPr algn="l">
              <a:spcAft>
                <a:spcPts val="0"/>
              </a:spcAft>
            </a:pPr>
            <a:r>
              <a:rPr sz="975" b="0" i="1">
                <a:solidFill>
                  <a:srgbClr val="0F766E"/>
                </a:solidFill>
                <a:latin typeface="Calibri"/>
              </a:rPr>
              <a:t>→ 跟讀到任何自然語言沒差別。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01 · ②   F U N C T I O N   C A L L I N G   ·   S T A G E 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Stage 3:LLM 回了一段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它就是吐了一段字串 —— 沒有「呼叫」任何東西</a:t>
            </a:r>
          </a:p>
        </p:txBody>
      </p:sp>
      <p:sp>
        <p:nvSpPr>
          <p:cNvPr id="7" name="Rectangle 6"/>
          <p:cNvSpPr/>
          <p:nvPr/>
        </p:nvSpPr>
        <p:spPr>
          <a:xfrm>
            <a:off x="582930" y="1714500"/>
            <a:ext cx="5486400" cy="2537460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2386" y="1865376"/>
            <a:ext cx="5109210" cy="224942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"id": "msg_abc123",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FB924D"/>
                </a:solidFill>
                <a:latin typeface="Consolas"/>
              </a:rPr>
              <a:t>  "stop_reason": "tool_use",       ← 旗號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"content": [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{ "type": "text",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A8E1B4"/>
                </a:solidFill>
                <a:latin typeface="Consolas"/>
              </a:rPr>
              <a:t>      "text": "讓我用 find 幫你數一下。" },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{ "type": "tool_use",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"id": "toolu_01XYZ",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"name": "execute_bash",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"input": {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A8E1B4"/>
                </a:solidFill>
                <a:latin typeface="Consolas"/>
              </a:rPr>
              <a:t>        "command": "find ~ -name '*.py' -type f | wc -l"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}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}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]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79" y="1714500"/>
            <a:ext cx="2606039" cy="123444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2229" y="1837944"/>
            <a:ext cx="226313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FB7048"/>
                </a:solidFill>
                <a:latin typeface="Arial Black"/>
              </a:rPr>
              <a:t>stop_reason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7940" y="2091689"/>
            <a:ext cx="2400300" cy="9601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900" b="1" i="0">
                <a:solidFill>
                  <a:srgbClr val="FB7048"/>
                </a:solidFill>
                <a:latin typeface="Consolas"/>
              </a:rPr>
              <a:t>tool_use ←→ end_turn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F2937"/>
                </a:solidFill>
                <a:latin typeface="Calibri"/>
              </a:rPr>
              <a:t>前者:harness 接手執行。
後者:迴圈結束,印出。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79" y="3086100"/>
            <a:ext cx="2606039" cy="116586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2229" y="3209544"/>
            <a:ext cx="226313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0EA594"/>
                </a:solidFill>
                <a:latin typeface="Arial Black"/>
              </a:rPr>
              <a:t>command 這串字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7940" y="3463289"/>
            <a:ext cx="2400300" cy="8229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F2937"/>
                </a:solidFill>
                <a:latin typeface="Calibri"/>
              </a:rPr>
              <a:t>是 LLM token-by-token 生出來的。</a:t>
            </a:r>
          </a:p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0F766E"/>
                </a:solidFill>
                <a:latin typeface="Calibri"/>
              </a:rPr>
              <a:t>Constrained decoding 確保 JSON 一定合法。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2930" y="4320540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930" y="432054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1" i="0">
                <a:solidFill>
                  <a:srgbClr val="FB7048"/>
                </a:solidFill>
                <a:latin typeface="Arial Black"/>
              </a:rPr>
              <a:t>LLM 從來沒有「呼叫」過任何工具 —— 它就是吐了一段 JSON 字串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01 · ③   F U N C T I O N   C A L L I N G   ·   S T A G E 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EF4444"/>
                </a:solidFill>
                <a:latin typeface="Arial Black"/>
              </a:rPr>
              <a:t>Stage 4:Harness 真的執行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subprocess.run() —— 字串穿越文字宇宙、進入真實電腦的那一刻</a:t>
            </a:r>
          </a:p>
        </p:txBody>
      </p:sp>
      <p:sp>
        <p:nvSpPr>
          <p:cNvPr id="7" name="Rectangle 6"/>
          <p:cNvSpPr/>
          <p:nvPr/>
        </p:nvSpPr>
        <p:spPr>
          <a:xfrm>
            <a:off x="582930" y="1714500"/>
            <a:ext cx="5143500" cy="2400300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2386" y="1865376"/>
            <a:ext cx="4766310" cy="211226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9CA3AF"/>
                </a:solidFill>
                <a:latin typeface="Consolas"/>
              </a:rPr>
              <a:t># Harness 拿到 LLM 的 tool_use 後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for block in response.content: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if block.type == "tool_use":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  cmd = block.input["command"]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9CA3AF"/>
                </a:solidFill>
                <a:latin typeface="Consolas"/>
              </a:rPr>
              <a:t>        # ↓↓↓  這一行才是真的執行 ↓↓↓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FB924D"/>
                </a:solidFill>
                <a:latin typeface="Consolas"/>
              </a:rPr>
              <a:t>        result = subprocess.run(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      cmd,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FB924D"/>
                </a:solidFill>
                <a:latin typeface="Consolas"/>
              </a:rPr>
              <a:t>            shell=True,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      capture_output=True,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      text=True,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      timeout=30,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  )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  tool_output = result.stdout.strip()  # "42"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79" y="1714500"/>
            <a:ext cx="2948939" cy="123444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69329" y="1837944"/>
            <a:ext cx="260603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EF4444"/>
                </a:solidFill>
                <a:latin typeface="Arial Black"/>
              </a:rPr>
              <a:t>信任邊界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9329" y="2091689"/>
            <a:ext cx="2743200" cy="9601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25" b="1" i="0">
                <a:solidFill>
                  <a:srgbClr val="EF4444"/>
                </a:solidFill>
                <a:latin typeface="Consolas"/>
              </a:rPr>
              <a:t>subprocess.run(cmd, shell=True)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F2937"/>
                </a:solidFill>
                <a:latin typeface="Calibri"/>
              </a:rPr>
              <a:t>把 LLM 的字串交給 OS shell。從這一刻起,跟你親手打 100% 一樣。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79" y="3086100"/>
            <a:ext cx="2948939" cy="10287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69329" y="3209544"/>
            <a:ext cx="260603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0F766E"/>
                </a:solidFill>
                <a:latin typeface="Arial Black"/>
              </a:rPr>
              <a:t>OS 在這一刻做的事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9329" y="3463289"/>
            <a:ext cx="2743200" cy="6858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225"/>
              </a:spcAft>
            </a:pPr>
            <a:r>
              <a:rPr sz="900" b="0" i="0">
                <a:solidFill>
                  <a:srgbClr val="1F2937"/>
                </a:solidFill>
                <a:latin typeface="Calibri"/>
              </a:rPr>
              <a:t>/bin/bash 解析字串</a:t>
            </a:r>
          </a:p>
          <a:p>
            <a:pPr algn="l">
              <a:spcAft>
                <a:spcPts val="225"/>
              </a:spcAft>
            </a:pPr>
            <a:r>
              <a:rPr sz="900" b="0" i="0">
                <a:solidFill>
                  <a:srgbClr val="1F2937"/>
                </a:solidFill>
                <a:latin typeface="Calibri"/>
              </a:rPr>
              <a:t>→ fork 出 find / wc processes</a:t>
            </a:r>
          </a:p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Consolas"/>
              </a:rPr>
              <a:t>→ stdout 回傳 "42"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2930" y="4286250"/>
            <a:ext cx="8229600" cy="58293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" y="4320540"/>
            <a:ext cx="7886700" cy="54864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1125" b="1" i="0">
                <a:solidFill>
                  <a:srgbClr val="B91C1C"/>
                </a:solidFill>
                <a:latin typeface="Calibri"/>
              </a:rPr>
              <a:t>△   subprocess.run(LLM 輸出) 本質上就是 eval(LLM 輸出)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F2937"/>
                </a:solidFill>
                <a:latin typeface="Calibri"/>
              </a:rPr>
              <a:t>若 prompt injection 攻擊,LLM 會生出 rm -rf ~,harness 不長眼就會照跑。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01 · ④   F U N C T I O N   C A L L I N G   ·   S T A G E   5 + 6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Arial Black"/>
              </a:rPr>
              <a:t>Stage 5+6:結果塞回,LLM 給最終答案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messages 陣列繼續滾動,直到 stop_reason: end_turn</a:t>
            </a:r>
          </a:p>
        </p:txBody>
      </p:sp>
      <p:sp>
        <p:nvSpPr>
          <p:cNvPr id="7" name="Rectangle 6"/>
          <p:cNvSpPr/>
          <p:nvPr/>
        </p:nvSpPr>
        <p:spPr>
          <a:xfrm>
            <a:off x="582930" y="1714500"/>
            <a:ext cx="5143500" cy="2743200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2386" y="1865376"/>
            <a:ext cx="4766310" cy="245516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900" b="0" i="0">
                <a:solidFill>
                  <a:srgbClr val="3B82F6"/>
                </a:solidFill>
                <a:latin typeface="Consolas"/>
              </a:rPr>
              <a:t>[user]</a:t>
            </a:r>
          </a:p>
          <a:p>
            <a:pPr algn="l">
              <a:spcAft>
                <a:spcPts val="75"/>
              </a:spcAft>
            </a:pPr>
            <a:r>
              <a:rPr sz="900" b="0" i="0">
                <a:solidFill>
                  <a:srgbClr val="E5E7EB"/>
                </a:solidFill>
                <a:latin typeface="Consolas"/>
              </a:rPr>
              <a:t>    "我家目錄底下有幾個 .py 檔？"</a:t>
            </a:r>
          </a:p>
          <a:p>
            <a:pPr algn="l">
              <a:spcAft>
                <a:spcPts val="75"/>
              </a:spcAft>
            </a:pPr>
            <a:r>
              <a:rPr sz="9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>
              <a:spcAft>
                <a:spcPts val="75"/>
              </a:spcAft>
            </a:pPr>
            <a:r>
              <a:rPr sz="900" b="0" i="0">
                <a:solidFill>
                  <a:srgbClr val="7B5CF5"/>
                </a:solidFill>
                <a:latin typeface="Consolas"/>
              </a:rPr>
              <a:t>[assistant]</a:t>
            </a:r>
          </a:p>
          <a:p>
            <a:pPr algn="l">
              <a:spcAft>
                <a:spcPts val="75"/>
              </a:spcAft>
            </a:pPr>
            <a:r>
              <a:rPr sz="900" b="0" i="0">
                <a:solidFill>
                  <a:srgbClr val="A8E1B4"/>
                </a:solidFill>
                <a:latin typeface="Consolas"/>
              </a:rPr>
              <a:t>    "讓我用 find 幫你數一下。"</a:t>
            </a:r>
          </a:p>
          <a:p>
            <a:pPr algn="l">
              <a:spcAft>
                <a:spcPts val="75"/>
              </a:spcAft>
            </a:pPr>
            <a:r>
              <a:rPr sz="900" b="0" i="0">
                <a:solidFill>
                  <a:srgbClr val="E5E7EB"/>
                </a:solidFill>
                <a:latin typeface="Consolas"/>
              </a:rPr>
              <a:t>    + tool_use { execute_bash, find ~ ... }</a:t>
            </a:r>
          </a:p>
          <a:p>
            <a:pPr algn="l">
              <a:spcAft>
                <a:spcPts val="75"/>
              </a:spcAft>
            </a:pPr>
            <a:r>
              <a:rPr sz="9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>
              <a:spcAft>
                <a:spcPts val="75"/>
              </a:spcAft>
            </a:pPr>
            <a:r>
              <a:rPr sz="900" b="0" i="0">
                <a:solidFill>
                  <a:srgbClr val="0EA594"/>
                </a:solidFill>
                <a:latin typeface="Consolas"/>
              </a:rPr>
              <a:t>[user]   ← 注意:role 是 user</a:t>
            </a:r>
          </a:p>
          <a:p>
            <a:pPr algn="l">
              <a:spcAft>
                <a:spcPts val="75"/>
              </a:spcAft>
            </a:pPr>
            <a:r>
              <a:rPr sz="900" b="0" i="0">
                <a:solidFill>
                  <a:srgbClr val="E5E7EB"/>
                </a:solidFill>
                <a:latin typeface="Consolas"/>
              </a:rPr>
              <a:t>    tool_result { content="42" }</a:t>
            </a:r>
          </a:p>
          <a:p>
            <a:pPr algn="l">
              <a:spcAft>
                <a:spcPts val="75"/>
              </a:spcAft>
            </a:pPr>
            <a:r>
              <a:rPr sz="9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>
              <a:spcAft>
                <a:spcPts val="75"/>
              </a:spcAft>
            </a:pPr>
            <a:r>
              <a:rPr sz="900" b="0" i="0">
                <a:solidFill>
                  <a:srgbClr val="FB7048"/>
                </a:solidFill>
                <a:latin typeface="Consolas"/>
              </a:rPr>
              <a:t>[assistant]   stop_reason: end_turn</a:t>
            </a:r>
          </a:p>
          <a:p>
            <a:pPr algn="l">
              <a:spcAft>
                <a:spcPts val="75"/>
              </a:spcAft>
            </a:pPr>
            <a:r>
              <a:rPr sz="900" b="0" i="0">
                <a:solidFill>
                  <a:srgbClr val="A8E1B4"/>
                </a:solidFill>
                <a:latin typeface="Consolas"/>
              </a:rPr>
              <a:t>    "你家目錄底下總共有 42 個 .py 檔。"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79" y="1714500"/>
            <a:ext cx="2948939" cy="130301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69329" y="1837944"/>
            <a:ext cx="260603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0EA594"/>
                </a:solidFill>
                <a:latin typeface="Arial Black"/>
              </a:rPr>
              <a:t>tool_result 用 user 送回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9329" y="2091689"/>
            <a:ext cx="274320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從 model 角度,它中斷自己問了外面世界一個問題,外面回了一句。現在輪它繼續講。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79" y="3154679"/>
            <a:ext cx="2948939" cy="1303019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69329" y="3278123"/>
            <a:ext cx="260603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FB7048"/>
                </a:solidFill>
                <a:latin typeface="Arial Black"/>
              </a:rPr>
              <a:t>完整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9329" y="3531870"/>
            <a:ext cx="274320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975" b="1" i="0">
                <a:solidFill>
                  <a:srgbClr val="7B5CF5"/>
                </a:solidFill>
                <a:latin typeface="Consolas"/>
              </a:rPr>
              <a:t>tool_use</a:t>
            </a:r>
          </a:p>
          <a:p>
            <a:pPr algn="l">
              <a:spcAft>
                <a:spcPts val="150"/>
              </a:spcAft>
            </a:pPr>
            <a:r>
              <a:rPr sz="975" b="0" i="0">
                <a:solidFill>
                  <a:srgbClr val="1F2937"/>
                </a:solidFill>
                <a:latin typeface="Consolas"/>
              </a:rPr>
              <a:t>→ run → tool_result</a:t>
            </a:r>
          </a:p>
          <a:p>
            <a:pPr algn="l">
              <a:spcAft>
                <a:spcPts val="0"/>
              </a:spcAft>
            </a:pPr>
            <a:r>
              <a:rPr sz="975" b="1" i="0">
                <a:solidFill>
                  <a:srgbClr val="FB7048"/>
                </a:solidFill>
                <a:latin typeface="Consolas"/>
              </a:rPr>
              <a:t>→ … → end_turn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930" y="4594860"/>
            <a:ext cx="82296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050" b="0" i="1">
                <a:solidFill>
                  <a:srgbClr val="9CA3AF"/>
                </a:solidFill>
                <a:latin typeface="Calibri"/>
              </a:rPr>
              <a:t>可能跑很多輪 —— LLM 可以連續呼叫多個工具,直到它覺得夠了。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01 · ⑤   F U N C T I O N   C A L L I N G   ·   T A K E A W A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LLM ↔ Harness 職責分工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MCP 在這個機制上加了什麼?把 harness ↔ tool 標準化、抽到獨立 process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51660"/>
            <a:ext cx="4046220" cy="24003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975104"/>
            <a:ext cx="370332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Arial Black"/>
              </a:rPr>
              <a:t>LLM 做的事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669" y="2228850"/>
            <a:ext cx="3703320" cy="19888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75" b="1" i="0">
                <a:solidFill>
                  <a:srgbClr val="1F2937"/>
                </a:solidFill>
                <a:latin typeface="Calibri"/>
              </a:rPr>
              <a:t>✓  生成 tool_use JSON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✓  讀 tool schema,生 input JSON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✓  Constrained decoding 確保 JSON 合法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CA3AF"/>
                </a:solidFill>
                <a:latin typeface="Calibri"/>
              </a:rPr>
              <a:t>✗  不知道工具真正做什麼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F4444"/>
                </a:solidFill>
                <a:latin typeface="Calibri"/>
              </a:rPr>
              <a:t>✗  碰不到 OS、檔案、網路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34890" y="1851660"/>
            <a:ext cx="4011929" cy="240030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6340" y="1975104"/>
            <a:ext cx="366902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0EA594"/>
                </a:solidFill>
                <a:latin typeface="Arial Black"/>
              </a:rPr>
              <a:t>Harness 做的事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0629" y="2228850"/>
            <a:ext cx="3669029" cy="19888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75" b="1" i="0">
                <a:solidFill>
                  <a:srgbClr val="1F2937"/>
                </a:solidFill>
                <a:latin typeface="Calibri"/>
              </a:rPr>
              <a:t>✓  解析 tool_use,真的執行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✓  維護 messages 陣列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✓  Loop 直到 stop_reason: end_turn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✓  處理 timeout / 錯誤 / 結果格式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Calibri"/>
              </a:rPr>
              <a:t>✓  加 sandbox / 安全防護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2930" y="4389120"/>
            <a:ext cx="8229600" cy="44577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8669" y="4389120"/>
            <a:ext cx="781812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7B5CF5"/>
                </a:solidFill>
                <a:latin typeface="Calibri"/>
              </a:rPr>
              <a:t>▶  MCP = 把 harness ↔ tool 的協定標準化,抽到獨立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01 · ⑥   F R O M   L O C A L   T O   N E T W O R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582930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550" b="1" i="0">
                <a:solidFill>
                  <a:srgbClr val="1F2937"/>
                </a:solidFill>
                <a:latin typeface="Arial Black"/>
              </a:rPr>
              <a:t>subprocess.run 的甜蜜期到此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13156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75" b="0" i="1">
                <a:solidFill>
                  <a:srgbClr val="6B7280"/>
                </a:solidFill>
                <a:latin typeface="Calibri"/>
              </a:rPr>
              <a:t>本地工具一行搞定 —— 但真實工具住在遠端,每支都要自己 wire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714500"/>
            <a:ext cx="4046220" cy="243458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837944"/>
            <a:ext cx="370332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0EA594"/>
                </a:solidFill>
                <a:latin typeface="Arial Black"/>
              </a:rPr>
              <a:t>本地工具(剛剛的例子)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2125980"/>
            <a:ext cx="3771900" cy="20231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2937"/>
                </a:solidFill>
                <a:latin typeface="Calibri"/>
              </a:rPr>
              <a:t>execute_bash:</a:t>
            </a:r>
          </a:p>
          <a:p>
            <a:pPr algn="l">
              <a:spcAft>
                <a:spcPts val="750"/>
              </a:spcAft>
            </a:pPr>
            <a:r>
              <a:rPr sz="975" b="0" i="0">
                <a:solidFill>
                  <a:srgbClr val="0F766E"/>
                </a:solidFill>
                <a:latin typeface="Consolas"/>
              </a:rPr>
              <a:t>  subprocess.run([cmd], …)</a:t>
            </a:r>
          </a:p>
          <a:p>
            <a:pPr algn="l">
              <a:spcAft>
                <a:spcPts val="450"/>
              </a:spcAft>
            </a:pPr>
            <a:r>
              <a:rPr sz="975" b="0" i="0">
                <a:solidFill>
                  <a:srgbClr val="1F2937"/>
                </a:solidFill>
                <a:latin typeface="Calibri"/>
              </a:rPr>
              <a:t>OS shell 在同一台機器,POSIX 已經幫你解了:</a:t>
            </a:r>
          </a:p>
          <a:p>
            <a:pPr algn="l">
              <a:spcAft>
                <a:spcPts val="225"/>
              </a:spcAft>
            </a:pPr>
            <a:r>
              <a:rPr sz="975" b="0" i="0">
                <a:solidFill>
                  <a:srgbClr val="1F2937"/>
                </a:solidFill>
                <a:latin typeface="Calibri"/>
              </a:rPr>
              <a:t>✓  pipe / 環境變數 / exit code</a:t>
            </a:r>
          </a:p>
          <a:p>
            <a:pPr algn="l">
              <a:spcAft>
                <a:spcPts val="600"/>
              </a:spcAft>
            </a:pPr>
            <a:r>
              <a:rPr sz="975" b="0" i="0">
                <a:solidFill>
                  <a:srgbClr val="1F2937"/>
                </a:solidFill>
                <a:latin typeface="Calibri"/>
              </a:rPr>
              <a:t>✓  錯誤就回 stderr,直接吃</a:t>
            </a:r>
          </a:p>
          <a:p>
            <a:pPr algn="l">
              <a:spcAft>
                <a:spcPts val="0"/>
              </a:spcAft>
            </a:pPr>
            <a:r>
              <a:rPr sz="975" b="1" i="1">
                <a:solidFill>
                  <a:srgbClr val="0F766E"/>
                </a:solidFill>
                <a:latin typeface="Calibri"/>
              </a:rPr>
              <a:t>→ Function Calling 的甜蜜期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34890" y="1714500"/>
            <a:ext cx="4011929" cy="2434589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6340" y="1837944"/>
            <a:ext cx="366902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EF4444"/>
                </a:solidFill>
                <a:latin typeface="Arial Black"/>
              </a:rPr>
              <a:t>網路工具(真實世界)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6340" y="2125980"/>
            <a:ext cx="3737610" cy="20231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2937"/>
                </a:solidFill>
                <a:latin typeface="Calibri"/>
              </a:rPr>
              <a:t>search_library_new_books:</a:t>
            </a:r>
          </a:p>
          <a:p>
            <a:pPr algn="l">
              <a:spcAft>
                <a:spcPts val="750"/>
              </a:spcAft>
            </a:pPr>
            <a:r>
              <a:rPr sz="900" b="0" i="0">
                <a:solidFill>
                  <a:srgbClr val="B91C1C"/>
                </a:solidFill>
                <a:latin typeface="Consolas"/>
              </a:rPr>
              <a:t>  requests.post(url, headers=…, json=…)</a:t>
            </a:r>
          </a:p>
          <a:p>
            <a:pPr algn="l">
              <a:spcAft>
                <a:spcPts val="450"/>
              </a:spcAft>
            </a:pPr>
            <a:r>
              <a:rPr sz="975" b="0" i="0">
                <a:solidFill>
                  <a:srgbClr val="1F2937"/>
                </a:solidFill>
                <a:latin typeface="Calibri"/>
              </a:rPr>
              <a:t>光是「呼叫一支工具」就要自己處理:</a:t>
            </a:r>
          </a:p>
          <a:p>
            <a:pPr algn="l">
              <a:spcAft>
                <a:spcPts val="225"/>
              </a:spcAft>
            </a:pPr>
            <a:r>
              <a:rPr sz="975" b="0" i="0">
                <a:solidFill>
                  <a:srgbClr val="1F2937"/>
                </a:solidFill>
                <a:latin typeface="Calibri"/>
              </a:rPr>
              <a:t>△  HTTP client / auth token / retry</a:t>
            </a:r>
          </a:p>
          <a:p>
            <a:pPr algn="l">
              <a:spcAft>
                <a:spcPts val="600"/>
              </a:spcAft>
            </a:pPr>
            <a:r>
              <a:rPr sz="975" b="0" i="0">
                <a:solidFill>
                  <a:srgbClr val="1F2937"/>
                </a:solidFill>
                <a:latin typeface="Calibri"/>
              </a:rPr>
              <a:t>△  response schema 解析 / 錯誤碼分流</a:t>
            </a:r>
          </a:p>
          <a:p>
            <a:pPr algn="l">
              <a:spcAft>
                <a:spcPts val="0"/>
              </a:spcAft>
            </a:pPr>
            <a:r>
              <a:rPr sz="975" b="1" i="1">
                <a:solidFill>
                  <a:srgbClr val="B91C1C"/>
                </a:solidFill>
                <a:latin typeface="Calibri"/>
              </a:rPr>
              <a:t>→ 每支工具都要自己造一輪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2930" y="4286250"/>
            <a:ext cx="8229600" cy="651509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" y="4320540"/>
            <a:ext cx="7886700" cy="65150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>
              <a:spcAft>
                <a:spcPts val="150"/>
              </a:spcAft>
            </a:pPr>
            <a:r>
              <a:rPr sz="1050" b="1" i="0">
                <a:solidFill>
                  <a:srgbClr val="7B5CF5"/>
                </a:solidFill>
                <a:latin typeface="Calibri"/>
              </a:rPr>
              <a:t>▶  上一段提過的 N × M 在這裡爆炸 ── 100 app × 100 網路工具 = 自己接 10,000 套</a:t>
            </a:r>
          </a:p>
          <a:p>
            <a:pPr algn="l">
              <a:spcAft>
                <a:spcPts val="0"/>
              </a:spcAft>
            </a:pPr>
            <a:r>
              <a:rPr sz="975" b="0" i="1">
                <a:solidFill>
                  <a:srgbClr val="1F2937"/>
                </a:solidFill>
                <a:latin typeface="Calibri"/>
              </a:rPr>
              <a:t>接下來看一個網路工具場景:LLM 想查圖書館新書 ── Parent / Child / JSON-RPC 怎麼接上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  F R O M   A   U S E R   Q U E R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場景:使用者問了一個問題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LLM 判斷該呼叫哪個工具 —— 但它自己不會呼叫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7700" y="1680210"/>
            <a:ext cx="41148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使用者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7700" y="1954530"/>
            <a:ext cx="4389120" cy="651509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7700" y="1954530"/>
            <a:ext cx="4389120" cy="65150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 Black"/>
              </a:rPr>
              <a:t>幫我查最近圖書館有什麼新書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2930" y="3017520"/>
            <a:ext cx="4800600" cy="126873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" y="3140964"/>
            <a:ext cx="44577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Arial Black"/>
              </a:rPr>
              <a:t>LLM (Sonnet) 內心戲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" y="3394710"/>
            <a:ext cx="4526279" cy="89154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「嗯…需要查新書資料庫」</a:t>
            </a:r>
          </a:p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7B5CF5"/>
                </a:solidFill>
                <a:latin typeface="Consolas"/>
              </a:rPr>
              <a:t>→  呼叫 search_new_books 工具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2930" y="4457700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8669" y="4457700"/>
            <a:ext cx="78181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EF4444"/>
                </a:solidFill>
                <a:latin typeface="Calibri"/>
              </a:rPr>
              <a:t>!  但 LLM 自己不會呼叫 —— 要靠 Parent 程序去跟 Child 程序講話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· ①   F R O M   A   U S E R   Q U E R Y   ·   A C T  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Act 1:Parent 開出 Child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spawn 子程序 + 兩條 stdio pipe = 雙向通訊管道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88819"/>
            <a:ext cx="2880360" cy="13716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23812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91689"/>
            <a:ext cx="288036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650" b="1" i="0">
                <a:solidFill>
                  <a:srgbClr val="5B3ED9"/>
                </a:solidFill>
                <a:latin typeface="Arial Black"/>
              </a:rPr>
              <a:t>Parent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71750"/>
            <a:ext cx="288036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Consolas"/>
              </a:rPr>
              <a:t>Node.js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68730" y="2914650"/>
            <a:ext cx="1714500" cy="308610"/>
          </a:xfrm>
          <a:prstGeom prst="roundRect">
            <a:avLst>
              <a:gd name="adj" fmla="val 10000"/>
            </a:avLst>
          </a:prstGeom>
          <a:solidFill>
            <a:srgbClr val="FB7048"/>
          </a:solidFill>
          <a:ln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8730" y="2914650"/>
            <a:ext cx="1714500" cy="30861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FFFFFF"/>
                </a:solidFill>
                <a:latin typeface="Consolas"/>
              </a:rPr>
              <a:t>LLM · Sonnet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54979" y="1988819"/>
            <a:ext cx="2880360" cy="137160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23812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4979" y="2091689"/>
            <a:ext cx="288036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650" b="1" i="0">
                <a:solidFill>
                  <a:srgbClr val="0F766E"/>
                </a:solidFill>
                <a:latin typeface="Arial Black"/>
              </a:rPr>
              <a:t>Child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4979" y="2674620"/>
            <a:ext cx="288036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Consolas"/>
              </a:rPr>
              <a:t>Python MCP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331720"/>
            <a:ext cx="1714500" cy="205739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4287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2331720"/>
            <a:ext cx="1714500" cy="20573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825" b="0" i="0">
                <a:solidFill>
                  <a:srgbClr val="5B3ED9"/>
                </a:solidFill>
                <a:latin typeface="Consolas"/>
              </a:rPr>
              <a:t>stdout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811779"/>
            <a:ext cx="1714500" cy="20573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4287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2811779"/>
            <a:ext cx="1714500" cy="20573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825" b="0" i="0">
                <a:solidFill>
                  <a:srgbClr val="0F766E"/>
                </a:solidFill>
                <a:latin typeface="Consolas"/>
              </a:rPr>
              <a:t>stdin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930" y="3634739"/>
            <a:ext cx="8229600" cy="123444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75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①  Parent (Node.js) 用 spawn() 開出 Child (Python) 子程序</a:t>
            </a:r>
          </a:p>
          <a:p>
            <a:pPr algn="l">
              <a:spcAft>
                <a:spcPts val="375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②  LLM (Sonnet) 是 Parent 內的 client component —— 不會自己出去呼叫工具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③  兩條 stdio pipe → Parent ⇄ Child 可以雙向講話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· ②   F R O M   A   U S E R   Q U E R Y   ·   A C T 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Act 2:兩階段握手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互換能力 → 拿到工具清單,兩步都過才算真的連上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51660"/>
            <a:ext cx="4389120" cy="2743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975104"/>
            <a:ext cx="404622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Arial Black"/>
              </a:rPr>
              <a:t>訊息往返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669" y="2263139"/>
            <a:ext cx="4114800" cy="22631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1200" b="1" i="0">
                <a:solidFill>
                  <a:srgbClr val="7B5CF5"/>
                </a:solidFill>
                <a:latin typeface="Arial Black"/>
              </a:rPr>
              <a:t>①   Parent  →  Child</a:t>
            </a:r>
          </a:p>
          <a:p>
            <a:pPr algn="l">
              <a:spcAft>
                <a:spcPts val="900"/>
              </a:spcAft>
            </a:pPr>
            <a:r>
              <a:rPr sz="1125" b="0" i="0">
                <a:solidFill>
                  <a:srgbClr val="1F2937"/>
                </a:solidFill>
                <a:latin typeface="Calibri"/>
              </a:rPr>
              <a:t>      「我來了」  +  「給我能力清單」</a:t>
            </a:r>
          </a:p>
          <a:p>
            <a:pPr algn="l">
              <a:spcAft>
                <a:spcPts val="150"/>
              </a:spcAft>
            </a:pPr>
            <a:r>
              <a:rPr sz="1200" b="1" i="0">
                <a:solidFill>
                  <a:srgbClr val="0EA594"/>
                </a:solidFill>
                <a:latin typeface="Arial Black"/>
              </a:rPr>
              <a:t>②   Child  →  Parent</a:t>
            </a:r>
          </a:p>
          <a:p>
            <a:pPr algn="l">
              <a:spcAft>
                <a:spcPts val="900"/>
              </a:spcAft>
            </a:pPr>
            <a:r>
              <a:rPr sz="1125" b="0" i="0">
                <a:solidFill>
                  <a:srgbClr val="1F2937"/>
                </a:solidFill>
                <a:latin typeface="Calibri"/>
              </a:rPr>
              <a:t>      「我能做什麼」  +  「8 個工具清單」</a:t>
            </a:r>
          </a:p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6B7280"/>
                </a:solidFill>
                <a:latin typeface="Calibri"/>
              </a:rPr>
              <a:t>→  雙向 JSON-RPC 訊息往返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43500" y="1851660"/>
            <a:ext cx="3703320" cy="274320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14950" y="1975104"/>
            <a:ext cx="336042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0EA594"/>
                </a:solidFill>
                <a:latin typeface="Arial Black"/>
              </a:rPr>
              <a:t>握手進度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83529" y="2400300"/>
            <a:ext cx="308610" cy="308610"/>
          </a:xfrm>
          <a:prstGeom prst="roundRect">
            <a:avLst>
              <a:gd name="adj" fmla="val 10000"/>
            </a:avLst>
          </a:prstGeom>
          <a:solidFill>
            <a:srgbClr val="0EA594"/>
          </a:solidFill>
          <a:ln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83529" y="2400300"/>
            <a:ext cx="308610" cy="30861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 Black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29300" y="2400300"/>
            <a:ext cx="3017520" cy="30861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75" b="1" i="0">
                <a:solidFill>
                  <a:srgbClr val="0F766E"/>
                </a:solidFill>
                <a:latin typeface="Arial Black"/>
              </a:rPr>
              <a:t>Step 1:打過招呼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83529" y="3017520"/>
            <a:ext cx="308610" cy="308610"/>
          </a:xfrm>
          <a:prstGeom prst="roundRect">
            <a:avLst>
              <a:gd name="adj" fmla="val 10000"/>
            </a:avLst>
          </a:prstGeom>
          <a:solidFill>
            <a:srgbClr val="0EA594"/>
          </a:solidFill>
          <a:ln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83529" y="3017520"/>
            <a:ext cx="308610" cy="30861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 Black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9300" y="3017520"/>
            <a:ext cx="3017520" cy="30861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75" b="1" i="0">
                <a:solidFill>
                  <a:srgbClr val="0F766E"/>
                </a:solidFill>
                <a:latin typeface="Arial Black"/>
              </a:rPr>
              <a:t>Step 2:拿到工具清單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3529" y="3909060"/>
            <a:ext cx="3429000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0" i="1">
                <a:solidFill>
                  <a:srgbClr val="1F2937"/>
                </a:solidFill>
                <a:latin typeface="Calibri"/>
              </a:rPr>
              <a:t>兩個都打勾 才算真的連上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2930" y="4697729"/>
            <a:ext cx="8229600" cy="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8669" y="4697729"/>
            <a:ext cx="7818120" cy="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00" b="1" i="0">
                <a:solidFill>
                  <a:srgbClr val="7B5CF5"/>
                </a:solidFill>
                <a:latin typeface="Calibri"/>
              </a:rPr>
              <a:t>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930" y="4697729"/>
            <a:ext cx="82296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975" b="0" i="1">
                <a:solidFill>
                  <a:srgbClr val="9CA3AF"/>
                </a:solidFill>
                <a:latin typeface="Calibri"/>
              </a:rPr>
              <a:t>中間時刻 (Step 1 ✓ 但 Step 2 ✗) Parent 還不知道工具清單,送 tool call 也沒用。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· ③   F R O M   A   U S E R   Q U E R Y   ·   A C T 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Act 3:工具呼叫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LLM 決定 → token 飛去 Child → 結果飛回 → 找對應請求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190" y="1920239"/>
            <a:ext cx="1645919" cy="20574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6" y="2002536"/>
            <a:ext cx="384048" cy="384048"/>
          </a:xfrm>
          <a:prstGeom prst="ellipse">
            <a:avLst/>
          </a:prstGeom>
          <a:solidFill>
            <a:srgbClr val="FFFFFF"/>
          </a:solidFill>
          <a:ln w="23812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2002536"/>
            <a:ext cx="384048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7B5CF5"/>
                </a:solidFill>
                <a:latin typeface="Arial Black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" y="2537460"/>
            <a:ext cx="144018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125" b="1" i="0">
                <a:solidFill>
                  <a:srgbClr val="1F2937"/>
                </a:solidFill>
                <a:latin typeface="Arial Black"/>
              </a:rPr>
              <a:t>LLM 決定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" y="2948939"/>
            <a:ext cx="1440180" cy="9601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900" b="0" i="0">
                <a:solidFill>
                  <a:srgbClr val="374151"/>
                </a:solidFill>
                <a:latin typeface="Calibri"/>
              </a:rPr>
              <a:t>search_new_books("新書")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91689" y="1920239"/>
            <a:ext cx="1645919" cy="205740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08276" y="2002536"/>
            <a:ext cx="384048" cy="384048"/>
          </a:xfrm>
          <a:prstGeom prst="ellipse">
            <a:avLst/>
          </a:prstGeom>
          <a:solidFill>
            <a:srgbClr val="FFFFFF"/>
          </a:solidFill>
          <a:ln w="23812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08276" y="2002536"/>
            <a:ext cx="384048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FB7048"/>
                </a:solidFill>
                <a:latin typeface="Arial Black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537460"/>
            <a:ext cx="144018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125" b="1" i="0">
                <a:solidFill>
                  <a:srgbClr val="1F2937"/>
                </a:solidFill>
                <a:latin typeface="Arial Black"/>
              </a:rPr>
              <a:t>Parent 記下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948939"/>
            <a:ext cx="1440180" cy="9601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900" b="0" i="0">
                <a:solidFill>
                  <a:srgbClr val="374151"/>
                </a:solidFill>
                <a:latin typeface="Calibri"/>
              </a:rPr>
              <a:t>等候第 4 個請求 · 30s 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06189" y="1920239"/>
            <a:ext cx="1645919" cy="205740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22776" y="2002536"/>
            <a:ext cx="384048" cy="384048"/>
          </a:xfrm>
          <a:prstGeom prst="ellipse">
            <a:avLst/>
          </a:prstGeom>
          <a:solidFill>
            <a:srgbClr val="FFFFFF"/>
          </a:solidFill>
          <a:ln w="23812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22776" y="2002536"/>
            <a:ext cx="384048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0EA594"/>
                </a:solidFill>
                <a:latin typeface="Arial Black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9060" y="2537460"/>
            <a:ext cx="144018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125" b="1" i="0">
                <a:solidFill>
                  <a:srgbClr val="1F2937"/>
                </a:solidFill>
                <a:latin typeface="Arial Black"/>
              </a:rPr>
              <a:t>Child 執行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9060" y="2948939"/>
            <a:ext cx="1440180" cy="9601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900" b="0" i="0">
                <a:solidFill>
                  <a:srgbClr val="374151"/>
                </a:solidFill>
                <a:latin typeface="Calibri"/>
              </a:rPr>
              <a:t>Python MCP Server 跑 search_new_books()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20690" y="1920239"/>
            <a:ext cx="1645919" cy="205740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7276" y="2002536"/>
            <a:ext cx="384048" cy="384048"/>
          </a:xfrm>
          <a:prstGeom prst="ellipse">
            <a:avLst/>
          </a:prstGeom>
          <a:solidFill>
            <a:srgbClr val="FFFFFF"/>
          </a:solidFill>
          <a:ln w="23812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37276" y="2002536"/>
            <a:ext cx="384048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0F766E"/>
                </a:solidFill>
                <a:latin typeface="Arial Black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2537460"/>
            <a:ext cx="144018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125" b="1" i="0">
                <a:solidFill>
                  <a:srgbClr val="1F2937"/>
                </a:solidFill>
                <a:latin typeface="Arial Black"/>
              </a:rPr>
              <a:t>結果飛回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2948939"/>
            <a:ext cx="1440180" cy="9601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900" b="0" i="0">
                <a:solidFill>
                  <a:srgbClr val="374151"/>
                </a:solidFill>
                <a:latin typeface="Calibri"/>
              </a:rPr>
              <a:t>10 筆新書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35190" y="1920239"/>
            <a:ext cx="1645919" cy="20574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51776" y="2002536"/>
            <a:ext cx="384048" cy="384048"/>
          </a:xfrm>
          <a:prstGeom prst="ellipse">
            <a:avLst/>
          </a:prstGeom>
          <a:solidFill>
            <a:srgbClr val="FFFFFF"/>
          </a:solidFill>
          <a:ln w="23812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6" y="2002536"/>
            <a:ext cx="384048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7B5CF5"/>
                </a:solidFill>
                <a:latin typeface="Arial Black"/>
              </a:rPr>
              <a:t>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38060" y="2537460"/>
            <a:ext cx="144018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125" b="1" i="0">
                <a:solidFill>
                  <a:srgbClr val="1F2937"/>
                </a:solidFill>
                <a:latin typeface="Arial Black"/>
              </a:rPr>
              <a:t>Parent 回呼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8060" y="2948939"/>
            <a:ext cx="1440180" cy="9601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900" b="0" i="0">
                <a:solidFill>
                  <a:srgbClr val="374151"/>
                </a:solidFill>
                <a:latin typeface="Calibri"/>
              </a:rPr>
              <a:t>找到對應請求 → 回給使用者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2930" y="4286250"/>
            <a:ext cx="8229600" cy="44577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8669" y="4286250"/>
            <a:ext cx="781812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7B5CF5"/>
                </a:solidFill>
                <a:latin typeface="Calibri"/>
              </a:rPr>
              <a:t>▶  「第 4 個請求」是 JSON-RPC 給每個 request 的編號,讓 response 對得回來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2930" y="1234440"/>
            <a:ext cx="8229600" cy="54864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3300" b="1" i="0">
                <a:solidFill>
                  <a:srgbClr val="FB7048"/>
                </a:solidFill>
                <a:latin typeface="Arial Black"/>
              </a:rPr>
              <a:t>▶  切換到影片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2930" y="1920239"/>
            <a:ext cx="82296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650" b="0" i="0">
                <a:solidFill>
                  <a:srgbClr val="9CA3AF"/>
                </a:solidFill>
                <a:latin typeface="Consolas"/>
              </a:rPr>
              <a:t>02-mcp-connection-video.mp4   ·   2 : 1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4500" y="2743200"/>
            <a:ext cx="5692140" cy="1577339"/>
          </a:xfrm>
          <a:prstGeom prst="roundRect">
            <a:avLst>
              <a:gd name="adj" fmla="val 10000"/>
            </a:avLst>
          </a:prstGeom>
          <a:solidFill>
            <a:srgbClr val="1E203A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54530" y="2846070"/>
            <a:ext cx="5212079" cy="14401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7B5CF5"/>
                </a:solidFill>
                <a:latin typeface="Arial Black"/>
              </a:rPr>
              <a:t>影片重點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E5E7EB"/>
                </a:solidFill>
                <a:latin typeface="Calibri"/>
              </a:rPr>
              <a:t>1. 場景開場 — 使用者問「新書」 → LLM 判斷要呼叫工具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E5E7EB"/>
                </a:solidFill>
                <a:latin typeface="Calibri"/>
              </a:rPr>
              <a:t>2. Act 1 — Parent / Child 的 spawn 與 pipe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E5E7EB"/>
                </a:solidFill>
                <a:latin typeface="Calibri"/>
              </a:rPr>
              <a:t>3. Act 2 — 兩階段握手 checkbox 視覺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E5E7EB"/>
                </a:solidFill>
                <a:latin typeface="Calibri"/>
              </a:rPr>
              <a:t>4. Act 3 — token 飛去、等候第 4 個請求、結果飛回</a:t>
            </a:r>
          </a:p>
          <a:p>
            <a:pPr algn="l">
              <a:spcAft>
                <a:spcPts val="0"/>
              </a:spcAft>
            </a:pPr>
            <a:r>
              <a:rPr sz="975" b="0" i="0">
                <a:solidFill>
                  <a:srgbClr val="E5E7EB"/>
                </a:solidFill>
                <a:latin typeface="Calibri"/>
              </a:rPr>
              <a:t>5. Frame closure — 「新書」一路回到使用者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0E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03   T O O L   ·   註 冊 與 描 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250" b="1" i="0">
                <a:solidFill>
                  <a:srgbClr val="1F2937"/>
                </a:solidFill>
                <a:latin typeface="Arial Black"/>
              </a:rPr>
              <a:t>tools/list:Server 回傳工具定義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Client 一啟動就 list,把每個工具的 schema 收進來</a:t>
            </a:r>
          </a:p>
        </p:txBody>
      </p:sp>
      <p:sp>
        <p:nvSpPr>
          <p:cNvPr id="7" name="Rectangle 6"/>
          <p:cNvSpPr/>
          <p:nvPr/>
        </p:nvSpPr>
        <p:spPr>
          <a:xfrm>
            <a:off x="582930" y="1714500"/>
            <a:ext cx="8229600" cy="2948939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2386" y="1865376"/>
            <a:ext cx="7852409" cy="266090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9CA3AF"/>
                </a:solidFill>
                <a:latin typeface="Consolas"/>
              </a:rPr>
              <a:t># Client → Server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{ "method": "tools/list", "id": 2 }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9CA3AF"/>
                </a:solidFill>
                <a:latin typeface="Consolas"/>
              </a:rPr>
              <a:t># Server → Client  (興大系統共 33 個)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{ "result": { "tools": [{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A8E1B4"/>
                </a:solidFill>
                <a:latin typeface="Consolas"/>
              </a:rPr>
              <a:t>    "name": "search_library_books",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A8E1B4"/>
                </a:solidFill>
                <a:latin typeface="Consolas"/>
              </a:rPr>
              <a:t>    "description": "搜尋中興大學圖書館的館藏書籍,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A8E1B4"/>
                </a:solidFill>
                <a:latin typeface="Consolas"/>
              </a:rPr>
              <a:t>                    支援關鍵字查詢",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"inputSchema": {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"type": "object",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"properties": {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  "keyword": {"type": "string"}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}, "required": ["keyword"]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}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}, { "name": "get_department_courses", ... },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9CA3AF"/>
                </a:solidFill>
                <a:latin typeface="Consolas"/>
              </a:rPr>
              <a:t>  …共 33 個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] }, "id": 2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0E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03 · ①   T O O L   ·   三 個 關 鍵 欄 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每個 Tool 的三個關鍵欄位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LLM 看到的就只有這三個,所以 description 決定一切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190" y="1885950"/>
            <a:ext cx="2708910" cy="2811779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4350" y="2023110"/>
            <a:ext cx="243459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7B5CF5"/>
                </a:solidFill>
                <a:latin typeface="Consolas"/>
              </a:rPr>
              <a:t>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50" y="2434589"/>
            <a:ext cx="2434590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0">
                <a:solidFill>
                  <a:srgbClr val="1F2937"/>
                </a:solidFill>
                <a:latin typeface="Calibri"/>
              </a:rPr>
              <a:t>工具的唯一識別名稱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4350" y="3051810"/>
            <a:ext cx="2434590" cy="754380"/>
          </a:xfrm>
          <a:prstGeom prst="roundRect">
            <a:avLst>
              <a:gd name="adj" fmla="val 10000"/>
            </a:avLst>
          </a:prstGeom>
          <a:solidFill>
            <a:srgbClr val="1A2138"/>
          </a:solidFill>
          <a:ln>
            <a:solidFill>
              <a:srgbClr val="1A2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2930" y="3086100"/>
            <a:ext cx="2297430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750" b="0" i="0">
                <a:solidFill>
                  <a:srgbClr val="A8E1B4"/>
                </a:solidFill>
                <a:latin typeface="Consolas"/>
              </a:rPr>
              <a:t>"search_library_books"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350" y="3943350"/>
            <a:ext cx="2434590" cy="7200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0" i="1">
                <a:solidFill>
                  <a:srgbClr val="374151"/>
                </a:solidFill>
                <a:latin typeface="Calibri"/>
              </a:rPr>
              <a:t>LLM 在 tool_use 回傳時引用這個名稱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3260" y="1885950"/>
            <a:ext cx="2708910" cy="2811779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0420" y="2023110"/>
            <a:ext cx="243459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FB7048"/>
                </a:solidFill>
                <a:latin typeface="Consolas"/>
              </a:rPr>
              <a:t>description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0420" y="2434589"/>
            <a:ext cx="2434590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0">
                <a:solidFill>
                  <a:srgbClr val="1F2937"/>
                </a:solidFill>
                <a:latin typeface="Calibri"/>
              </a:rPr>
              <a:t>自然語言描述工具的用途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0420" y="3051810"/>
            <a:ext cx="2434590" cy="754380"/>
          </a:xfrm>
          <a:prstGeom prst="roundRect">
            <a:avLst>
              <a:gd name="adj" fmla="val 10000"/>
            </a:avLst>
          </a:prstGeom>
          <a:solidFill>
            <a:srgbClr val="1A2138"/>
          </a:solidFill>
          <a:ln>
            <a:solidFill>
              <a:srgbClr val="1A2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3086100"/>
            <a:ext cx="2297430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750" b="0" i="0">
                <a:solidFill>
                  <a:srgbClr val="A8E1B4"/>
                </a:solidFill>
                <a:latin typeface="Consolas"/>
              </a:rPr>
              <a:t>"搜尋中興大學圖書館的館藏書籍"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0420" y="3943350"/>
            <a:ext cx="2434590" cy="7200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0" i="1">
                <a:solidFill>
                  <a:srgbClr val="374151"/>
                </a:solidFill>
                <a:latin typeface="Calibri"/>
              </a:rPr>
              <a:t>這是 LLM 判斷「要不要用」的最重要依據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69330" y="1885950"/>
            <a:ext cx="2708910" cy="281177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6490" y="2023110"/>
            <a:ext cx="243459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0EA594"/>
                </a:solidFill>
                <a:latin typeface="Consolas"/>
              </a:rPr>
              <a:t>inputSchema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6490" y="2434589"/>
            <a:ext cx="2434590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0">
                <a:solidFill>
                  <a:srgbClr val="1F2937"/>
                </a:solidFill>
                <a:latin typeface="Calibri"/>
              </a:rPr>
              <a:t>JSON Schema 定義參數格式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6490" y="3051810"/>
            <a:ext cx="2434590" cy="754380"/>
          </a:xfrm>
          <a:prstGeom prst="roundRect">
            <a:avLst>
              <a:gd name="adj" fmla="val 10000"/>
            </a:avLst>
          </a:prstGeom>
          <a:solidFill>
            <a:srgbClr val="1A2138"/>
          </a:solidFill>
          <a:ln>
            <a:solidFill>
              <a:srgbClr val="1A2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5070" y="3086100"/>
            <a:ext cx="2297430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750" b="0" i="0">
                <a:solidFill>
                  <a:srgbClr val="A8E1B4"/>
                </a:solidFill>
                <a:latin typeface="Consolas"/>
              </a:rPr>
              <a:t>{ "type": "object",
  "properties": {…} 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6490" y="3943350"/>
            <a:ext cx="2434590" cy="7200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0" i="1">
                <a:solidFill>
                  <a:srgbClr val="374151"/>
                </a:solidFill>
                <a:latin typeface="Calibri"/>
              </a:rPr>
              <a:t>LLM 據此產生正確的 arguments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0E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03 · ②   T O O L   ·   D E S C R I P T I O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250" b="1" i="0">
                <a:solidFill>
                  <a:srgbClr val="1F2937"/>
                </a:solidFill>
                <a:latin typeface="Arial Black"/>
              </a:rPr>
              <a:t>description 寫得好不好,決定 LLM 選不選得對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LLM 從來不會直接接觸 MCP Server,只看 name + description + inputSchema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85950"/>
            <a:ext cx="4080510" cy="20574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988819"/>
            <a:ext cx="37719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B91C1C"/>
                </a:solidFill>
                <a:latin typeface="Arial Black"/>
              </a:rPr>
              <a:t>✗   模糊的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2366010"/>
            <a:ext cx="3771900" cy="150876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75" b="0" i="0">
                <a:solidFill>
                  <a:srgbClr val="1F2937"/>
                </a:solidFill>
                <a:latin typeface="Consolas"/>
              </a:rPr>
              <a:t>"搜尋課程"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問題:8 個課程相關工具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  (關鍵字 / 系所 / 教師 / 類型…)</a:t>
            </a:r>
          </a:p>
          <a:p>
            <a:pPr algn="l">
              <a:spcAft>
                <a:spcPts val="0"/>
              </a:spcAft>
            </a:pPr>
            <a:r>
              <a:rPr sz="975" b="0" i="1">
                <a:solidFill>
                  <a:srgbClr val="B91C1C"/>
                </a:solidFill>
                <a:latin typeface="Calibri"/>
              </a:rPr>
              <a:t>LLM 分不清楚要用哪一個。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885950"/>
            <a:ext cx="4080510" cy="205740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72050" y="1988819"/>
            <a:ext cx="37719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0F766E"/>
                </a:solidFill>
                <a:latin typeface="Arial Black"/>
              </a:rPr>
              <a:t>✓   精確的 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2050" y="2366010"/>
            <a:ext cx="3771900" cy="150876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975" b="0" i="0">
                <a:solidFill>
                  <a:srgbClr val="1F2937"/>
                </a:solidFill>
                <a:latin typeface="Consolas"/>
              </a:rPr>
              <a:t>"依系所代碼查詢該系所的</a:t>
            </a:r>
          </a:p>
          <a:p>
            <a:pPr algn="l">
              <a:spcAft>
                <a:spcPts val="150"/>
              </a:spcAft>
            </a:pPr>
            <a:r>
              <a:rPr sz="975" b="0" i="0">
                <a:solidFill>
                  <a:srgbClr val="1F2937"/>
                </a:solidFill>
                <a:latin typeface="Consolas"/>
              </a:rPr>
              <a:t> 所有課程,回傳課程名稱、</a:t>
            </a:r>
          </a:p>
          <a:p>
            <a:pPr algn="l">
              <a:spcAft>
                <a:spcPts val="750"/>
              </a:spcAft>
            </a:pPr>
            <a:r>
              <a:rPr sz="975" b="0" i="0">
                <a:solidFill>
                  <a:srgbClr val="1F2937"/>
                </a:solidFill>
                <a:latin typeface="Consolas"/>
              </a:rPr>
              <a:t> 學分數、授課教師"</a:t>
            </a:r>
          </a:p>
          <a:p>
            <a:pPr algn="l">
              <a:spcAft>
                <a:spcPts val="0"/>
              </a:spcAft>
            </a:pPr>
            <a:r>
              <a:rPr sz="975" b="0" i="1">
                <a:solidFill>
                  <a:srgbClr val="0F766E"/>
                </a:solidFill>
                <a:latin typeface="Calibri"/>
              </a:rPr>
              <a:t>LLM 一看就知道:「電機系有哪些課」→ 用這個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2930" y="4114800"/>
            <a:ext cx="8229600" cy="651509"/>
          </a:xfrm>
          <a:prstGeom prst="roundRect">
            <a:avLst>
              <a:gd name="adj" fmla="val 10000"/>
            </a:avLst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" y="4149089"/>
            <a:ext cx="7886700" cy="6172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975" b="1" i="0">
                <a:solidFill>
                  <a:srgbClr val="FB7048"/>
                </a:solidFill>
                <a:latin typeface="Arial Black"/>
              </a:rPr>
              <a:t>  關鍵洞察</a:t>
            </a:r>
          </a:p>
          <a:p>
            <a:pPr algn="l">
              <a:spcAft>
                <a:spcPts val="0"/>
              </a:spcAft>
            </a:pPr>
            <a:r>
              <a:rPr sz="1125" b="1" i="0">
                <a:solidFill>
                  <a:srgbClr val="E5E7EB"/>
                </a:solidFill>
                <a:latin typeface="Calibri"/>
              </a:rPr>
              <a:t>  description 的品質  =  工具被正確使用的機率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04   C L I E N T   ·   整 合 機 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工具清單 → LLM 的 tools 參數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Client 把所有 MCP Server 的工具收齊,轉成 LLM API 的 tools 欄位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90" y="1920239"/>
            <a:ext cx="1714500" cy="6858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90" y="1920239"/>
            <a:ext cx="1714500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7B5CF5"/>
                </a:solidFill>
                <a:latin typeface="Arial Black"/>
              </a:rPr>
              <a:t>33 個 MCP
Servers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8306" y="1920239"/>
            <a:ext cx="137160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650" b="1" i="0">
                <a:solidFill>
                  <a:srgbClr val="9CA3AF"/>
                </a:solidFill>
                <a:latin typeface="Arial Black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39" y="1920239"/>
            <a:ext cx="1714500" cy="68580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39" y="1920239"/>
            <a:ext cx="1714500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FB7048"/>
                </a:solidFill>
                <a:latin typeface="Arial Black"/>
              </a:rPr>
              <a:t>Client 收集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4255" y="1920239"/>
            <a:ext cx="137160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650" b="1" i="0">
                <a:solidFill>
                  <a:srgbClr val="9CA3AF"/>
                </a:solidFill>
                <a:latin typeface="Arial Black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1990" y="1920239"/>
            <a:ext cx="1714500" cy="68580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1990" y="1920239"/>
            <a:ext cx="1714500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0EA594"/>
                </a:solidFill>
                <a:latin typeface="Arial Black"/>
              </a:rPr>
              <a:t>轉換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0206" y="1920239"/>
            <a:ext cx="137160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650" b="1" i="0">
                <a:solidFill>
                  <a:srgbClr val="9CA3AF"/>
                </a:solidFill>
                <a:latin typeface="Arial Black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77940" y="1920239"/>
            <a:ext cx="1714500" cy="6858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7940" y="1920239"/>
            <a:ext cx="1714500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EF4444"/>
                </a:solidFill>
                <a:latin typeface="Arial Black"/>
              </a:rPr>
              <a:t>LLM API
呼叫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2930" y="2880360"/>
            <a:ext cx="8229600" cy="1851660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386" y="3031236"/>
            <a:ext cx="7852409" cy="156362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9CA3AF"/>
                </a:solidFill>
                <a:latin typeface="Consolas"/>
              </a:rPr>
              <a:t>// raw-mcp-client.js  —  注入工具到 Claude API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const response = await anthropic.messages.create({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model: "claude-sonnet-4-20250514",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messages: conversationHistory,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FB924D"/>
                </a:solidFill>
                <a:latin typeface="Consolas"/>
              </a:rPr>
              <a:t>  tools: allMcpTools.map(t =&gt; ({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name: t.name,             // 來自 MCP Server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description: t.description, // 來自 MCP Server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input_schema: t.inputSchema // 來自 MCP Server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}))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});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04 · ①   C L I E N T   ·   L L M 眼中的世界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250" b="1" i="0">
                <a:solidFill>
                  <a:srgbClr val="1F2937"/>
                </a:solidFill>
                <a:latin typeface="Arial Black"/>
              </a:rPr>
              <a:t>LLM 眼中的世界 —— 只看到工具描述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Server 怎麼跑、語言、資料庫,LLM 都看不到。它只有文字。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85950"/>
            <a:ext cx="4080510" cy="2811779"/>
          </a:xfrm>
          <a:prstGeom prst="roundRect">
            <a:avLst>
              <a:gd name="adj" fmla="val 10000"/>
            </a:avLst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988819"/>
            <a:ext cx="3771900" cy="3086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00" b="1" i="0">
                <a:solidFill>
                  <a:srgbClr val="FB7048"/>
                </a:solidFill>
                <a:latin typeface="Arial Black"/>
              </a:rPr>
              <a:t>LLM 看到的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2366010"/>
            <a:ext cx="3909060" cy="22631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75" b="0" i="0">
                <a:solidFill>
                  <a:srgbClr val="C8B6FF"/>
                </a:solidFill>
                <a:latin typeface="Consolas"/>
              </a:rPr>
              <a:t>Available tools:</a:t>
            </a:r>
          </a:p>
          <a:p>
            <a:pPr algn="l">
              <a:spcAft>
                <a:spcPts val="150"/>
              </a:spcAft>
            </a:pPr>
            <a:r>
              <a:rPr sz="975" b="0" i="0">
                <a:solidFill>
                  <a:srgbClr val="E5E7EB"/>
                </a:solidFill>
                <a:latin typeface="Consolas"/>
              </a:rPr>
              <a:t>1.  search_library_books</a:t>
            </a:r>
          </a:p>
          <a:p>
            <a:pPr algn="l">
              <a:spcAft>
                <a:spcPts val="600"/>
              </a:spcAft>
            </a:pPr>
            <a:r>
              <a:rPr sz="825" b="0" i="0">
                <a:solidFill>
                  <a:srgbClr val="9CA3AF"/>
                </a:solidFill>
                <a:latin typeface="Calibri"/>
              </a:rPr>
              <a:t>      搜尋圖書館館藏書籍</a:t>
            </a:r>
          </a:p>
          <a:p>
            <a:pPr algn="l">
              <a:spcAft>
                <a:spcPts val="150"/>
              </a:spcAft>
            </a:pPr>
            <a:r>
              <a:rPr sz="975" b="0" i="0">
                <a:solidFill>
                  <a:srgbClr val="E5E7EB"/>
                </a:solidFill>
                <a:latin typeface="Consolas"/>
              </a:rPr>
              <a:t>2.  get_department_courses</a:t>
            </a:r>
          </a:p>
          <a:p>
            <a:pPr algn="l">
              <a:spcAft>
                <a:spcPts val="600"/>
              </a:spcAft>
            </a:pPr>
            <a:r>
              <a:rPr sz="825" b="0" i="0">
                <a:solidFill>
                  <a:srgbClr val="9CA3AF"/>
                </a:solidFill>
                <a:latin typeface="Calibri"/>
              </a:rPr>
              <a:t>      依系所代碼查詢課程</a:t>
            </a:r>
          </a:p>
          <a:p>
            <a:pPr algn="l">
              <a:spcAft>
                <a:spcPts val="150"/>
              </a:spcAft>
            </a:pPr>
            <a:r>
              <a:rPr sz="975" b="0" i="0">
                <a:solidFill>
                  <a:srgbClr val="E5E7EB"/>
                </a:solidFill>
                <a:latin typeface="Consolas"/>
              </a:rPr>
              <a:t>3.  search_teachers</a:t>
            </a:r>
          </a:p>
          <a:p>
            <a:pPr algn="l">
              <a:spcAft>
                <a:spcPts val="750"/>
              </a:spcAft>
            </a:pPr>
            <a:r>
              <a:rPr sz="825" b="0" i="0">
                <a:solidFill>
                  <a:srgbClr val="9CA3AF"/>
                </a:solidFill>
                <a:latin typeface="Calibri"/>
              </a:rPr>
              <a:t>      搜尋教師資訊與研究</a:t>
            </a:r>
          </a:p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9CA3AF"/>
                </a:solidFill>
                <a:latin typeface="Calibri"/>
              </a:rPr>
              <a:t>…共 33 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885950"/>
            <a:ext cx="4080510" cy="281177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72050" y="1988819"/>
            <a:ext cx="3771900" cy="3086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00" b="1" i="0">
                <a:solidFill>
                  <a:srgbClr val="B91C1C"/>
                </a:solidFill>
                <a:latin typeface="Arial Black"/>
              </a:rPr>
              <a:t>LLM 看不到的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2050" y="2366010"/>
            <a:ext cx="3771900" cy="22631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25" b="0" i="0">
                <a:solidFill>
                  <a:srgbClr val="1F2937"/>
                </a:solidFill>
                <a:latin typeface="Calibri"/>
              </a:rPr>
              <a:t>✗  Server 怎麼啟動的</a:t>
            </a:r>
          </a:p>
          <a:p>
            <a:pPr algn="l">
              <a:spcAft>
                <a:spcPts val="600"/>
              </a:spcAft>
            </a:pPr>
            <a:r>
              <a:rPr sz="1125" b="0" i="0">
                <a:solidFill>
                  <a:srgbClr val="1F2937"/>
                </a:solidFill>
                <a:latin typeface="Calibri"/>
              </a:rPr>
              <a:t>✗  Server 用什麼語言</a:t>
            </a:r>
          </a:p>
          <a:p>
            <a:pPr algn="l">
              <a:spcAft>
                <a:spcPts val="600"/>
              </a:spcAft>
            </a:pPr>
            <a:r>
              <a:rPr sz="1125" b="0" i="0">
                <a:solidFill>
                  <a:srgbClr val="1F2937"/>
                </a:solidFill>
                <a:latin typeface="Calibri"/>
              </a:rPr>
              <a:t>✗  資料庫連線方式</a:t>
            </a:r>
          </a:p>
          <a:p>
            <a:pPr algn="l">
              <a:spcAft>
                <a:spcPts val="600"/>
              </a:spcAft>
            </a:pPr>
            <a:r>
              <a:rPr sz="1125" b="0" i="0">
                <a:solidFill>
                  <a:srgbClr val="1F2937"/>
                </a:solidFill>
                <a:latin typeface="Calibri"/>
              </a:rPr>
              <a:t>✗  網路拓撲</a:t>
            </a:r>
          </a:p>
          <a:p>
            <a:pPr algn="l">
              <a:spcAft>
                <a:spcPts val="600"/>
              </a:spcAft>
            </a:pPr>
            <a:r>
              <a:rPr sz="1125" b="0" i="0">
                <a:solidFill>
                  <a:srgbClr val="1F2937"/>
                </a:solidFill>
                <a:latin typeface="Calibri"/>
              </a:rPr>
              <a:t>✗  認證機制</a:t>
            </a:r>
          </a:p>
          <a:p>
            <a:pPr algn="l">
              <a:spcAft>
                <a:spcPts val="0"/>
              </a:spcAft>
            </a:pPr>
            <a:r>
              <a:rPr sz="1125" b="0" i="0">
                <a:solidFill>
                  <a:srgbClr val="1F2937"/>
                </a:solidFill>
                <a:latin typeface="Calibri"/>
              </a:rPr>
              <a:t>✗  JSON-RPC 細節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04 · ②   M C P   ·   整 體 架 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MCP 整體架構:四層分工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Host → Client → Server → Tool —— 每層只看下一層,LLM 只看文字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17369"/>
            <a:ext cx="8229600" cy="58293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1509" y="1885950"/>
            <a:ext cx="137160" cy="445769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1817369"/>
            <a:ext cx="17145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00" b="1" i="0">
                <a:solidFill>
                  <a:srgbClr val="EF4444"/>
                </a:solidFill>
                <a:latin typeface="Arial Black"/>
              </a:rPr>
              <a:t>Host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817369"/>
            <a:ext cx="27432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應用程式 / 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59" y="1817369"/>
            <a:ext cx="3154679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Consolas"/>
              </a:rPr>
              <a:t>興大 AI 學伴 web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2930" y="2523744"/>
            <a:ext cx="8229600" cy="58293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1509" y="2592324"/>
            <a:ext cx="137160" cy="445769"/>
          </a:xfrm>
          <a:prstGeom prst="rect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19" y="2523744"/>
            <a:ext cx="17145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00" b="1" i="0">
                <a:solidFill>
                  <a:srgbClr val="7B5CF5"/>
                </a:solidFill>
                <a:latin typeface="Arial Black"/>
              </a:rPr>
              <a:t>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523744"/>
            <a:ext cx="27432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包含 LLM + MCP 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59" y="2523744"/>
            <a:ext cx="3154679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Consolas"/>
              </a:rPr>
              <a:t>Node.js + Sonnet  (= 影片裡的 Parent)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2930" y="3230118"/>
            <a:ext cx="8229600" cy="58293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1509" y="3298698"/>
            <a:ext cx="137160" cy="445769"/>
          </a:xfrm>
          <a:prstGeom prst="rect">
            <a:avLst/>
          </a:prstGeom>
          <a:solidFill>
            <a:srgbClr val="0E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3230118"/>
            <a:ext cx="17145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00" b="1" i="0">
                <a:solidFill>
                  <a:srgbClr val="0EA594"/>
                </a:solidFill>
                <a:latin typeface="Arial Black"/>
              </a:rPr>
              <a:t>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230118"/>
            <a:ext cx="27432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個別 MCP server 子程序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59" y="3230118"/>
            <a:ext cx="3154679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Consolas"/>
              </a:rPr>
              <a:t>Python MCP Server  (= 影片裡的 Child)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2930" y="3936491"/>
            <a:ext cx="8229600" cy="58293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1509" y="4005072"/>
            <a:ext cx="137160" cy="445769"/>
          </a:xfrm>
          <a:prstGeom prst="rect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19" y="3936491"/>
            <a:ext cx="17145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00" b="1" i="0">
                <a:solidFill>
                  <a:srgbClr val="FB7048"/>
                </a:solidFill>
                <a:latin typeface="Arial Black"/>
              </a:rPr>
              <a:t>Tool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936491"/>
            <a:ext cx="27432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個別工具函式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59" y="3936491"/>
            <a:ext cx="3154679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Consolas"/>
              </a:rPr>
              <a:t>search_new_books / search_courses / 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2930" y="960119"/>
            <a:ext cx="82296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050" b="0" i="1">
                <a:solidFill>
                  <a:srgbClr val="9CA3AF"/>
                </a:solidFill>
                <a:latin typeface="Calibri"/>
              </a:rPr>
              <a:t>—  一  句  話  總  結 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2930" y="1783080"/>
            <a:ext cx="8229600" cy="8229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3450" b="1" i="0">
                <a:solidFill>
                  <a:srgbClr val="FFFFFF"/>
                </a:solidFill>
                <a:latin typeface="Arial Black"/>
              </a:rPr>
              <a:t>MCP 把 function calling 標準化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2537460"/>
            <a:ext cx="8229600" cy="8229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2550" b="1" i="0">
                <a:solidFill>
                  <a:srgbClr val="7B5CF5"/>
                </a:solidFill>
                <a:latin typeface="Arial Black"/>
              </a:rPr>
              <a:t>—— LLM ↔ Tool 中間多了一個獨立 process。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703320"/>
            <a:ext cx="6377940" cy="822959"/>
          </a:xfrm>
          <a:prstGeom prst="roundRect">
            <a:avLst>
              <a:gd name="adj" fmla="val 10000"/>
            </a:avLst>
          </a:prstGeom>
          <a:solidFill>
            <a:srgbClr val="1E203A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39" y="3771900"/>
            <a:ext cx="6035040" cy="7200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9CA3AF"/>
                </a:solidFill>
                <a:latin typeface="Calibri"/>
              </a:rPr>
              <a:t>搭配教學影片:</a:t>
            </a:r>
          </a:p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E5E7EB"/>
                </a:solidFill>
                <a:latin typeface="Consolas"/>
              </a:rPr>
              <a:t>「02-mcp-connection-video.mp4 — 2:17」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附錄   A P P E N D I X   ·   R E S T   v s   J S O N - R P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為什麼 MCP 選 JSON-RPC 不選 REST?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給技術 curious 老師 —— 不講也不影響理解 MCP 的核心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582930" y="1885950"/>
            <a:ext cx="2057400" cy="377190"/>
          </a:xfrm>
          <a:prstGeom prst="rect">
            <a:avLst/>
          </a:prstGeom>
          <a:solidFill>
            <a:srgbClr val="EE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40330" y="1885950"/>
            <a:ext cx="3086100" cy="377190"/>
          </a:xfrm>
          <a:prstGeom prst="rect">
            <a:avLst/>
          </a:prstGeom>
          <a:solidFill>
            <a:srgbClr val="FF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26429" y="1885950"/>
            <a:ext cx="3086100" cy="377190"/>
          </a:xfrm>
          <a:prstGeom prst="rect">
            <a:avLst/>
          </a:prstGeom>
          <a:solidFill>
            <a:srgbClr val="D4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930" y="1885950"/>
            <a:ext cx="20574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25" b="1" i="0">
                <a:solidFill>
                  <a:srgbClr val="7B5CF5"/>
                </a:solidFill>
                <a:latin typeface="Arial Black"/>
              </a:rPr>
              <a:t>面向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0330" y="1885950"/>
            <a:ext cx="30861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25" b="1" i="0">
                <a:solidFill>
                  <a:srgbClr val="FB7048"/>
                </a:solidFill>
                <a:latin typeface="Arial Black"/>
              </a:rPr>
              <a:t>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26429" y="1885950"/>
            <a:ext cx="30861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25" b="1" i="0">
                <a:solidFill>
                  <a:srgbClr val="0EA594"/>
                </a:solidFill>
                <a:latin typeface="Arial Black"/>
              </a:rPr>
              <a:t>JSON-RPC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90" y="2263139"/>
            <a:ext cx="185166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1" i="0">
                <a:solidFill>
                  <a:srgbClr val="1F2937"/>
                </a:solidFill>
                <a:latin typeface="Calibri"/>
              </a:rPr>
              <a:t>核心概念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263139"/>
            <a:ext cx="288036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資源(URL + HTTP 動詞)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9300" y="2263139"/>
            <a:ext cx="288036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動作(method 欄位)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2930" y="2640330"/>
            <a:ext cx="8229600" cy="37719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90" y="2640330"/>
            <a:ext cx="185166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1" i="0">
                <a:solidFill>
                  <a:srgbClr val="1F2937"/>
                </a:solidFill>
                <a:latin typeface="Calibri"/>
              </a:rPr>
              <a:t>端點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640330"/>
            <a:ext cx="288036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每個資源一個 URL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9300" y="2640330"/>
            <a:ext cx="288036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單一入口,靠 method 區分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90" y="3017520"/>
            <a:ext cx="185166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1" i="0">
                <a:solidFill>
                  <a:srgbClr val="1F2937"/>
                </a:solidFill>
                <a:latin typeface="Calibri"/>
              </a:rPr>
              <a:t>傳輸層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017520"/>
            <a:ext cx="288036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綁定 HTTP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29300" y="3017520"/>
            <a:ext cx="288036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不綁定(stdio / HTTP / WS)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2930" y="3394710"/>
            <a:ext cx="8229600" cy="37719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0090" y="3394710"/>
            <a:ext cx="185166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1" i="0">
                <a:solidFill>
                  <a:srgbClr val="1F2937"/>
                </a:solidFill>
                <a:latin typeface="Calibri"/>
              </a:rPr>
              <a:t>語意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394710"/>
            <a:ext cx="288036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CRUD 操作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29300" y="3394710"/>
            <a:ext cx="288036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呼叫函式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90" y="3771900"/>
            <a:ext cx="185166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1" i="0">
                <a:solidFill>
                  <a:srgbClr val="1F2937"/>
                </a:solidFill>
                <a:latin typeface="Calibri"/>
              </a:rPr>
              <a:t>範例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771900"/>
            <a:ext cx="288036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GET /books?keyword=AI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29300" y="3771900"/>
            <a:ext cx="288036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{ method: "search_books" }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2930" y="4423410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8669" y="4423410"/>
            <a:ext cx="78181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7B5CF5"/>
                </a:solidFill>
                <a:latin typeface="Calibri"/>
              </a:rPr>
              <a:t>▶  MCP 選 JSON-RPC:傳輸層不綁 HTTP(可用 stdio),語意是「呼叫工具」而非「操作資源」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附錄 · ①   J S O N - R P C   ·   三 種 訊 息 類 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JSON-RPC 2.0 的三種訊息類型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Request / Response / Notification —— 用 id 欄位區分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190" y="1851660"/>
            <a:ext cx="2708910" cy="2811779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4350" y="1988819"/>
            <a:ext cx="243459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7B5CF5"/>
                </a:solidFill>
                <a:latin typeface="Arial Black"/>
              </a:rPr>
              <a:t>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50" y="2400300"/>
            <a:ext cx="243459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Client →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350" y="2674620"/>
            <a:ext cx="243459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0" i="1">
                <a:solidFill>
                  <a:srgbClr val="374151"/>
                </a:solidFill>
                <a:latin typeface="Calibri"/>
              </a:rPr>
              <a:t>帶有 id 欄位 · 期待回應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350" y="3223260"/>
            <a:ext cx="2434590" cy="1303019"/>
          </a:xfrm>
          <a:prstGeom prst="roundRect">
            <a:avLst>
              <a:gd name="adj" fmla="val 10000"/>
            </a:avLst>
          </a:prstGeom>
          <a:solidFill>
            <a:srgbClr val="1A2138"/>
          </a:solidFill>
          <a:ln>
            <a:solidFill>
              <a:srgbClr val="1A2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" y="3326129"/>
            <a:ext cx="2228850" cy="116586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A8E1B4"/>
                </a:solidFill>
                <a:latin typeface="Consolas"/>
              </a:rPr>
              <a:t>{ method: "tools/call",</a:t>
            </a:r>
          </a:p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A8E1B4"/>
                </a:solidFill>
                <a:latin typeface="Consolas"/>
              </a:rPr>
              <a:t>  params: {...},</a:t>
            </a:r>
          </a:p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A8E1B4"/>
                </a:solidFill>
                <a:latin typeface="Consolas"/>
              </a:rPr>
              <a:t>  id: 1 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3260" y="1851660"/>
            <a:ext cx="2708910" cy="281177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0420" y="1988819"/>
            <a:ext cx="243459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0EA594"/>
                </a:solidFill>
                <a:latin typeface="Arial Black"/>
              </a:rPr>
              <a:t>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0420" y="2400300"/>
            <a:ext cx="243459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Server → 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0420" y="2674620"/>
            <a:ext cx="243459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0" i="1">
                <a:solidFill>
                  <a:srgbClr val="374151"/>
                </a:solidFill>
                <a:latin typeface="Calibri"/>
              </a:rPr>
              <a:t>帶有相同 id · 回 result 或 error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0420" y="3223260"/>
            <a:ext cx="2434590" cy="1303019"/>
          </a:xfrm>
          <a:prstGeom prst="roundRect">
            <a:avLst>
              <a:gd name="adj" fmla="val 10000"/>
            </a:avLst>
          </a:prstGeom>
          <a:solidFill>
            <a:srgbClr val="1A2138"/>
          </a:solidFill>
          <a:ln>
            <a:solidFill>
              <a:srgbClr val="1A2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63289" y="3326129"/>
            <a:ext cx="2228850" cy="116586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A8E1B4"/>
                </a:solidFill>
                <a:latin typeface="Consolas"/>
              </a:rPr>
              <a:t>{ result: {...},</a:t>
            </a:r>
          </a:p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A8E1B4"/>
                </a:solidFill>
                <a:latin typeface="Consolas"/>
              </a:rPr>
              <a:t>  id: 1 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69330" y="1851660"/>
            <a:ext cx="2708910" cy="2811779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6490" y="1988819"/>
            <a:ext cx="243459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FB7048"/>
                </a:solidFill>
                <a:latin typeface="Arial Black"/>
              </a:rPr>
              <a:t>Notification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6490" y="2400300"/>
            <a:ext cx="243459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任一方向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6490" y="2674620"/>
            <a:ext cx="243459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0" i="1">
                <a:solidFill>
                  <a:srgbClr val="374151"/>
                </a:solidFill>
                <a:latin typeface="Calibri"/>
              </a:rPr>
              <a:t>沒有 id · 不期待回應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6490" y="3223260"/>
            <a:ext cx="2434590" cy="1303019"/>
          </a:xfrm>
          <a:prstGeom prst="roundRect">
            <a:avLst>
              <a:gd name="adj" fmla="val 10000"/>
            </a:avLst>
          </a:prstGeom>
          <a:solidFill>
            <a:srgbClr val="1A2138"/>
          </a:solidFill>
          <a:ln>
            <a:solidFill>
              <a:srgbClr val="1A2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326129"/>
            <a:ext cx="2228850" cy="116586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{ method:</a:t>
            </a:r>
          </a:p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"notifications/</a:t>
            </a:r>
          </a:p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initialized" 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