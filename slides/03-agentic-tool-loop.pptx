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第三講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5400" b="1" i="0">
                <a:solidFill>
                  <a:srgbClr val="1F2937"/>
                </a:solidFill>
                <a:latin typeface="Arial Black"/>
              </a:rPr>
              <a:t>Agentic Tool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950" b="1" i="0">
                <a:solidFill>
                  <a:srgbClr val="7B5CF5"/>
                </a:solidFill>
                <a:latin typeface="Calibri"/>
              </a:rPr>
              <a:t>LLM 如何自主決策、呼叫工具、迭代推理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國立中興大學  ·  AI 學伴系統實務案例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2948939"/>
            <a:ext cx="4800600" cy="78866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" y="3017520"/>
            <a:ext cx="4457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5B3ED9"/>
                </a:solidFill>
                <a:latin typeface="Arial Black"/>
              </a:rPr>
              <a:t>從一次回答  →  多輪迭代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394710"/>
            <a:ext cx="44577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LLM 不只回答,還會自己選工具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A G E N D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Arial Black"/>
              </a:rPr>
              <a:t>本講三段路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為什麼要 → 怎麼運作 → Live Demo + 收尾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7492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概念與解法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single-turn 解不了複合請求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→ Agentic 4 步走解法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3833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74135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5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9573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迴圈機制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9573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Loop 視覺圖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+ maxIterations 安全閥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9573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~8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0478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40780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6218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Live Demo + 收尾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6218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5 個示範問題實機操作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+ 三策略對比 / Segment 4 鋪陳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6218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S I N G L E - T U R N · 解不了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為什麼需要 Agentic Loop?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single-turn LLM(就算有 tool)解不了的三類問題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FB7048"/>
                </a:solidFill>
                <a:latin typeface="Arial Black"/>
              </a:rPr>
              <a:t>跨領域複合查詢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「找最近圖書館新書,順便看星期一台中天氣」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需要兩個不相關的工具同時呼叫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326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7B5CF5"/>
                </a:solidFill>
                <a:latin typeface="Arial Black"/>
              </a:rPr>
              <a:t>結果驅動的後續查詢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「資工系 AI 課的老師有什麼論文?」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先要拿到老師清單,才能查論文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33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0EA594"/>
                </a:solidFill>
                <a:latin typeface="Arial Black"/>
              </a:rPr>
              <a:t>動態判斷要不要用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8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「圖書館有幾本 AI 書?順便比較 Claude vs GPT-4」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78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第一部分要 tool,第二部分用訓練資料就好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28625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28625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Agentic Loop = LLM 自己決定何時、用什麼工具,以及要重複幾輪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③   A G E N T I C · 解法預覽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Agentic 怎麼解 — 一個 query 的 4 步走法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範例:"找 AI 課程 + 看這些老師最近的論文"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54530"/>
            <a:ext cx="822959" cy="288036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LLM 看問題 →
想到要做兩件事:
找課程 + 找論文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FB7048"/>
                </a:solidFill>
                <a:latin typeface="Consolas"/>
              </a:rPr>
              <a:t>拆解能力 = 預訓練自帶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317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4620" y="1954530"/>
            <a:ext cx="822959" cy="28803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462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462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第一輪 tool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462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search_courses
  (keyword='AI')
→ 拿到 5 門課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462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7B5CF5"/>
                </a:solidFill>
                <a:latin typeface="Consolas"/>
              </a:rPr>
              <a:t>stop_reason = "tool_use"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915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1954530"/>
            <a:ext cx="822959" cy="288036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第二輪 tool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看到課的老師後:
for each 老師 →
arxiv_search (parallel)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0EA594"/>
                </a:solidFill>
                <a:latin typeface="Consolas"/>
              </a:rPr>
              <a:t>結果驅動的後續決定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513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5B3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6580" y="1954530"/>
            <a:ext cx="822959" cy="288036"/>
          </a:xfrm>
          <a:prstGeom prst="rect">
            <a:avLst/>
          </a:prstGeom>
          <a:solidFill>
            <a:srgbClr val="5B3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658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658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整合 + end_turn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658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LLM 整合課 + 論文
→ 完整自然語言回覆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658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5B3ED9"/>
                </a:solidFill>
                <a:latin typeface="Consolas"/>
              </a:rPr>
              <a:t>stop_reason = "end_turn"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A G E N T I C   L O O P · 概念圖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Agentic Tool Loop 概念圖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每一輪稱為一個 iteration,最多 maxIterations(預設 7)輪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Calibri"/>
              </a:rPr>
              <a:t>User
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52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7B5CF5"/>
                </a:solidFill>
                <a:latin typeface="Arial Blac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1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881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Calibri"/>
              </a:rPr>
              <a:t>Build
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5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FB7048"/>
                </a:solidFill>
                <a:latin typeface="Arial Blac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44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4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Call
LLM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7790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FB7048"/>
                </a:solidFill>
                <a:latin typeface="Arial Bl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Check
stop_reason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41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0EA594"/>
                </a:solidFill>
                <a:latin typeface="Arial Black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370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370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EA594"/>
                </a:solidFill>
                <a:latin typeface="Calibri"/>
              </a:rPr>
              <a:t>Execute
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" y="2880360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1" i="1">
                <a:solidFill>
                  <a:srgbClr val="0F766E"/>
                </a:solidFill>
                <a:latin typeface="Calibri"/>
              </a:rPr>
              <a:t>↑   追加 tool_result 到 messages,回到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394710"/>
            <a:ext cx="4080510" cy="12687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" y="351815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stop_reason = "tool_use"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" y="3806189"/>
            <a:ext cx="3771900" cy="78866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→  執行工具 → 追加 tool_result → 進入下一輪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4890" y="3394710"/>
            <a:ext cx="4011929" cy="12687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6340" y="351815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stop_reason = "end_turn"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6340" y="3806189"/>
            <a:ext cx="3703320" cy="78866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→  跳出迴圈,把最終文字回給使用者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②   A G E N T I C   L O O P · 實 例 走 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走一遍:一個查詢跑完整個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「資工系深度學習的課,授課老師最近有什麼論文?」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48789"/>
            <a:ext cx="8229600" cy="85725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90" y="1885950"/>
            <a:ext cx="1028700" cy="582930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90" y="1885950"/>
            <a:ext cx="10287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Round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858517"/>
            <a:ext cx="67894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「先查課」  + tool_use  search_courses(深度學習, 系所=資工)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39" y="2201418"/>
            <a:ext cx="67894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→  tool_result:5 門課,授課老師:范、林、王…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729483"/>
            <a:ext cx="8229600" cy="85725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0090" y="2866644"/>
            <a:ext cx="1028700" cy="582930"/>
          </a:xfrm>
          <a:prstGeom prst="roundRect">
            <a:avLst>
              <a:gd name="adj" fmla="val 10000"/>
            </a:avLst>
          </a:prstGeom>
          <a:solidFill>
            <a:srgbClr val="FB7048"/>
          </a:solidFill>
          <a:ln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90" y="2866644"/>
            <a:ext cx="10287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2839211"/>
            <a:ext cx="67894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「查老師論文」  + tool_use  search_arxiv(范教授)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3182111"/>
            <a:ext cx="67894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→  tool_result:近期 3 篇論文(LLM 評測、低資源生成…)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710178"/>
            <a:ext cx="8229600" cy="85725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0090" y="3847338"/>
            <a:ext cx="1028700" cy="582930"/>
          </a:xfrm>
          <a:prstGeom prst="roundRect">
            <a:avLst>
              <a:gd name="adj" fmla="val 10000"/>
            </a:avLst>
          </a:prstGeom>
          <a:solidFill>
            <a:srgbClr val="0EA594"/>
          </a:solidFill>
          <a:ln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90" y="3847338"/>
            <a:ext cx="10287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Round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39" y="3819906"/>
            <a:ext cx="67894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「整合 5 個結果」  ✓ stop_reason = end_turn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162806"/>
            <a:ext cx="67894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→  「你可修這門,范教授近期在做 LLM 評測,最對你胃口…」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4766310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69" y="4766310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每一輪 LLM 都看著上一輪的 tool_result,自己決定下一步 —— 你沒寫任何流程控制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③   M E S S A G E S   陣 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messages 陣列怎麼長大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loop 的「記憶」就在這個一直變長的陣列 —— LLM 每輪都看到完整脈絡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48789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4287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90" y="1748789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onsolas"/>
              </a:rPr>
              <a:t>[0]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48789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Consola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8939" y="1748789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「資工系深度學習的課,老師論文?」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173986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4287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90" y="2173986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73986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939" y="2173986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tool_use  search_courses(...)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2599182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90" y="2599182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99182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8939" y="2599182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tool_result  「5 門課,老師:范…」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3024378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4287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90" y="3024378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024378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8939" y="3024378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tool_use  search_arxiv(范)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930" y="3449574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90" y="3449574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[4]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49574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8939" y="3449574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tool_result  「3 篇論文…」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2930" y="3874770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4287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90" y="3874770"/>
            <a:ext cx="6172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onsolas"/>
              </a:rPr>
              <a:t>[5]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74770"/>
            <a:ext cx="15087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onsolas"/>
              </a:rPr>
              <a:t>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8939" y="3874770"/>
            <a:ext cx="576072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text  「你可修這門…」  ✓ end_turn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2930" y="4766310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669" y="4766310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每輪把上一輪結果接在後面 → 陣列越來越長 → 這就是「多輪記憶」的全部祕密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④   P A R A L L E L   T O O L   C A L L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一回合可以同時開多支工具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parallel tool calls —— 用 Promise.all 並行,不是一個接一個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6100" y="1783080"/>
            <a:ext cx="2948939" cy="6172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6100" y="1783080"/>
            <a:ext cx="2948939" cy="6172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7B5CF5"/>
                </a:solidFill>
                <a:latin typeface="Calibri"/>
              </a:rPr>
              <a:t>assistant:一次吐 5 個 tool_use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770" y="2948939"/>
            <a:ext cx="150876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" y="2948939"/>
            <a:ext cx="150876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onsolas"/>
              </a:rPr>
              <a:t>arxiv(張)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2434589"/>
            <a:ext cx="150876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FB7048"/>
                </a:solidFill>
                <a:latin typeface="Arial Black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7974" y="2948939"/>
            <a:ext cx="150876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7974" y="2948939"/>
            <a:ext cx="150876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onsolas"/>
              </a:rPr>
              <a:t>arxiv(李)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7974" y="2434589"/>
            <a:ext cx="150876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FB7048"/>
                </a:solidFill>
                <a:latin typeface="Arial Black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10178" y="2948939"/>
            <a:ext cx="150876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0178" y="2948939"/>
            <a:ext cx="150876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onsolas"/>
              </a:rPr>
              <a:t>arxiv(范)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178" y="2434589"/>
            <a:ext cx="150876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FB7048"/>
                </a:solidFill>
                <a:latin typeface="Arial Black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2382" y="2948939"/>
            <a:ext cx="150876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2382" y="2948939"/>
            <a:ext cx="150876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onsolas"/>
              </a:rPr>
              <a:t>arxiv(林)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2382" y="2434589"/>
            <a:ext cx="150876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FB7048"/>
                </a:solidFill>
                <a:latin typeface="Arial Black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4586" y="2948939"/>
            <a:ext cx="150876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4586" y="2948939"/>
            <a:ext cx="150876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onsolas"/>
              </a:rPr>
              <a:t>arxiv(王)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4586" y="2434589"/>
            <a:ext cx="150876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FB7048"/>
                </a:solidFill>
                <a:latin typeface="Arial Black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" y="366902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5 個查詢 並行執行(Promise.all)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930" y="438912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669" y="438912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alibri"/>
              </a:rPr>
              <a:t>▶  並行 → 1 秒搞定 5 個查詢,不用等 5 倍時間;5 個 tool_result 一起回給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   M A X _ I T E R A T I O N S · 強制回覆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maxIterations 與強制回覆機制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避免 LLM 無限呼叫工具 —— 設上限 + 最後一輪強制總結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問題:無限迴圈風險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LLM 可能不斷呼叫工具而永遠不回覆使用者,造成: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Token 成本無限增長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回應時間過長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使用者體驗極差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解法:maxIterations =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設定最大迭代次數上限</a:t>
            </a:r>
          </a:p>
          <a:p>
            <a:pPr algn="l">
              <a:spcAft>
                <a:spcPts val="1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第 7 輪(最後一輪)時注入臨時</a:t>
            </a:r>
          </a:p>
          <a:p>
            <a:pPr algn="l">
              <a:spcAft>
                <a:spcPts val="1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    user message 強制模型停止使用</a:t>
            </a:r>
          </a:p>
          <a:p>
            <a:pPr algn="l">
              <a:spcAft>
                <a:spcPts val="10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    工具,直接整理回覆</a:t>
            </a:r>
          </a:p>
          <a:p>
            <a:pPr algn="l">
              <a:spcAft>
                <a:spcPts val="15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「請不要再使用任何工具,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  直接根據工具回傳的資料整理 Markdown 回覆。」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  <a:latin typeface="Calibri"/>
              </a:rPr>
              <a:t>04   L I V E   D E M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720090"/>
            <a:ext cx="822960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300" b="1" i="0">
                <a:solidFill>
                  <a:srgbClr val="FB7048"/>
                </a:solidFill>
                <a:latin typeface="Arial Black"/>
              </a:rPr>
              <a:t>▶  切換到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405889"/>
            <a:ext cx="82296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0" i="1">
                <a:solidFill>
                  <a:srgbClr val="CBD5E1"/>
                </a:solidFill>
                <a:latin typeface="Calibri"/>
              </a:rPr>
              <a:t>25 分鐘 · 興大 AI 學伴實機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5166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EEE8FF"/>
                </a:solidFill>
                <a:latin typeface="Calibri"/>
              </a:rPr>
              <a:t>5 個示範問題(從淺到深,完整腳本見 03-live-demo-script.md)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7310" y="2194560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圖書館 AI 書多少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194560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single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EA594"/>
                </a:solidFill>
                <a:latin typeface="Calibr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990" y="2194560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~30s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95194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95194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7310" y="2695194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資工系深度學習老師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2695194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single tool + 參數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95194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EA594"/>
                </a:solidFill>
                <a:latin typeface="Calibr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990" y="2695194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~30s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95828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195828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7310" y="3195828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AI 課程 + 教授介紹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700" y="3195828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multi-turn 主菜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95828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7B5CF5"/>
                </a:solidFill>
                <a:latin typeface="Calibri"/>
              </a:rPr>
              <a:t>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990" y="3195828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~60-90s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96462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696462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onsolas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7310" y="3696462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新書 + 天氣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3696462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parallel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96462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alibri"/>
              </a:rPr>
              <a:t>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990" y="3696462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~45s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197096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197096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onsolas"/>
              </a:rPr>
              <a:t>Q5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7310" y="4197096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課程 + 論文 + 推薦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7700" y="4197096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maxIter 挑戰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97096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EF4444"/>
                </a:solidFill>
                <a:latin typeface="Calibri"/>
              </a:rPr>
              <a:t>★★★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990" y="4197096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~90-120s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800600"/>
            <a:ext cx="1371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05 · ①   S T R A T E G I E S · 回看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1F2937"/>
                </a:solidFill>
                <a:latin typeface="Arial Black"/>
              </a:rPr>
              <a:t>回頭看三種策略 — Agentic Loop 站在哪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Segment 1 介紹的三條路,Agentic Loop 是其中能力最完整的一條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3B82F6"/>
                </a:solidFill>
                <a:latin typeface="Arial Black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檢索增強生成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解知識截止
✓ 讀私有文件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B91C1C"/>
                </a:solidFill>
                <a:latin typeface="Calibri"/>
              </a:rPr>
              <a:t>✗ 不能執行動作
✗ 單輪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6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71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Tool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工具呼叫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能執行動作
✓ 接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B91C1C"/>
                </a:solidFill>
                <a:latin typeface="Calibri"/>
              </a:rPr>
              <a:t>✗ 典型 1-2 輪
✗ 不主動拆解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933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Agentic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8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多輪迭代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自己拆解問題
✓ 多輪 + 結果驅動
✓ Tool Use 完整版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FB7048"/>
                </a:solidFill>
                <a:latin typeface="Calibri"/>
              </a:rPr>
              <a:t>△  成本最高、難 debug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47663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69" y="47663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alibri"/>
              </a:rPr>
              <a:t>▶  從『單輪答話』到『多輪自主』 —— Segment 4 你會親手跑一個 mini-project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