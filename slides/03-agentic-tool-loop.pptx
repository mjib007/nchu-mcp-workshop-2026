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82930" y="377190"/>
            <a:ext cx="377190" cy="4800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2930" y="51435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MCP 入門工作坊  ·  第三講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1371600"/>
            <a:ext cx="8229600" cy="10972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5400" b="1" i="0">
                <a:solidFill>
                  <a:srgbClr val="1F2937"/>
                </a:solidFill>
                <a:latin typeface="Arial Black"/>
              </a:rPr>
              <a:t>Agentic Tool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2400300"/>
            <a:ext cx="8229600" cy="48005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950" b="1" i="0">
                <a:solidFill>
                  <a:srgbClr val="7B5CF5"/>
                </a:solidFill>
                <a:latin typeface="Calibri"/>
              </a:rPr>
              <a:t>LLM 如何自主決策、呼叫工具、迭代推理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432054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Calibri"/>
              </a:rPr>
              <a:t>范耀中  Yao-Chung Fan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2930" y="4629150"/>
            <a:ext cx="54864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0" i="0">
                <a:solidFill>
                  <a:srgbClr val="9CA3AF"/>
                </a:solidFill>
                <a:latin typeface="Calibri"/>
              </a:rPr>
              <a:t>國立中興大學  ·  AI 學伴系統實務案例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2930" y="2948939"/>
            <a:ext cx="4800600" cy="78866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" y="3017520"/>
            <a:ext cx="44577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5B3ED9"/>
                </a:solidFill>
                <a:latin typeface="Arial Black"/>
              </a:rPr>
              <a:t>從一次回答  →  多輪迭代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" y="3394710"/>
            <a:ext cx="44577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0" i="0">
                <a:solidFill>
                  <a:srgbClr val="1F2937"/>
                </a:solidFill>
                <a:latin typeface="Calibri"/>
              </a:rPr>
              <a:t>LLM 不只回答,還會自己選工具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00   A G E N D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000" b="1" i="0">
                <a:solidFill>
                  <a:srgbClr val="1F2937"/>
                </a:solidFill>
                <a:latin typeface="Arial Black"/>
              </a:rPr>
              <a:t>本講三段路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33731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為什麼要 → 怎麼運作 → Live Demo + 收尾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07492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7492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FB7048"/>
                </a:solidFill>
                <a:latin typeface="Arial Black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2930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概念與解法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930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single-turn 解不了複合請求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→ Agentic 4 步走解法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2930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~10 min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43833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374135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74135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7B5CF5"/>
                </a:solidFill>
                <a:latin typeface="Arial Black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9573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迴圈機制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49573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Loop 視覺圖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maxIterations 安全閥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49573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~8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10478" y="1954530"/>
            <a:ext cx="274320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240780" y="2016252"/>
            <a:ext cx="493776" cy="493776"/>
          </a:xfrm>
          <a:prstGeom prst="ellipse">
            <a:avLst/>
          </a:prstGeom>
          <a:solidFill>
            <a:srgbClr val="FFFFFF"/>
          </a:solidFill>
          <a:ln w="23812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40780" y="2016252"/>
            <a:ext cx="493776" cy="49377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950" b="1" i="0">
                <a:solidFill>
                  <a:srgbClr val="0EA594"/>
                </a:solidFill>
                <a:latin typeface="Arial Black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6218" y="2846070"/>
            <a:ext cx="2331720" cy="41147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1" i="0">
                <a:solidFill>
                  <a:srgbClr val="1F2937"/>
                </a:solidFill>
                <a:latin typeface="Arial Black"/>
              </a:rPr>
              <a:t>Live Demo + 收尾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6218" y="3394710"/>
            <a:ext cx="233172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5 個示範問題實機操作</a:t>
            </a:r>
          </a:p>
          <a:p>
            <a:pPr algn="l">
              <a:spcAft>
                <a:spcPts val="300"/>
              </a:spcAft>
            </a:pPr>
            <a:r>
              <a:rPr sz="1050" b="0" i="0">
                <a:solidFill>
                  <a:srgbClr val="374151"/>
                </a:solidFill>
                <a:latin typeface="Calibri"/>
              </a:rPr>
              <a:t>+ 三策略對比 / Segment 4 鋪陳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16218" y="4320540"/>
            <a:ext cx="233172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1" i="0">
                <a:solidFill>
                  <a:srgbClr val="374151"/>
                </a:solidFill>
                <a:latin typeface="Consolas"/>
              </a:rPr>
              <a:t>~30 min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S I N G L E - T U R N · 解不了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為什麼需要 Agentic Loop?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single-turn LLM(就算有 tool)解不了的三類問題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FB7048"/>
                </a:solidFill>
                <a:latin typeface="Arial Black"/>
              </a:rPr>
              <a:t>跨領域複合查詢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「找最近圖書館新書,順便看星期一台中天氣」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需要兩個不相關的工具同時呼叫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2326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9471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7B5CF5"/>
                </a:solidFill>
                <a:latin typeface="Arial Black"/>
              </a:rPr>
              <a:t>結果驅動的後續查詢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9471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「資工系 AI 課的老師有什麼論文?」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先要拿到老師清單,才能查論文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69330" y="1851660"/>
            <a:ext cx="2708910" cy="2263139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40780" y="1988819"/>
            <a:ext cx="23660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0EA594"/>
                </a:solidFill>
                <a:latin typeface="Arial Black"/>
              </a:rPr>
              <a:t>動態判斷要不要用 tool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0780" y="2434589"/>
            <a:ext cx="2366010" cy="9601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125" b="1" i="0">
                <a:solidFill>
                  <a:srgbClr val="1F2937"/>
                </a:solidFill>
                <a:latin typeface="Calibri"/>
              </a:rPr>
              <a:t>「圖書館有幾本 AI 書?順便比較 Claude vs GPT-4」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0780" y="3326129"/>
            <a:ext cx="2366010" cy="75438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1">
                <a:solidFill>
                  <a:srgbClr val="374151"/>
                </a:solidFill>
                <a:latin typeface="Calibri"/>
              </a:rPr>
              <a:t>第一部分要 tool,第二部分用訓練資料就好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82930" y="428625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669" y="428625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alibri"/>
              </a:rPr>
              <a:t>▶  Agentic Loop = LLM 自己決定何時、用什麼工具,以及要重複幾輪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③   A G E N T I C · 解法預覽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250" b="1" i="0">
                <a:solidFill>
                  <a:srgbClr val="1F2937"/>
                </a:solidFill>
                <a:latin typeface="Arial Black"/>
              </a:rPr>
              <a:t>Agentic 怎麼解 — 一個 query 的 4 步走法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範例:"找 AI 課程 + 看這些老師最近的論文"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54530"/>
            <a:ext cx="822959" cy="288036"/>
          </a:xfrm>
          <a:prstGeom prst="rect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看問題 →
想到要做兩件事:
找課程 + 找論文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FB7048"/>
                </a:solidFill>
                <a:latin typeface="Consolas"/>
              </a:rPr>
              <a:t>拆解能力 = 預訓練自帶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0317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674620" y="1954530"/>
            <a:ext cx="822959" cy="288036"/>
          </a:xfrm>
          <a:prstGeom prst="rect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462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462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第一輪 tool call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462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search_courses
  (keyword='AI')
→ 拿到 5 門課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7462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7B5CF5"/>
                </a:solidFill>
                <a:latin typeface="Consolas"/>
              </a:rPr>
              <a:t>stop_reason = "tool_use"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2915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00600" y="1954530"/>
            <a:ext cx="822959" cy="288036"/>
          </a:xfrm>
          <a:prstGeom prst="rect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0060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0060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第二輪 tool call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060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看到課的老師後:
for each 老師 →
arxiv_search (parallel)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0EA594"/>
                </a:solidFill>
                <a:latin typeface="Consolas"/>
              </a:rPr>
              <a:t>結果驅動的後續決定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755130" y="1851660"/>
            <a:ext cx="2023110" cy="264033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5B3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926580" y="1954530"/>
            <a:ext cx="822959" cy="288036"/>
          </a:xfrm>
          <a:prstGeom prst="rect">
            <a:avLst/>
          </a:prstGeom>
          <a:solidFill>
            <a:srgbClr val="5B3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26580" y="1954530"/>
            <a:ext cx="822959" cy="288036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onsolas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6580" y="2263139"/>
            <a:ext cx="168021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Arial Black"/>
              </a:rPr>
              <a:t>整合 + end_turn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6580" y="2674620"/>
            <a:ext cx="1680210" cy="130301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00" b="0" i="0">
                <a:solidFill>
                  <a:srgbClr val="1F2937"/>
                </a:solidFill>
                <a:latin typeface="Calibri"/>
              </a:rPr>
              <a:t>LLM 整合課 + 論文
→ 完整自然語言回覆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6580" y="4149089"/>
            <a:ext cx="168021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750" b="1" i="1">
                <a:solidFill>
                  <a:srgbClr val="5B3ED9"/>
                </a:solidFill>
                <a:latin typeface="Consolas"/>
              </a:rPr>
              <a:t>stop_reason = "end_turn"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01 · ①   A G E N T I C   L O O P · 概念圖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Agentic Tool Loop 概念圖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每一輪稱為一個 iteration,最多 maxIterations(預設 7)輪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7190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User
Query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5452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7B5CF5"/>
                </a:solidFill>
                <a:latin typeface="Arial Black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8881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8881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7B5CF5"/>
                </a:solidFill>
                <a:latin typeface="Calibri"/>
              </a:rPr>
              <a:t>Build
Messages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5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044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044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Call
LLM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7790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FB7048"/>
                </a:solidFill>
                <a:latin typeface="Arial Black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FB7048"/>
                </a:solidFill>
                <a:latin typeface="Calibri"/>
              </a:rPr>
              <a:t>Check
stop_reason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9419" y="1954530"/>
            <a:ext cx="171450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650" b="1" i="0">
                <a:solidFill>
                  <a:srgbClr val="0EA594"/>
                </a:solidFill>
                <a:latin typeface="Arial Black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23709" y="1954530"/>
            <a:ext cx="1577339" cy="75438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3709" y="1954530"/>
            <a:ext cx="1577339" cy="75438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975" b="1" i="0">
                <a:solidFill>
                  <a:srgbClr val="0EA594"/>
                </a:solidFill>
                <a:latin typeface="Calibri"/>
              </a:rPr>
              <a:t>Execute
MCP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2930" y="2880360"/>
            <a:ext cx="8229600" cy="3429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ctr"/>
            <a:r>
              <a:rPr sz="1050" b="1" i="1">
                <a:solidFill>
                  <a:srgbClr val="0F766E"/>
                </a:solidFill>
                <a:latin typeface="Calibri"/>
              </a:rPr>
              <a:t>↑   追加 tool_result 到 messages,回到 LLM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3394710"/>
            <a:ext cx="4080510" cy="126873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4380" y="351815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stop_reason = "tool_use"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" y="3806189"/>
            <a:ext cx="377190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執行工具 → 追加 tool_result → 進入下一輪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34890" y="3394710"/>
            <a:ext cx="4011929" cy="126873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351815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stop_reason = "end_turn"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06340" y="3806189"/>
            <a:ext cx="3703320" cy="788669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0" i="0">
                <a:solidFill>
                  <a:srgbClr val="1F2937"/>
                </a:solidFill>
                <a:latin typeface="Calibri"/>
              </a:rPr>
              <a:t>→  跳出迴圈,把最終文字回給使用者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0EA5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03 · ①   M A X _ I T E R A T I O N S · 強制回覆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150" b="1" i="0">
                <a:solidFill>
                  <a:srgbClr val="1F2937"/>
                </a:solidFill>
                <a:latin typeface="Arial Black"/>
              </a:rPr>
              <a:t>maxIterations 與強制回覆機制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避免 LLM 無限呼叫工具 —— 設上限 + 最後一輪強制總結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851660"/>
            <a:ext cx="4080510" cy="2743200"/>
          </a:xfrm>
          <a:prstGeom prst="roundRect">
            <a:avLst>
              <a:gd name="adj" fmla="val 10000"/>
            </a:avLst>
          </a:prstGeom>
          <a:solidFill>
            <a:srgbClr val="FEE2E2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975104"/>
            <a:ext cx="37376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EF4444"/>
                </a:solidFill>
                <a:latin typeface="Arial Black"/>
              </a:rPr>
              <a:t>問題:無限迴圈風險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2263139"/>
            <a:ext cx="377190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7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LLM 可能不斷呼叫工具而永遠不回覆使用者,造成: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Token 成本無限增長</a:t>
            </a:r>
          </a:p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回應時間過長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B91C1C"/>
                </a:solidFill>
                <a:latin typeface="Calibri"/>
              </a:rPr>
              <a:t>✗  使用者體驗極差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34890" y="1851660"/>
            <a:ext cx="4011929" cy="2743200"/>
          </a:xfrm>
          <a:prstGeom prst="roundRect">
            <a:avLst>
              <a:gd name="adj" fmla="val 10000"/>
            </a:avLst>
          </a:prstGeom>
          <a:solidFill>
            <a:srgbClr val="D4F7F0"/>
          </a:solidFill>
          <a:ln w="19050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6340" y="1975104"/>
            <a:ext cx="3669029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0EA594"/>
                </a:solidFill>
                <a:latin typeface="Arial Black"/>
              </a:rPr>
              <a:t>解法:maxIterations =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06340" y="2263139"/>
            <a:ext cx="3703320" cy="226313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>
              <a:spcAft>
                <a:spcPts val="4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設定最大迭代次數上限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✓  第 7 輪(最後一輪)時注入臨時</a:t>
            </a:r>
          </a:p>
          <a:p>
            <a:pPr algn="l">
              <a:spcAft>
                <a:spcPts val="1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user message 強制模型停止使用</a:t>
            </a:r>
          </a:p>
          <a:p>
            <a:pPr algn="l">
              <a:spcAft>
                <a:spcPts val="1050"/>
              </a:spcAft>
            </a:pPr>
            <a:r>
              <a:rPr sz="1050" b="0" i="0">
                <a:solidFill>
                  <a:srgbClr val="1F2937"/>
                </a:solidFill>
                <a:latin typeface="Calibri"/>
              </a:rPr>
              <a:t>    工具,直接整理回覆</a:t>
            </a:r>
          </a:p>
          <a:p>
            <a:pPr algn="l">
              <a:spcAft>
                <a:spcPts val="15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「請不要再使用任何工具,</a:t>
            </a:r>
          </a:p>
          <a:p>
            <a:pPr algn="l">
              <a:spcAft>
                <a:spcPts val="0"/>
              </a:spcAft>
            </a:pPr>
            <a:r>
              <a:rPr sz="975" b="0" i="1">
                <a:solidFill>
                  <a:srgbClr val="0F766E"/>
                </a:solidFill>
                <a:latin typeface="Calibri"/>
              </a:rPr>
              <a:t>  直接根據工具回傳的資料整理 Markdown 回覆。」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FB70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CBD5E1"/>
                </a:solidFill>
                <a:latin typeface="Calibri"/>
              </a:rPr>
              <a:t>04   L I V E   D E M 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720090"/>
            <a:ext cx="8229600" cy="58293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3300" b="1" i="0">
                <a:solidFill>
                  <a:srgbClr val="FB7048"/>
                </a:solidFill>
                <a:latin typeface="Arial Black"/>
              </a:rPr>
              <a:t>▶  切換到 Live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405889"/>
            <a:ext cx="8229600" cy="30861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350" b="0" i="1">
                <a:solidFill>
                  <a:srgbClr val="CBD5E1"/>
                </a:solidFill>
                <a:latin typeface="Calibri"/>
              </a:rPr>
              <a:t>25 分鐘 · 興大 AI 學伴實機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2930" y="1851660"/>
            <a:ext cx="8229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050" b="1" i="0">
                <a:solidFill>
                  <a:srgbClr val="EEE8FF"/>
                </a:solidFill>
                <a:latin typeface="Calibri"/>
              </a:rPr>
              <a:t>5 個示範問題(從淺到深,完整腳本見 03-live-demo-script.md)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94560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59" y="2194560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37310" y="2194560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圖書館 AI 書多少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2194560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194560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0990" y="2194560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695194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0EA5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695194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0EA594"/>
                </a:solidFill>
                <a:latin typeface="Consolas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37310" y="2695194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資工系深度學習老師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7700" y="2695194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single tool + 參數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2695194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0EA594"/>
                </a:solidFill>
                <a:latin typeface="Calibri"/>
              </a:rPr>
              <a:t>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0990" y="2695194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~30s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3195828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59" y="3195828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7B5CF5"/>
                </a:solidFill>
                <a:latin typeface="Consolas"/>
              </a:rPr>
              <a:t>Q3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37310" y="3195828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AI 課程 + 教授介紹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7700" y="3195828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multi-turn 主菜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3195828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7B5CF5"/>
                </a:solidFill>
                <a:latin typeface="Calibri"/>
              </a:rPr>
              <a:t>★★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0990" y="3195828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~60-90s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696462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59" y="3696462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onsolas"/>
              </a:rPr>
              <a:t>Q4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37310" y="3696462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新書 + 天氣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696462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parallel call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0" y="3696462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FB7048"/>
                </a:solidFill>
                <a:latin typeface="Calibri"/>
              </a:rPr>
              <a:t>★★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0990" y="3696462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~45s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5800" y="4197096"/>
            <a:ext cx="8126729" cy="445770"/>
          </a:xfrm>
          <a:prstGeom prst="roundRect">
            <a:avLst>
              <a:gd name="adj" fmla="val 10000"/>
            </a:avLst>
          </a:prstGeom>
          <a:solidFill>
            <a:srgbClr val="242A44"/>
          </a:solidFill>
          <a:ln w="14287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59" y="4197096"/>
            <a:ext cx="480059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EF4444"/>
                </a:solidFill>
                <a:latin typeface="Consolas"/>
              </a:rPr>
              <a:t>Q5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7310" y="4197096"/>
            <a:ext cx="308610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E5E7EB"/>
                </a:solidFill>
                <a:latin typeface="Calibri"/>
              </a:rPr>
              <a:t>課程 + 論文 + 推薦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7700" y="4197096"/>
            <a:ext cx="233172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937" b="0" i="1">
                <a:solidFill>
                  <a:srgbClr val="9CA3AF"/>
                </a:solidFill>
                <a:latin typeface="Calibri"/>
              </a:rPr>
              <a:t>maxIter 挑戰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0" y="4197096"/>
            <a:ext cx="106299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ctr"/>
            <a:r>
              <a:rPr sz="1050" b="1" i="0">
                <a:solidFill>
                  <a:srgbClr val="EF4444"/>
                </a:solidFill>
                <a:latin typeface="Calibri"/>
              </a:rPr>
              <a:t>★★★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20990" y="4197096"/>
            <a:ext cx="857250" cy="44577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r"/>
            <a:r>
              <a:rPr sz="825" b="0" i="0">
                <a:solidFill>
                  <a:srgbClr val="9CA3AF"/>
                </a:solidFill>
                <a:latin typeface="Consolas"/>
              </a:rPr>
              <a:t>~90-120s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43800" y="4800600"/>
            <a:ext cx="137160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900" b="0" i="0">
                <a:solidFill>
                  <a:srgbClr val="CBD5E1"/>
                </a:solidFill>
                <a:latin typeface="Consolas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45769" y="240030"/>
            <a:ext cx="274320" cy="274320"/>
          </a:xfrm>
          <a:prstGeom prst="ellipse">
            <a:avLst/>
          </a:prstGeom>
          <a:solidFill>
            <a:srgbClr val="7B5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205739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125" b="1" i="0">
                <a:solidFill>
                  <a:srgbClr val="9CA3AF"/>
                </a:solidFill>
                <a:latin typeface="Calibri"/>
              </a:rPr>
              <a:t>05 · ①   S T R A T E G I E S · 回看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2930" y="651509"/>
            <a:ext cx="8229600" cy="65150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2100" b="1" i="0">
                <a:solidFill>
                  <a:srgbClr val="1F2937"/>
                </a:solidFill>
                <a:latin typeface="Arial Black"/>
              </a:rPr>
              <a:t>回頭看三種策略 — Agentic Loop 站在哪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2930" y="1268730"/>
            <a:ext cx="822960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500" b="0" i="1">
                <a:solidFill>
                  <a:srgbClr val="6B7280"/>
                </a:solidFill>
                <a:latin typeface="Calibri"/>
              </a:rPr>
              <a:t>Segment 1 介紹的三條路,Agentic Loop 是其中能力最完整的一條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719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90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3B82F6"/>
                </a:solidFill>
                <a:latin typeface="Arial Black"/>
              </a:rPr>
              <a:t>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檢索增強生成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解知識截止
✓ 讀私有文件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不能執行動作
✗ 單輪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2326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471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FB7048"/>
                </a:solidFill>
                <a:latin typeface="Arial Black"/>
              </a:rPr>
              <a:t>Tool 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471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工具呼叫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9471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能執行動作
✓ 接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9471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B91C1C"/>
                </a:solidFill>
                <a:latin typeface="Calibri"/>
              </a:rPr>
              <a:t>✗ 典型 1-2 輪
✗ 不主動拆解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9330" y="1851660"/>
            <a:ext cx="2708910" cy="2743200"/>
          </a:xfrm>
          <a:prstGeom prst="roundRect">
            <a:avLst>
              <a:gd name="adj" fmla="val 10000"/>
            </a:avLst>
          </a:prstGeom>
          <a:solidFill>
            <a:srgbClr val="EEE8FF"/>
          </a:solidFill>
          <a:ln w="19050">
            <a:solidFill>
              <a:srgbClr val="7B5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40780" y="1988819"/>
            <a:ext cx="2366010" cy="37719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1650" b="1" i="0">
                <a:solidFill>
                  <a:srgbClr val="7B5CF5"/>
                </a:solidFill>
                <a:latin typeface="Arial Black"/>
              </a:rPr>
              <a:t>Agentic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40780" y="2434589"/>
            <a:ext cx="2366010" cy="27432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1">
                <a:solidFill>
                  <a:srgbClr val="9CA3AF"/>
                </a:solidFill>
                <a:latin typeface="Calibri"/>
              </a:rPr>
              <a:t>多輪迭代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40780" y="2846070"/>
            <a:ext cx="2366010" cy="10287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1F2937"/>
                </a:solidFill>
                <a:latin typeface="Calibri"/>
              </a:rPr>
              <a:t>✓ 自己拆解問題
✓ 多輪 + 結果驅動
✓ Tool Use 完整版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0780" y="3943350"/>
            <a:ext cx="2366010" cy="685800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l"/>
            <a:r>
              <a:rPr sz="975" b="0" i="0">
                <a:solidFill>
                  <a:srgbClr val="FB7048"/>
                </a:solidFill>
                <a:latin typeface="Calibri"/>
              </a:rPr>
              <a:t>△  成本最高、難 debug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82930" y="4766310"/>
            <a:ext cx="8229600" cy="377190"/>
          </a:xfrm>
          <a:prstGeom prst="roundRect">
            <a:avLst>
              <a:gd name="adj" fmla="val 10000"/>
            </a:avLst>
          </a:prstGeom>
          <a:solidFill>
            <a:srgbClr val="FFE7DB"/>
          </a:solidFill>
          <a:ln w="19050">
            <a:solidFill>
              <a:srgbClr val="FB70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8669" y="4766310"/>
            <a:ext cx="7818120" cy="377190"/>
          </a:xfrm>
          <a:prstGeom prst="rect">
            <a:avLst/>
          </a:prstGeom>
          <a:noFill/>
        </p:spPr>
        <p:txBody>
          <a:bodyPr wrap="square" lIns="27432" rIns="27432" tIns="13716" bIns="13716" anchor="ctr">
            <a:spAutoFit/>
          </a:bodyPr>
          <a:lstStyle/>
          <a:p>
            <a:pPr algn="l"/>
            <a:r>
              <a:rPr sz="1050" b="1" i="0">
                <a:solidFill>
                  <a:srgbClr val="FB7048"/>
                </a:solidFill>
                <a:latin typeface="Calibri"/>
              </a:rPr>
              <a:t>▶  從『單輪答話』到『多輪自主』 —— Segment 4 你會親手跑一個 mini-project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4766310"/>
            <a:ext cx="1028700" cy="240029"/>
          </a:xfrm>
          <a:prstGeom prst="rect">
            <a:avLst/>
          </a:prstGeom>
          <a:noFill/>
        </p:spPr>
        <p:txBody>
          <a:bodyPr wrap="square" lIns="27432" rIns="27432" tIns="13716" bIns="13716" anchor="t">
            <a:spAutoFit/>
          </a:bodyPr>
          <a:lstStyle/>
          <a:p>
            <a:pPr algn="r"/>
            <a:r>
              <a:rPr sz="1050" b="0" i="0">
                <a:solidFill>
                  <a:srgbClr val="9CA3AF"/>
                </a:solidFill>
                <a:latin typeface="Calibri"/>
              </a:rPr>
              <a:t>8 /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