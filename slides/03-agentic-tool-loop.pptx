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第三講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5400" b="1" i="0">
                <a:solidFill>
                  <a:srgbClr val="1F2937"/>
                </a:solidFill>
                <a:latin typeface="Arial Black"/>
              </a:rPr>
              <a:t>Agentic Tool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7B5CF5"/>
                </a:solidFill>
                <a:latin typeface="Calibri"/>
              </a:rPr>
              <a:t>LLM 如何自主決策、呼叫工具、迭代推理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國立中興大學  ·  AI 學伴系統實務案例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2948939"/>
            <a:ext cx="4800600" cy="78866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" y="3017520"/>
            <a:ext cx="4457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5B3ED9"/>
                </a:solidFill>
                <a:latin typeface="Arial Black"/>
              </a:rPr>
              <a:t>從一次回答  →  多輪迭代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3394710"/>
            <a:ext cx="44577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0" i="0">
                <a:solidFill>
                  <a:srgbClr val="1F2937"/>
                </a:solidFill>
                <a:latin typeface="Calibri"/>
              </a:rPr>
              <a:t>LLM 不只回答,還會自己選工具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A G E N D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Arial Black"/>
              </a:rPr>
              <a:t>本講三段路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為什麼要 → 怎麼運作 → Live Demo + 收尾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954530"/>
            <a:ext cx="2743200" cy="26403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07492" y="2016252"/>
            <a:ext cx="493776" cy="49377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92" y="2016252"/>
            <a:ext cx="493776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30" y="2846070"/>
            <a:ext cx="233172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Arial Black"/>
              </a:rPr>
              <a:t>概念與解法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" y="3394710"/>
            <a:ext cx="233172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single-turn 解不了複合請求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→ Agentic 4 步走解法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930" y="4320540"/>
            <a:ext cx="23317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0">
                <a:solidFill>
                  <a:srgbClr val="374151"/>
                </a:solidFill>
                <a:latin typeface="Consolas"/>
              </a:rPr>
              <a:t>~10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3833" y="1954530"/>
            <a:ext cx="2743200" cy="26403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74135" y="2016252"/>
            <a:ext cx="493776" cy="49377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5" y="2016252"/>
            <a:ext cx="493776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9573" y="2846070"/>
            <a:ext cx="233172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Arial Black"/>
              </a:rPr>
              <a:t>迴圈機制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9573" y="3394710"/>
            <a:ext cx="233172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Loop 視覺圖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+ maxIterations 安全閥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9573" y="4320540"/>
            <a:ext cx="23317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0">
                <a:solidFill>
                  <a:srgbClr val="374151"/>
                </a:solidFill>
                <a:latin typeface="Consolas"/>
              </a:rPr>
              <a:t>~8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10478" y="1954530"/>
            <a:ext cx="2743200" cy="26403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40780" y="2016252"/>
            <a:ext cx="493776" cy="49377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0780" y="2016252"/>
            <a:ext cx="493776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6218" y="2846070"/>
            <a:ext cx="233172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Arial Black"/>
              </a:rPr>
              <a:t>Live Demo + 收尾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6218" y="3394710"/>
            <a:ext cx="233172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5 個示範問題實機操作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+ 三策略對比 / Segment 4 鋪陳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6218" y="4320540"/>
            <a:ext cx="23317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0">
                <a:solidFill>
                  <a:srgbClr val="374151"/>
                </a:solidFill>
                <a:latin typeface="Consolas"/>
              </a:rPr>
              <a:t>~30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S I N G L E - T U R N · 解不了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為什麼需要 Agentic Loop?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single-turn LLM(就算有 tool)解不了的三類問題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26313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FB7048"/>
                </a:solidFill>
                <a:latin typeface="Arial Black"/>
              </a:rPr>
              <a:t>跨領域複合查詢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「找最近圖書館新書,順便看星期一台中天氣」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26129"/>
            <a:ext cx="2366010" cy="7543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需要兩個不相關的工具同時呼叫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23260" y="1851660"/>
            <a:ext cx="2708910" cy="226313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471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7B5CF5"/>
                </a:solidFill>
                <a:latin typeface="Arial Black"/>
              </a:rPr>
              <a:t>結果驅動的後續查詢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471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「資工系 AI 課的老師有什麼論文?」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3326129"/>
            <a:ext cx="2366010" cy="7543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先要拿到老師清單,才能查論文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9330" y="1851660"/>
            <a:ext cx="2708910" cy="226313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078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0EA594"/>
                </a:solidFill>
                <a:latin typeface="Arial Black"/>
              </a:rPr>
              <a:t>動態判斷要不要用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078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「圖書館有幾本 AI 書?順便比較 Claude vs GPT-4」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0780" y="3326129"/>
            <a:ext cx="2366010" cy="7543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第一部分要 tool,第二部分用訓練資料就好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428625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669" y="428625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Agentic Loop = LLM 自己決定何時、用什麼工具,以及要重複幾輪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②   A G E N T I C · 解法預覽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Agentic 怎麼解 — 4 步走法的骨架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不管什麼複合問題,都是這 4 步;具體走一遍見下一頁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54530"/>
            <a:ext cx="822959" cy="288036"/>
          </a:xfrm>
          <a:prstGeom prst="rect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54530"/>
            <a:ext cx="822959" cy="2880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LLM 看問題 →
拆成幾個子任務
(自己想,你沒教)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FB7048"/>
                </a:solidFill>
                <a:latin typeface="Consolas"/>
              </a:rPr>
              <a:t>拆解能力 = 預訓練自帶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0317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74620" y="1954530"/>
            <a:ext cx="822959" cy="28803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4620" y="1954530"/>
            <a:ext cx="822959" cy="2880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462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第一輪 tool 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462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呼叫第一個工具
→ 拿到中間結果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462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7B5CF5"/>
                </a:solidFill>
                <a:latin typeface="Consolas"/>
              </a:rPr>
              <a:t>stop_reason = "tool_use"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2915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00600" y="1954530"/>
            <a:ext cx="822959" cy="288036"/>
          </a:xfrm>
          <a:prstGeom prst="rect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1954530"/>
            <a:ext cx="822959" cy="2880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下一輪 tool call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看上一輪結果
→ 決定下一個工具
(可多個並行)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0EA594"/>
                </a:solidFill>
                <a:latin typeface="Consolas"/>
              </a:rPr>
              <a:t>結果驅動的後續決定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5513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5B3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26580" y="1954530"/>
            <a:ext cx="822959" cy="288036"/>
          </a:xfrm>
          <a:prstGeom prst="rect">
            <a:avLst/>
          </a:prstGeom>
          <a:solidFill>
            <a:srgbClr val="5B3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26580" y="1954530"/>
            <a:ext cx="822959" cy="2880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658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整合 + end_turn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658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LLM 整合課 + 論文
→ 完整自然語言回覆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658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5B3ED9"/>
                </a:solidFill>
                <a:latin typeface="Consolas"/>
              </a:rPr>
              <a:t>stop_reason = "end_turn"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①   A G E N T I C   L O O P · 概念圖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Agentic Tool Loop 概念圖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每一輪稱為一個 iteration,最多 maxIterations(預設 5)輪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190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Calibri"/>
              </a:rPr>
              <a:t>User
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452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7B5CF5"/>
                </a:solidFill>
                <a:latin typeface="Arial Black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8881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881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Calibri"/>
              </a:rPr>
              <a:t>Build
Messages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5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B7048"/>
                </a:solidFill>
                <a:latin typeface="Arial Blac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44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44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Call
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7790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B7048"/>
                </a:solidFill>
                <a:latin typeface="Arial Bl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7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7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Check
stop_reason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941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0EA594"/>
                </a:solidFill>
                <a:latin typeface="Arial Black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370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370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EA594"/>
                </a:solidFill>
                <a:latin typeface="Calibri"/>
              </a:rPr>
              <a:t>Execute
MCP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" y="2880360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1" i="1">
                <a:solidFill>
                  <a:srgbClr val="0F766E"/>
                </a:solidFill>
                <a:latin typeface="Calibri"/>
              </a:rPr>
              <a:t>↑   追加 tool_result 到 messages,回到 LLM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394710"/>
            <a:ext cx="4080510" cy="12687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" y="351815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stop_reason = "tool_use"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" y="3806189"/>
            <a:ext cx="3771900" cy="78866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→  執行工具 → 追加 tool_result → 進入下一輪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34890" y="3394710"/>
            <a:ext cx="4011929" cy="12687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6340" y="351815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stop_reason = "end_turn"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06340" y="3806189"/>
            <a:ext cx="3703320" cy="78866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→  跳出迴圈,把最終文字回給使用者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②   A G E N T I C   L O O P · 實 例 走 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走一遍:一個查詢跑完整個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「資工系深度學習的課,授課老師最近有什麼論文?」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48789"/>
            <a:ext cx="8229600" cy="85725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20090" y="1885950"/>
            <a:ext cx="1028700" cy="582930"/>
          </a:xfrm>
          <a:prstGeom prst="roundRect">
            <a:avLst>
              <a:gd name="adj" fmla="val 10000"/>
            </a:avLst>
          </a:prstGeom>
          <a:solidFill>
            <a:srgbClr val="7B5CF5"/>
          </a:solidFill>
          <a:ln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90" y="1885950"/>
            <a:ext cx="10287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Arial Black"/>
              </a:rPr>
              <a:t>Round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39" y="1858517"/>
            <a:ext cx="67894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「先查課」  + tool_use  search_courses(深度學習, 系所=資工)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39" y="2201418"/>
            <a:ext cx="67894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→  tool_result:5 門課,授課老師:范、林、王…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" y="2729483"/>
            <a:ext cx="8229600" cy="85725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0090" y="2866644"/>
            <a:ext cx="1028700" cy="582930"/>
          </a:xfrm>
          <a:prstGeom prst="roundRect">
            <a:avLst>
              <a:gd name="adj" fmla="val 10000"/>
            </a:avLst>
          </a:prstGeom>
          <a:solidFill>
            <a:srgbClr val="FB7048"/>
          </a:solidFill>
          <a:ln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90" y="2866644"/>
            <a:ext cx="10287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Arial Black"/>
              </a:rP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2839211"/>
            <a:ext cx="67894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「查老師論文」  + tool_use  search_arxiv(范教授)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39" y="3182111"/>
            <a:ext cx="67894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→  tool_result:近期 3 篇論文(LLM 評測、低資源生成…)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2930" y="3710178"/>
            <a:ext cx="8229600" cy="85725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0090" y="3847338"/>
            <a:ext cx="1028700" cy="582930"/>
          </a:xfrm>
          <a:prstGeom prst="roundRect">
            <a:avLst>
              <a:gd name="adj" fmla="val 10000"/>
            </a:avLst>
          </a:prstGeom>
          <a:solidFill>
            <a:srgbClr val="0EA594"/>
          </a:solidFill>
          <a:ln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090" y="3847338"/>
            <a:ext cx="102870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FFFFFF"/>
                </a:solidFill>
                <a:latin typeface="Arial Black"/>
              </a:rPr>
              <a:t>Round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39" y="3819906"/>
            <a:ext cx="67894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「整合 5 個結果」  ✓ stop_reason = end_turn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39" y="4162806"/>
            <a:ext cx="6789420" cy="30861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0" i="1">
                <a:solidFill>
                  <a:srgbClr val="374151"/>
                </a:solidFill>
                <a:latin typeface="Calibri"/>
              </a:rPr>
              <a:t>→  「你可修這門,范教授近期在做 LLM 評測,最對你胃口…」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4766310"/>
            <a:ext cx="8229600" cy="2743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8669" y="4766310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每一輪 LLM 都看著上一輪的 tool_result,自己決定下一步 —— 你沒寫任何流程控制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③   T O O L _ U S E   /   T O O L _ R E S U L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tool_use / tool_result 長什麼樣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Segment 2 說「LLM 只吐字串」—— 跟著一輪 loop 走一次:LLM 吐 → 你跑 → 塞回去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48789"/>
            <a:ext cx="2400300" cy="216027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872234"/>
            <a:ext cx="20574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7B5CF5"/>
                </a:solidFill>
                <a:latin typeface="Arial Black"/>
              </a:rPr>
              <a:t>① LLM 吐出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4953" y="2173986"/>
            <a:ext cx="20574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alibri"/>
              </a:rPr>
              <a:t>assistant 的 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953" y="2434589"/>
            <a:ext cx="2057400" cy="13373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937" b="0" i="0">
                <a:solidFill>
                  <a:srgbClr val="374151"/>
                </a:solidFill>
                <a:latin typeface="Consolas"/>
              </a:rPr>
              <a:t>type: tool_use</a:t>
            </a:r>
          </a:p>
          <a:p>
            <a:pPr algn="l">
              <a:spcAft>
                <a:spcPts val="225"/>
              </a:spcAft>
            </a:pPr>
            <a:r>
              <a:rPr sz="937" b="1" i="0">
                <a:solidFill>
                  <a:srgbClr val="EF4444"/>
                </a:solidFill>
                <a:latin typeface="Consolas"/>
              </a:rPr>
              <a:t>id: "toolu_01"</a:t>
            </a:r>
          </a:p>
          <a:p>
            <a:pPr algn="l">
              <a:spcAft>
                <a:spcPts val="225"/>
              </a:spcAft>
            </a:pPr>
            <a:r>
              <a:rPr sz="937" b="0" i="0">
                <a:solidFill>
                  <a:srgbClr val="374151"/>
                </a:solidFill>
                <a:latin typeface="Consolas"/>
              </a:rPr>
              <a:t>name:</a:t>
            </a:r>
          </a:p>
          <a:p>
            <a:pPr algn="l">
              <a:spcAft>
                <a:spcPts val="225"/>
              </a:spcAft>
            </a:pPr>
            <a:r>
              <a:rPr sz="937" b="0" i="0">
                <a:solidFill>
                  <a:srgbClr val="1F2937"/>
                </a:solidFill>
                <a:latin typeface="Consolas"/>
              </a:rPr>
              <a:t>  search_courses</a:t>
            </a:r>
          </a:p>
          <a:p>
            <a:pPr algn="l">
              <a:spcAft>
                <a:spcPts val="225"/>
              </a:spcAft>
            </a:pPr>
            <a:r>
              <a:rPr sz="937" b="0" i="0">
                <a:solidFill>
                  <a:srgbClr val="374151"/>
                </a:solidFill>
                <a:latin typeface="Consolas"/>
              </a:rPr>
              <a:t>input:</a:t>
            </a:r>
          </a:p>
          <a:p>
            <a:pPr algn="l">
              <a:spcAft>
                <a:spcPts val="225"/>
              </a:spcAft>
            </a:pPr>
            <a:r>
              <a:rPr sz="937" b="0" i="0">
                <a:solidFill>
                  <a:srgbClr val="1F2937"/>
                </a:solidFill>
                <a:latin typeface="Consolas"/>
              </a:rPr>
              <a:t>  {keyword:"深度學習"}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748789"/>
            <a:ext cx="2400300" cy="216027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450" y="1872234"/>
            <a:ext cx="20574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FB7048"/>
                </a:solidFill>
                <a:latin typeface="Arial Black"/>
              </a:rPr>
              <a:t>② 你的程式跑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2173986"/>
            <a:ext cx="20574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alibri"/>
              </a:rPr>
              <a:t>harness / 你的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434589"/>
            <a:ext cx="2057400" cy="13373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937" b="0" i="0">
                <a:solidFill>
                  <a:srgbClr val="374151"/>
                </a:solidFill>
                <a:latin typeface="Consolas"/>
              </a:rPr>
              <a:t>讀 name + input</a:t>
            </a:r>
          </a:p>
          <a:p>
            <a:pPr algn="l">
              <a:spcAft>
                <a:spcPts val="225"/>
              </a:spcAft>
            </a:pPr>
            <a:r>
              <a:rPr sz="937" b="0" i="0">
                <a:solidFill>
                  <a:srgbClr val="9CA3AF"/>
                </a:solidFill>
                <a:latin typeface="Consolas"/>
              </a:rPr>
              <a:t>↓ 真的去呼叫</a:t>
            </a:r>
          </a:p>
          <a:p>
            <a:pPr algn="l">
              <a:spcAft>
                <a:spcPts val="225"/>
              </a:spcAft>
            </a:pPr>
            <a:r>
              <a:rPr sz="937" b="0" i="0">
                <a:solidFill>
                  <a:srgbClr val="374151"/>
                </a:solidFill>
                <a:latin typeface="Consolas"/>
              </a:rPr>
              <a:t>search_courses(</a:t>
            </a:r>
          </a:p>
          <a:p>
            <a:pPr algn="l">
              <a:spcAft>
                <a:spcPts val="225"/>
              </a:spcAft>
            </a:pPr>
            <a:r>
              <a:rPr sz="937" b="0" i="0">
                <a:solidFill>
                  <a:srgbClr val="1F2937"/>
                </a:solidFill>
                <a:latin typeface="Consolas"/>
              </a:rPr>
              <a:t>  "深度學習")</a:t>
            </a:r>
          </a:p>
          <a:p>
            <a:pPr algn="l">
              <a:spcAft>
                <a:spcPts val="225"/>
              </a:spcAft>
            </a:pPr>
            <a:r>
              <a:rPr sz="937" b="0" i="0">
                <a:solidFill>
                  <a:srgbClr val="9CA3AF"/>
                </a:solidFill>
                <a:latin typeface="Consolas"/>
              </a:rPr>
              <a:t>↓</a:t>
            </a:r>
          </a:p>
          <a:p>
            <a:pPr algn="l">
              <a:spcAft>
                <a:spcPts val="225"/>
              </a:spcAft>
            </a:pPr>
            <a:r>
              <a:rPr sz="937" b="0" i="0">
                <a:solidFill>
                  <a:srgbClr val="374151"/>
                </a:solidFill>
                <a:latin typeface="Consolas"/>
              </a:rPr>
              <a:t>查資料庫 /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5070" y="1748789"/>
            <a:ext cx="2400300" cy="216027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72234"/>
            <a:ext cx="20574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0EA594"/>
                </a:solidFill>
                <a:latin typeface="Arial Black"/>
              </a:rPr>
              <a:t>③ 塞回去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7094" y="2173986"/>
            <a:ext cx="20574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Calibri"/>
              </a:rPr>
              <a:t>下一則 user 訊息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7094" y="2434589"/>
            <a:ext cx="2057400" cy="13373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225"/>
              </a:spcAft>
            </a:pPr>
            <a:r>
              <a:rPr sz="937" b="0" i="0">
                <a:solidFill>
                  <a:srgbClr val="374151"/>
                </a:solidFill>
                <a:latin typeface="Consolas"/>
              </a:rPr>
              <a:t>type:</a:t>
            </a:r>
          </a:p>
          <a:p>
            <a:pPr algn="l">
              <a:spcAft>
                <a:spcPts val="225"/>
              </a:spcAft>
            </a:pPr>
            <a:r>
              <a:rPr sz="937" b="0" i="0">
                <a:solidFill>
                  <a:srgbClr val="1F2937"/>
                </a:solidFill>
                <a:latin typeface="Consolas"/>
              </a:rPr>
              <a:t>  tool_result</a:t>
            </a:r>
          </a:p>
          <a:p>
            <a:pPr algn="l">
              <a:spcAft>
                <a:spcPts val="225"/>
              </a:spcAft>
            </a:pPr>
            <a:r>
              <a:rPr sz="937" b="1" i="0">
                <a:solidFill>
                  <a:srgbClr val="EF4444"/>
                </a:solidFill>
                <a:latin typeface="Consolas"/>
              </a:rPr>
              <a:t>tool_use_id: "toolu_01"</a:t>
            </a:r>
          </a:p>
          <a:p>
            <a:pPr algn="l">
              <a:spcAft>
                <a:spcPts val="225"/>
              </a:spcAft>
            </a:pPr>
            <a:r>
              <a:rPr sz="937" b="0" i="0">
                <a:solidFill>
                  <a:srgbClr val="374151"/>
                </a:solidFill>
                <a:latin typeface="Consolas"/>
              </a:rPr>
              <a:t>content:</a:t>
            </a:r>
          </a:p>
          <a:p>
            <a:pPr algn="l">
              <a:spcAft>
                <a:spcPts val="225"/>
              </a:spcAft>
            </a:pPr>
            <a:r>
              <a:rPr sz="937" b="0" i="0">
                <a:solidFill>
                  <a:srgbClr val="1F2937"/>
                </a:solidFill>
                <a:latin typeface="Consolas"/>
              </a:rPr>
              <a:t>  "5 門課,范、林…"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8939" y="2636901"/>
            <a:ext cx="5143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Calibri"/>
              </a:rPr>
              <a:t>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5009" y="2636901"/>
            <a:ext cx="51435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Calibri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2930" y="445770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8669" y="445770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EF4444"/>
                </a:solidFill>
                <a:latin typeface="Calibri"/>
              </a:rPr>
              <a:t>▶  ① 的 id 和 ③ 的 tool_use_id 必須相同 —— LLM 靠這個配對,才知道結果是回應哪一次呼叫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④   M E S S A G E S   陣 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messages 陣列怎麼長大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loop 的「記憶」就在這個一直變長的陣列 —— LLM 每輪都看到完整脈絡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48789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4287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90" y="1748789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3B82F6"/>
                </a:solidFill>
                <a:latin typeface="Consolas"/>
              </a:rPr>
              <a:t>[0]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48789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3B82F6"/>
                </a:solidFill>
                <a:latin typeface="Consolas"/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8939" y="1748789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「資工系深度學習的課,老師論文?」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2930" y="2173986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90" y="2173986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173986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939" y="2173986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tool_use  search_courses(...)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2599182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090" y="2599182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599182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user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8939" y="2599182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tool_result  「5 門課,老師:范…」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3024378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090" y="3024378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024378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8939" y="3024378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tool_use  search_arxiv(范)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2930" y="3449574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090" y="3449574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[4]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449574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8939" y="3449574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tool_result  「3 篇論文…」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2930" y="3874770"/>
            <a:ext cx="8229600" cy="384048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0090" y="3874770"/>
            <a:ext cx="6172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onsolas"/>
              </a:rPr>
              <a:t>[5]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874770"/>
            <a:ext cx="150876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onsolas"/>
              </a:rPr>
              <a:t>assistant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8939" y="3874770"/>
            <a:ext cx="5760720" cy="384048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text  「你可修這門…」  ✓ end_turn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4766310"/>
            <a:ext cx="8229600" cy="2743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669" y="4766310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75" b="1" i="0">
                <a:solidFill>
                  <a:srgbClr val="7B5CF5"/>
                </a:solidFill>
                <a:latin typeface="Calibri"/>
              </a:rPr>
              <a:t>▶  每輪把上一輪結果接在後面 → 陣列越來越長 → 這就是「多輪記憶」的全部祕密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⑤   P A R A L L E L   T O O L   C A L L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一回合可以同時開多支工具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parallel tool calls —— 用 Promise.all 並行,不是一個接一個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86100" y="1783080"/>
            <a:ext cx="2948939" cy="61722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6100" y="1783080"/>
            <a:ext cx="2948939" cy="61722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125" b="1" i="0">
                <a:solidFill>
                  <a:srgbClr val="7B5CF5"/>
                </a:solidFill>
                <a:latin typeface="Calibri"/>
              </a:rPr>
              <a:t>assistant:一次吐 5 個 tool_use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770" y="2948939"/>
            <a:ext cx="150876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" y="2948939"/>
            <a:ext cx="150876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onsolas"/>
              </a:rPr>
              <a:t>arxiv(張)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" y="2434589"/>
            <a:ext cx="150876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FB7048"/>
                </a:solidFill>
                <a:latin typeface="Arial Black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77974" y="2948939"/>
            <a:ext cx="150876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77974" y="2948939"/>
            <a:ext cx="150876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onsolas"/>
              </a:rPr>
              <a:t>arxiv(李)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974" y="2434589"/>
            <a:ext cx="150876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FB7048"/>
                </a:solidFill>
                <a:latin typeface="Arial Black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10178" y="2948939"/>
            <a:ext cx="150876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0178" y="2948939"/>
            <a:ext cx="150876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onsolas"/>
              </a:rPr>
              <a:t>arxiv(范)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0178" y="2434589"/>
            <a:ext cx="150876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FB7048"/>
                </a:solidFill>
                <a:latin typeface="Arial Black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2382" y="2948939"/>
            <a:ext cx="150876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2382" y="2948939"/>
            <a:ext cx="150876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onsolas"/>
              </a:rPr>
              <a:t>arxiv(林)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2382" y="2434589"/>
            <a:ext cx="150876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FB7048"/>
                </a:solidFill>
                <a:latin typeface="Arial Black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74586" y="2948939"/>
            <a:ext cx="1508760" cy="5829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4586" y="2948939"/>
            <a:ext cx="1508760" cy="58293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onsolas"/>
              </a:rPr>
              <a:t>arxiv(王)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74586" y="2434589"/>
            <a:ext cx="150876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500" b="1" i="0">
                <a:solidFill>
                  <a:srgbClr val="FB7048"/>
                </a:solidFill>
                <a:latin typeface="Arial Black"/>
              </a:rPr>
              <a:t>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930" y="3669029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200" b="1" i="0">
                <a:solidFill>
                  <a:srgbClr val="0F766E"/>
                </a:solidFill>
                <a:latin typeface="Calibri"/>
              </a:rPr>
              <a:t>5 個查詢 並行執行(Promise.all)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2930" y="438912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669" y="438912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alibri"/>
              </a:rPr>
              <a:t>▶  並行 → 1 秒搞定 5 個查詢,不用等 5 倍時間;5 個 tool_result 一起回給 LLM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⑥   A G E N T   =   2 0   行 迴 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Arial Black"/>
              </a:rPr>
              <a:t>拆穿魔法:agent 就是一個 while 迴圈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llm-client.js 的核心 —— 沒有黑魔法,就是 for-loop + if-else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14500"/>
            <a:ext cx="8229600" cy="260603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865376"/>
            <a:ext cx="7852409" cy="231800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FB924D"/>
                </a:solidFill>
                <a:latin typeface="Consolas"/>
              </a:rPr>
              <a:t>for (let i = 0; i &lt; maxIterations; i++) {        // ← 護欄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const resp = await llm.create({ messages, tools });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  // 沒有要呼叫工具 → 收工,回最終文字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if (resp.stop_reason !== 'tool_use') return resp.text;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  // 有 tool_use → 全部並行執行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const toolUses = resp.content.filter(b =&gt; b.type==='tool_use');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const results = await Promise.all(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  toolUses.map(t =&gt; callTool(t.name, t.input)));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9CA3AF"/>
                </a:solidFill>
                <a:latin typeface="Consolas"/>
              </a:rPr>
              <a:t>  // 結果接回 messages → 下一輪 LLM 看得到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  messages.push(assistantMsg, { role:'user', content: results });</a:t>
            </a:r>
          </a:p>
          <a:p>
            <a:pPr algn="l">
              <a:spcAft>
                <a:spcPts val="75"/>
              </a:spcAft>
            </a:pPr>
            <a:r>
              <a:rPr sz="975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4457700"/>
            <a:ext cx="8229600" cy="3429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669" y="4457700"/>
            <a:ext cx="7818120" cy="3429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整個「自主 agent」= for-loop + if-else + 一個一直長大的 messages 陣列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02 · ⑦   M A X _ I T E R A T I O N S · 強制回覆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maxIterations 與強制回覆機制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避免 LLM 無限呼叫工具 —— 設上限 + 最後一輪強制總結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問題:無限迴圈風險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263139"/>
            <a:ext cx="37719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LLM 可能不斷呼叫工具而永遠不回覆使用者,造成: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Token 成本無限增長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回應時間過長</a:t>
            </a:r>
          </a:p>
          <a:p>
            <a:pPr algn="l">
              <a:spcAft>
                <a:spcPts val="135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使用者體驗極差</a:t>
            </a:r>
          </a:p>
          <a:p>
            <a:pPr algn="l">
              <a:spcAft>
                <a:spcPts val="150"/>
              </a:spcAft>
            </a:pPr>
            <a:r>
              <a:rPr sz="975" b="0" i="1">
                <a:solidFill>
                  <a:srgbClr val="374151"/>
                </a:solidFill>
                <a:latin typeface="Calibri"/>
              </a:rPr>
              <a:t>情境:LLM 一直查課 → 查老師 → 查論文 →</a:t>
            </a:r>
          </a:p>
          <a:p>
            <a:pPr algn="l">
              <a:spcAft>
                <a:spcPts val="0"/>
              </a:spcAft>
            </a:pPr>
            <a:r>
              <a:rPr sz="975" b="0" i="1">
                <a:solidFill>
                  <a:srgbClr val="374151"/>
                </a:solidFill>
                <a:latin typeface="Calibri"/>
              </a:rPr>
              <a:t>再查… 30 秒過去,使用者還沒等到任何回答。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解法:maxIterations =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263139"/>
            <a:ext cx="370332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設定最大迭代次數上限</a:t>
            </a:r>
          </a:p>
          <a:p>
            <a:pPr algn="l">
              <a:spcAft>
                <a:spcPts val="1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第 5 輪(最後一輪)時注入臨時</a:t>
            </a:r>
          </a:p>
          <a:p>
            <a:pPr algn="l">
              <a:spcAft>
                <a:spcPts val="1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    user message 強制模型停止使用</a:t>
            </a:r>
          </a:p>
          <a:p>
            <a:pPr algn="l">
              <a:spcAft>
                <a:spcPts val="10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    工具,直接整理回覆</a:t>
            </a:r>
          </a:p>
          <a:p>
            <a:pPr algn="l">
              <a:spcAft>
                <a:spcPts val="150"/>
              </a:spcAft>
            </a:pPr>
            <a:r>
              <a:rPr sz="975" b="0" i="1">
                <a:solidFill>
                  <a:srgbClr val="0F766E"/>
                </a:solidFill>
                <a:latin typeface="Calibri"/>
              </a:rPr>
              <a:t>「請不要再使用任何工具,</a:t>
            </a:r>
          </a:p>
          <a:p>
            <a:pPr algn="l">
              <a:spcAft>
                <a:spcPts val="0"/>
              </a:spcAft>
            </a:pPr>
            <a:r>
              <a:rPr sz="975" b="0" i="1">
                <a:solidFill>
                  <a:srgbClr val="0F766E"/>
                </a:solidFill>
                <a:latin typeface="Calibri"/>
              </a:rPr>
              <a:t>  直接根據工具回傳的資料整理 Markdown 回覆。」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CBD5E1"/>
                </a:solidFill>
                <a:latin typeface="Calibri"/>
              </a:rPr>
              <a:t>03   L I V E   D E M 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720090"/>
            <a:ext cx="822960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300" b="1" i="0">
                <a:solidFill>
                  <a:srgbClr val="FB7048"/>
                </a:solidFill>
                <a:latin typeface="Arial Black"/>
              </a:rPr>
              <a:t>▶  切換到 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405889"/>
            <a:ext cx="82296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0" i="1">
                <a:solidFill>
                  <a:srgbClr val="CBD5E1"/>
                </a:solidFill>
                <a:latin typeface="Calibri"/>
              </a:rPr>
              <a:t>25 分鐘 · 興大 AI 學伴實機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185166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EEE8FF"/>
                </a:solidFill>
                <a:latin typeface="Calibri"/>
              </a:rPr>
              <a:t>5 個示範問題(從淺到深,完整腳本見 03-live-demo-script.md)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94560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94560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7310" y="2194560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圖書館 AI 書多少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2194560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single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194560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0EA594"/>
                </a:solidFill>
                <a:latin typeface="Calibri"/>
              </a:rPr>
              <a:t>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990" y="2194560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~30s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695194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2695194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7310" y="2695194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資工系深度學習老師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7700" y="2695194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single tool + 參數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695194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0EA594"/>
                </a:solidFill>
                <a:latin typeface="Calibri"/>
              </a:rPr>
              <a:t>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990" y="2695194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~30s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195828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3195828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Q3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7310" y="3195828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AI 課程 + 教授介紹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7700" y="3195828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multi-turn 主菜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195828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7B5CF5"/>
                </a:solidFill>
                <a:latin typeface="Calibri"/>
              </a:rPr>
              <a:t>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0990" y="3195828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~60-90s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696462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3696462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onsolas"/>
              </a:rPr>
              <a:t>Q4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37310" y="3696462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新書 + 天氣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7700" y="3696462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parallel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696462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alibri"/>
              </a:rPr>
              <a:t>★★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0990" y="3696462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~45s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4197096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4197096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EF4444"/>
                </a:solidFill>
                <a:latin typeface="Consolas"/>
              </a:rPr>
              <a:t>Q5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37310" y="4197096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課程 + 論文 + 推薦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7700" y="4197096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maxIter 挑戰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4197096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EF4444"/>
                </a:solidFill>
                <a:latin typeface="Calibri"/>
              </a:rPr>
              <a:t>★★★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20990" y="4197096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~90-120s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3800" y="4800600"/>
            <a:ext cx="1371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  <a:latin typeface="Consolas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04 · ①   S T R A T E G I E S · 回看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F2937"/>
                </a:solidFill>
                <a:latin typeface="Arial Black"/>
              </a:rPr>
              <a:t>回頭看三種策略 — Agentic Loop 站在哪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Segment 1 介紹的三條路,Agentic Loop 是其中能力最完整的一條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3B82F6"/>
                </a:solidFill>
                <a:latin typeface="Arial Black"/>
              </a:rPr>
              <a:t>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檢索增強生成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解知識截止
✓ 讀私有文件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B91C1C"/>
                </a:solidFill>
                <a:latin typeface="Calibri"/>
              </a:rPr>
              <a:t>✗ 不能執行動作
✗ 單輪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326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471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Tool 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工具呼叫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471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能執行動作
✓ 接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471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B91C1C"/>
                </a:solidFill>
                <a:latin typeface="Calibri"/>
              </a:rPr>
              <a:t>✗ 典型 1-2 輪
✗ 不主動拆解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933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078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Agentic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078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多輪迭代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078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自己拆解問題
✓ 多輪 + 結果驅動
✓ Tool Use 完整版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078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FB7048"/>
                </a:solidFill>
                <a:latin typeface="Calibri"/>
              </a:rPr>
              <a:t>△  成本最高、難 debug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47663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8669" y="47663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alibri"/>
              </a:rPr>
              <a:t>▶  從『單輪答話』到『多輪自主』 —— Segment 4 你會親手跑一個 mini-project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