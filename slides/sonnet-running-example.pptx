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NCHU Claude MCP Client  ·  Running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16586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4800" b="1" i="0">
                <a:solidFill>
                  <a:srgbClr val="1F2937"/>
                </a:solidFill>
                <a:latin typeface="Arial Black"/>
              </a:rPr>
              <a:t>Running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057400"/>
            <a:ext cx="8229600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Calibri"/>
              </a:rPr>
              <a:t>原始 Sonnet 流程  ·  逐步走過 9 個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2880360"/>
            <a:ext cx="8229600" cy="10287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2948939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查詢範例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322326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800" b="1" i="0">
                <a:solidFill>
                  <a:srgbClr val="5B3ED9"/>
                </a:solidFill>
                <a:latin typeface="Arial Black"/>
              </a:rPr>
              <a:t>「中興大學圖書館有什麼新書?」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370332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374151"/>
                </a:solidFill>
                <a:latin typeface="Calibri"/>
              </a:rPr>
              <a:t>以下逐步走過從使用者送出到收到回覆的完整流程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2930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3485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63485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ChatController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041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041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raw-mcp-client.js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24597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24597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ClaudeClient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5152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5152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Claude Sonnet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5708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5708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MCP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6264" y="4251960"/>
            <a:ext cx="1146265" cy="44577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9525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6264" y="4251960"/>
            <a:ext cx="1146265" cy="44577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75" b="1" i="0">
                <a:solidFill>
                  <a:srgbClr val="5B3ED9"/>
                </a:solidFill>
                <a:latin typeface="Calibri"/>
              </a:rPr>
              <a:t>SSE 串流回用戶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1/9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1:使用者送出查詢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瀏覽器透過 POST /api/chat/stream 送出訊息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需攜帶 Chat Token(經 Turnstile 驗證)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API messages 陣列尚未建立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2/9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2:ChatController 接收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後端 controller 把 chat token 解開、確認登入狀態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注入「當前時間」與「登入狀態」進 system prompt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把 user 訊息 push 進空的 messages 陣列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3/9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3:raw-mcp-client 準備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建立 ClaudeClient 並收集所有 MCP server 的工具清單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mcp.getAnthropicTools() → 把 33 個工具的 schema 收齊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把工具 schema 與 messages 一起準備好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4/9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4:第 1 輪 — 送往 Sonnet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ClaudeClient 呼叫 Anthropic API,messages + tools 一起送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onsolas"/>
              </a:rPr>
              <a:t>• model: claude-sonnet-4 · max_tokens: 4096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等待 API 回傳 response.content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5/9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5:Sonnet 回傳 tool_use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Sonnet 判斷需要呼叫工具,回傳 tool_use block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FB7048"/>
                </a:solidFill>
                <a:latin typeface="Consolas"/>
              </a:rPr>
              <a:t>• stop_reason: "tool_use"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Consolas"/>
              </a:rPr>
              <a:t>• content[0]: { type: "tool_use", name: "search_new_books", input: {...}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6/9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6:執行 MCP 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raw-mcp-client 從 tool_use 抽出 name + input,呼叫對應 MCP server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onsolas"/>
              </a:rPr>
              <a:t>• mcp.callTool('search_new_books', { keyword: '新書' })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Python MCP server 跑 SQL 查詢 → 回傳 10 筆新書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9CA3AF"/>
                </a:solidFill>
                <a:latin typeface="Calibri"/>
              </a:rPr>
              <a:t>• auto-inject user_id(若工具需要)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7/9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7:第 2 輪 — 帶工具結果回 Sonnet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把 tool_result 以 role: user 追加到 messages,再叫一次 Sonnet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tool_result.tool_use_id 必須對應第 1 輪的 id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Sonnet 看 messages + 工具結果,生成最終文字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8/9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8:Sonnet 產生最終回覆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Sonnet 整合工具結果,生成自然語言 Markdown 回覆</a:t>
            </a:r>
          </a:p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0F766E"/>
                </a:solidFill>
                <a:latin typeface="Consolas"/>
              </a:rPr>
              <a:t>• stop_reason: "end_turn"  ← 迴圈結束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response.content[0].text 是 Markdown 格式的回覆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STEP 9/9   R U N N I N G   E X A M P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250" b="1" i="0">
                <a:solidFill>
                  <a:srgbClr val="1F2937"/>
                </a:solidFill>
                <a:latin typeface="Arial Black"/>
              </a:rPr>
              <a:t>Step 9:SSE 串流回覆給用戶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中興大學圖書館有什麼新書?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3485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3485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ChatController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041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041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raw-mcp-client.js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597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4597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5152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152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Claude Sonnet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5708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708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Calibri"/>
              </a:rPr>
              <a:t>MCP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6264" y="1783080"/>
            <a:ext cx="1146265" cy="480059"/>
          </a:xfrm>
          <a:prstGeom prst="roundRect">
            <a:avLst>
              <a:gd name="adj" fmla="val 10000"/>
            </a:avLst>
          </a:prstGeom>
          <a:solidFill>
            <a:srgbClr val="7B5CF5"/>
          </a:solidFill>
          <a:ln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6264" y="1783080"/>
            <a:ext cx="1146265" cy="48005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SSE 串流回用戶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930" y="2434589"/>
            <a:ext cx="8229600" cy="20574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255803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說明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2846070"/>
            <a:ext cx="7886700" cy="15773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把最終文字透過 Server-Sent Events 逐字推給瀏覽器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• 前端逐字渲染,使用者看到「打字機效果」</a:t>
            </a:r>
          </a:p>
          <a:p>
            <a:pPr algn="l">
              <a:spcAft>
                <a:spcPts val="0"/>
              </a:spcAft>
            </a:pPr>
            <a:r>
              <a:rPr sz="975" b="0" i="1">
                <a:solidFill>
                  <a:srgbClr val="9CA3AF"/>
                </a:solidFill>
                <a:latin typeface="Calibri"/>
              </a:rPr>
              <a:t>• 同時推送中繼事件:tool_executing / tool_completed / text_chunk /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930" y="685800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—  原  始  流  程  回  顧 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30" y="123444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250" b="1" i="0">
                <a:solidFill>
                  <a:srgbClr val="FFFFFF"/>
                </a:solidFill>
                <a:latin typeface="Arial Black"/>
              </a:rPr>
              <a:t>靜態 prompt + Sonnet + 2 輪 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851660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0" i="1">
                <a:solidFill>
                  <a:srgbClr val="7B5CF5"/>
                </a:solidFill>
                <a:latin typeface="Calibri"/>
              </a:rPr>
              <a:t>沒有工具選擇規則、沒有回覆格式規範、沒有 few-shot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7190" y="2537460"/>
            <a:ext cx="2708910" cy="178308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462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7B5CF5"/>
                </a:solidFill>
                <a:latin typeface="Arial Black"/>
              </a:rPr>
              <a:t>靜態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2326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E5E7EB"/>
                </a:solidFill>
                <a:latin typeface="Calibri"/>
              </a:rPr>
              <a:t>config.json 固定角色 + 時間/登入狀態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3260" y="2537460"/>
            <a:ext cx="2708910" cy="178308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4710" y="267462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FB7048"/>
                </a:solidFill>
                <a:latin typeface="Arial Black"/>
              </a:rPr>
              <a:t>Sonnet 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322326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E5E7EB"/>
                </a:solidFill>
                <a:latin typeface="Calibri"/>
              </a:rPr>
              <a:t>claude-sonnet-4 · $3.00 / 1M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9330" y="2537460"/>
            <a:ext cx="2708910" cy="178308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0780" y="267462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0EA594"/>
                </a:solidFill>
                <a:latin typeface="Arial Black"/>
              </a:rPr>
              <a:t>2 輪 Agentic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780" y="3223260"/>
            <a:ext cx="236601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E5E7EB"/>
                </a:solidFill>
                <a:latin typeface="Calibri"/>
              </a:rPr>
              <a:t>Step 4 送出 → Step 7 回 result → Step 8 end_turn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491990"/>
            <a:ext cx="6377940" cy="30861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7339" y="4491990"/>
            <a:ext cx="596646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1" i="0">
                <a:solidFill>
                  <a:srgbClr val="7B5CF5"/>
                </a:solidFill>
                <a:latin typeface="Calibri"/>
              </a:rPr>
              <a:t>  → 對照 Haiku Alignment 報告,看新流程如何在不犧牲品質下降成本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