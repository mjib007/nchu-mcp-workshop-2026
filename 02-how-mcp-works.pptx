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9" r:id="rId40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3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52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4514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MCP Works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架構、協定與連線機制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入門工作坊  ｜  第二講（50 min）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國立中興大學  ·  AI 學伴系統實務案例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926080"/>
            <a:ext cx="1371600" cy="36576"/>
          </a:xfrm>
          <a:prstGeom prst="rect">
            <a:avLst/>
          </a:prstGeom>
          <a:solidFill>
            <a:srgbClr val="E8793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342900"/>
            <a:ext cx="8229600" cy="54864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700" b="1" i="0">
                <a:solidFill>
                  <a:srgbClr val="1E2761"/>
                </a:solidFill>
                <a:latin typeface="Arial Black"/>
              </a:rPr>
              <a:t>本講大綱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" y="96011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65860"/>
            <a:ext cx="1165860" cy="48005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2700" b="1" i="0">
                <a:solidFill>
                  <a:srgbClr val="E8793A"/>
                </a:solidFill>
                <a:latin typeface="Arial Black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1660" y="1165860"/>
            <a:ext cx="6858000" cy="37719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725" b="1" i="0">
                <a:solidFill>
                  <a:srgbClr val="1E2761"/>
                </a:solidFill>
                <a:latin typeface="Arial Black"/>
              </a:rPr>
              <a:t>Function Calling 怎麼運作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51660" y="1543050"/>
            <a:ext cx="6858000" cy="30861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125" b="0" i="0">
                <a:solidFill>
                  <a:srgbClr val="6B6B6B"/>
                </a:solidFill>
                <a:latin typeface="Calibri"/>
              </a:rPr>
              <a:t>LLM 只吐字串,真的執行的是外面的 harness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85950"/>
            <a:ext cx="1165860" cy="48005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2700" b="1" i="0">
                <a:solidFill>
                  <a:srgbClr val="E8793A"/>
                </a:solidFill>
                <a:latin typeface="Arial Black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1660" y="1885950"/>
            <a:ext cx="6858000" cy="37719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725" b="1" i="0">
                <a:solidFill>
                  <a:srgbClr val="1E2761"/>
                </a:solidFill>
                <a:latin typeface="Arial Black"/>
              </a:rPr>
              <a:t>從一個查詢開始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1660" y="2263139"/>
            <a:ext cx="6858000" cy="30861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125" b="0" i="0">
                <a:solidFill>
                  <a:srgbClr val="6B6B6B"/>
                </a:solidFill>
                <a:latin typeface="Calibri"/>
              </a:rPr>
              <a:t>場景 → Parent 開出 Child → 兩階段握手 → 工具呼叫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06039"/>
            <a:ext cx="1165860" cy="48005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2700" b="1" i="0">
                <a:solidFill>
                  <a:srgbClr val="E8793A"/>
                </a:solidFill>
                <a:latin typeface="Arial Black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1660" y="2606039"/>
            <a:ext cx="6858000" cy="37719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725" b="1" i="0">
                <a:solidFill>
                  <a:srgbClr val="1E2761"/>
                </a:solidFill>
                <a:latin typeface="Arial Black"/>
              </a:rPr>
              <a:t>Tool 註冊與描述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51660" y="2983229"/>
            <a:ext cx="6858000" cy="30861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125" b="0" i="0">
                <a:solidFill>
                  <a:srgbClr val="6B6B6B"/>
                </a:solidFill>
                <a:latin typeface="Calibri"/>
              </a:rPr>
              <a:t>JSON Schema · description 如何影響 LLM 選擇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26129"/>
            <a:ext cx="1165860" cy="48005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2700" b="1" i="0">
                <a:solidFill>
                  <a:srgbClr val="E8793A"/>
                </a:solidFill>
                <a:latin typeface="Arial Black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51660" y="3326129"/>
            <a:ext cx="6858000" cy="37719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725" b="1" i="0">
                <a:solidFill>
                  <a:srgbClr val="1E2761"/>
                </a:solidFill>
                <a:latin typeface="Arial Black"/>
              </a:rPr>
              <a:t>Client 整合機制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51660" y="3703320"/>
            <a:ext cx="6858000" cy="30861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125" b="0" i="0">
                <a:solidFill>
                  <a:srgbClr val="6B6B6B"/>
                </a:solidFill>
                <a:latin typeface="Calibri"/>
              </a:rPr>
              <a:t>工具清單如何注入 LLM 的 system 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46220"/>
            <a:ext cx="1165860" cy="48005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2700" b="1" i="0">
                <a:solidFill>
                  <a:srgbClr val="E8793A"/>
                </a:solidFill>
                <a:latin typeface="Arial Black"/>
              </a:rPr>
              <a:t>附錄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51660" y="4046220"/>
            <a:ext cx="6858000" cy="37719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725" b="1" i="0">
                <a:solidFill>
                  <a:srgbClr val="1E2761"/>
                </a:solidFill>
                <a:latin typeface="Arial Black"/>
              </a:rPr>
              <a:t>技術細節(時間夠就講,不夠就跳)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51660" y="4423409"/>
            <a:ext cx="6858000" cy="30861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125" b="0" i="0">
                <a:solidFill>
                  <a:srgbClr val="6B6B6B"/>
                </a:solidFill>
                <a:latin typeface="Calibri"/>
              </a:rPr>
              <a:t>REST vs JSON-RPC · JSON-RPC 三種訊息類型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9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通訊協定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 vs  JSON-RPC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REST vs JSON-RPC — 一張表看懂差異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24688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面向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JSON-RPC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核心概念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資源（URL + HTTP 動詞）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動作（method 欄位）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端點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每個資源一個 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單一入口，靠 method 區分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傳輸層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綁定 HTTP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不綁定（stdio / HTTP / WS）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語意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CRUD 操作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呼叫函式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範例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GET /books?keyword=AI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 method: "search_books" }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hape 2"/>
          <p:cNvSpPr/>
          <p:nvPr/>
        </p:nvSpPr>
        <p:spPr>
          <a:xfrm>
            <a:off x="640080" y="3794760"/>
            <a:ext cx="7863840" cy="59436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37947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選 JSON-RPC 的原因：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傳輸層不綁 HTTP（可用 stdio），語意是「呼叫工具」而非「操作資源」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REST — 每個資源有自己的路徑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863840" cy="3200400"/>
          </a:xfrm>
          <a:prstGeom prst="rect">
            <a:avLst/>
          </a:prstGeom>
          <a:solidFill>
            <a:srgbClr val="1E1E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143000"/>
            <a:ext cx="7315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搜尋書籍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/api/books?keyword=AI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Host: library.nchu.edu.tw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新增一本書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/api/books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Content-Type: application/json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"title": "深度學習入門", "author": "..." }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刪除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 /api/books/123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79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三個不同的 URL path + 三個不同的 HTTP method，必須透過 HTTP
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JSON-RPC — 單一入口，靠 method 區分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863840" cy="3200400"/>
          </a:xfrm>
          <a:prstGeom prst="rect">
            <a:avLst/>
          </a:prstGeom>
          <a:solidFill>
            <a:srgbClr val="1E1E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143000"/>
            <a:ext cx="7315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搜尋書籍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"jsonrpc": "2.0",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"method": "search_books",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"params": { "keyword": "AI" },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"id": 1 }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新增一本書 — 同一個入口，換 method 就好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"jsonrpc": "2.0",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"method": "create_book",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"params": { "title": "深度學習入門" },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"id": 2 }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79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不需要 HTTP、不需要 URL — 可以透過 stdio 傳送！
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JSON-RPC 2.0 的三種訊息類型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2377440" cy="338328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97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1645920"/>
            <a:ext cx="2011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Client → Server
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</a:rPr>
              <a:t>帶有 id 欄位
期待回應
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method: "tools/call",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params: {...},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id: 1 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051560"/>
            <a:ext cx="2377440" cy="338328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1097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Response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74720" y="1645920"/>
            <a:ext cx="2011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Server → Client
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</a:rPr>
              <a:t>帶有相同 id
回傳 result 或 error
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result: {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content: [...]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id: 1 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0" y="1051560"/>
            <a:ext cx="2377440" cy="3383280"/>
          </a:xfrm>
          <a:prstGeom prst="rect">
            <a:avLst/>
          </a:prstGeom>
          <a:solidFill>
            <a:srgbClr val="E8793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0" y="1097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Notification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26480" y="1645920"/>
            <a:ext cx="2011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任一方向
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FFE0CC"/>
                </a:solidFill>
              </a:rPr>
              <a:t>沒有 id 欄位
不期待回應（fire &amp; forget）
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method: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"notifications/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initialized" }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9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Server 生命週期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spawn  →  initialize  →  ready  →  shutdown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Server 的四個階段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645920" cy="146304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spawn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6916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啟動子程序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（Python / Node）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5544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8793A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06040" y="1188720"/>
            <a:ext cx="1645920" cy="146304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06040" y="1188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initialize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43200" y="16916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交換版本與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51960" y="15544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8793A"/>
                </a:solidFill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572000" y="1188720"/>
            <a:ext cx="1645920" cy="146304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188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09160" y="16916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工具已註冊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開始接受請求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17920" y="15544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8793A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537960" y="1188720"/>
            <a:ext cx="1645920" cy="1463040"/>
          </a:xfrm>
          <a:prstGeom prst="rect">
            <a:avLst/>
          </a:prstGeom>
          <a:solidFill>
            <a:srgbClr val="8899A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1188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shutdown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75120" y="16916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送出關閉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子程序結束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2926080"/>
            <a:ext cx="7863840" cy="1828800"/>
          </a:xfrm>
          <a:prstGeom prst="rect">
            <a:avLst/>
          </a:prstGeom>
          <a:solidFill>
            <a:srgbClr val="1E1E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306324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config.json — 定義如何 spawn 每個 MCP Server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"mcpServers": {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"library": {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"command": "python",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"args": ["${NCHU_MODULES_PATH}/library/server.py"]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 } }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Python 子程序，透過 stdio 通訊；Client 啟動時自動 spawn
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initialize 握手 — 交換 capabilities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3657600" cy="182880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Client → Server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"method": "initialize",
  "params": {
</a:t>
            </a: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"protocolVersion": "2024-11-05",
    "capabilities": {}
</a:t>
            </a: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 "id": 1 }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846320" y="1051560"/>
            <a:ext cx="3657600" cy="182880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4632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Server → Client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0" y="14173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"result": {
</a:t>
            </a: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"protocolVersion": "2024-11-05",
    "capabilities": {
      "tools": { "listChanged": true }
</a:t>
            </a: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 "id": 1 }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97680" y="1371600"/>
            <a:ext cx="548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E8793A"/>
                </a:solidFill>
              </a:rPr>
              <a:t>→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640080" y="3200400"/>
            <a:ext cx="7863840" cy="109728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握手完成後，Client 送出 notification：
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"method": "notifications/initialized" }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 id → 單向通知，不期待回應。接下來 Client 呼叫 tools/list 取得工具清單。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9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  切換到互動動畫 Demo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mcp-connection-animation.html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7863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展示重點：
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1. spawn 子程序的實際流程（config.json → child_process.spawn）
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2. initialize 握手的 JSON-RPC 訊息往返
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3. notifications/initialized 通知
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4. tools/list 載入工具清單
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</a:rPr>
              <a:t>5. isConnected = true 的判定時機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9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 註冊與描述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  ·  description  ·  LLM 的唯一線索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tools/list — Server 回傳工具定義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863840" cy="3474720"/>
          </a:xfrm>
          <a:prstGeom prst="rect">
            <a:avLst/>
          </a:prstGeom>
          <a:solidFill>
            <a:srgbClr val="1E1E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143000"/>
            <a:ext cx="7315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Client 發送 tools/list request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"method": "tools/list", "id": 2 }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Server 回傳所有可用工具（興大系統共 33 個）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"result": { "tools": [{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"search_library_books",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"description": "搜尋中興大學圖書館的館藏書籍，支援關鍵字查詢",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"inputSchema": {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"type": "object",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"properties": {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"keyword": { "type": "string", "description": "搜尋關鍵字" }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E879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}, "required": ["keyword"]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 { "name": "get_department_courses", ... }, // ...共 33 個
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 }, "id": 2 }
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每個 Tool 的三個關鍵欄位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1645920" cy="96012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97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560320" y="1097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工具的唯一識別名稱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在 tool_use 回傳時引用這個名稱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6032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"search_library_books"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331720"/>
            <a:ext cx="1645920" cy="96012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233172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560320" y="23317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自然語言描述工具的用途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這是 LLM 判斷「要不要用」的最重要依據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60320" y="2926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"搜尋中興大學圖書館的館藏書籍"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645920" cy="960120"/>
          </a:xfrm>
          <a:prstGeom prst="rect">
            <a:avLst/>
          </a:prstGeom>
          <a:solidFill>
            <a:srgbClr val="1C7293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356616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inputSchema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560320" y="35661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 定義參數格式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據此產生正確的 arguments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type: "object", properties: {...} }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description 寫得好不好，決定 LLM 選不選得對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3657600" cy="1645920"/>
          </a:xfrm>
          <a:prstGeom prst="rect">
            <a:avLst/>
          </a:prstGeom>
          <a:solidFill>
            <a:srgbClr val="C44E5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143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  模糊的 description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5087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"搜尋課程"
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FF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問題：有 8 個課程相關工具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FF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（關鍵字 / 系所 / 教師 / 類型…）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FFE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分不清楚要用哪一個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46320" y="1097280"/>
            <a:ext cx="3657600" cy="1645920"/>
          </a:xfrm>
          <a:prstGeom prst="rect">
            <a:avLst/>
          </a:prstGeom>
          <a:solidFill>
            <a:srgbClr val="2E8B57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0" y="1143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  精確的 description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0" y="15087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FF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"依系所代碼查詢該系所的
 所有課程，回傳課程名稱、
 學分數、授課教師"
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E0F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一看就知道：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E0F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「電機系有哪些課」→ 用這個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7863840" cy="1371600"/>
          </a:xfrm>
          <a:prstGeom prst="rect">
            <a:avLst/>
          </a:prstGeom>
          <a:solidFill>
            <a:srgbClr val="1A1A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30632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關鍵洞察
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從來不會直接接觸 MCP Server。
它看到的就只有 name + description + inputSchema 這三個欄位的文字。
</a:t>
            </a:r>
            <a:endParaRPr lang="en-US" sz="1400" dirty="0"/>
          </a:p>
          <a:p>
            <a:pPr marL="0" indent="0">
              <a:buNone/>
            </a:pPr>
            <a:r>
              <a:rPr lang="en-US" sz="1200" b="1" dirty="0">
                <a:solidFill>
                  <a:srgbClr val="E87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description 的品質 = 工具被正確使用的機率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79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Client 整合機制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工具清單如何餵給 LLM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工具清單 → LLM 的 tools 參數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2286000" cy="73152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515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個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8793A"/>
                </a:solidFill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474720" y="1051560"/>
            <a:ext cx="2286000" cy="731520"/>
          </a:xfrm>
          <a:prstGeom prst="rect">
            <a:avLst/>
          </a:prstGeom>
          <a:solidFill>
            <a:srgbClr val="065A8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0" y="10515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收集工具清單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60720" y="1143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8793A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051560"/>
            <a:ext cx="2286000" cy="731520"/>
          </a:xfrm>
          <a:prstGeom prst="rect">
            <a:avLst/>
          </a:prstGeom>
          <a:solidFill>
            <a:srgbClr val="E8793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09360" y="10515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轉換 →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API 呼叫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103120"/>
            <a:ext cx="7863840" cy="2560320"/>
          </a:xfrm>
          <a:prstGeom prst="rect">
            <a:avLst/>
          </a:prstGeom>
          <a:solidFill>
            <a:srgbClr val="1E1E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224028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raw-mcp-client.js — 呼叫 Claude API 時注入工具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response = await anthropic.messages.create({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model: "claude-sonnet-4-20250514",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messages: conversationHistory,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tools: allMcpTools.map(t =&gt; ({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t.name,              // 來自 MCP Server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description: t.description, // 來自 MCP Server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input_schema: t.inputSchema // 來自 MCP Server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}))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
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LLM 眼中的世界 — 只看到工具描述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5029200" cy="3383280"/>
          </a:xfrm>
          <a:prstGeom prst="rect">
            <a:avLst/>
          </a:prstGeom>
          <a:solidFill>
            <a:srgbClr val="1E1E2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097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79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LLM 看到的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 tools:
</a:t>
            </a: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search_library_books
</a:t>
            </a:r>
            <a:r>
              <a:rPr lang="en-US" sz="9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搜尋圖書館館藏書籍
</a:t>
            </a: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get_department_courses
</a:t>
            </a:r>
            <a:r>
              <a:rPr lang="en-US" sz="9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依系所代碼查詢課程
</a:t>
            </a:r>
            <a:r>
              <a:rPr lang="en-US" sz="10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search_teachers
</a:t>
            </a:r>
            <a:r>
              <a:rPr lang="en-US" sz="9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搜尋教師資訊與研究
</a:t>
            </a: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 共 33 個
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43600" y="1051560"/>
            <a:ext cx="2560320" cy="3383280"/>
          </a:xfrm>
          <a:prstGeom prst="rect">
            <a:avLst/>
          </a:prstGeom>
          <a:solidFill>
            <a:srgbClr val="3A3A4E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126480" y="1097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44E5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LLM 看不到的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126480" y="1463040"/>
            <a:ext cx="2194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Server 怎麼啟動的
✕ Server 用什麼語言
✕ 資料庫連線方式
✕ 網路拓撲
✕ 認證機制
✕ JSON-RPC 細節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Arial Black"/>
              </a:rPr>
              <a:t>MCP 整體架構:四層分工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65860"/>
            <a:ext cx="82296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3812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2930" y="1207008"/>
            <a:ext cx="137160" cy="603504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165860"/>
            <a:ext cx="1714500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Arial Black"/>
              </a:rPr>
              <a:t>Host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165860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  <a:latin typeface="Calibri"/>
              </a:rPr>
              <a:t>應用程式 / 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9300" y="1165860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050" b="0" i="1">
                <a:solidFill>
                  <a:srgbClr val="6B6B6B"/>
                </a:solidFill>
                <a:latin typeface="Consolas"/>
              </a:rPr>
              <a:t>興大 AI 學伴 web 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872234"/>
            <a:ext cx="411479" cy="109728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Calibri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88819"/>
            <a:ext cx="82296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3812">
            <a:solidFill>
              <a:srgbClr val="5B8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2930" y="2029967"/>
            <a:ext cx="137160" cy="603504"/>
          </a:xfrm>
          <a:prstGeom prst="rect">
            <a:avLst/>
          </a:prstGeom>
          <a:solidFill>
            <a:srgbClr val="5B8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1988819"/>
            <a:ext cx="1714500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800" b="1" i="0">
                <a:solidFill>
                  <a:srgbClr val="5B8DE8"/>
                </a:solidFill>
                <a:latin typeface="Arial Black"/>
              </a:rPr>
              <a:t>Client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1988819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  <a:latin typeface="Calibri"/>
              </a:rPr>
              <a:t>包含 LLM + MCP client 邏輯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300" y="1988819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050" b="0" i="1">
                <a:solidFill>
                  <a:srgbClr val="6B6B6B"/>
                </a:solidFill>
                <a:latin typeface="Consolas"/>
              </a:rPr>
              <a:t>Node.js + Sonnet  (= 影片裡的 Parent)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695194"/>
            <a:ext cx="411479" cy="109728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Calibri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811779"/>
            <a:ext cx="82296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3812">
            <a:solidFill>
              <a:srgbClr val="2DB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2930" y="2852927"/>
            <a:ext cx="137160" cy="603504"/>
          </a:xfrm>
          <a:prstGeom prst="rect">
            <a:avLst/>
          </a:prstGeom>
          <a:solidFill>
            <a:srgbClr val="2DB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2811779"/>
            <a:ext cx="1714500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800" b="1" i="0">
                <a:solidFill>
                  <a:srgbClr val="2DB5C9"/>
                </a:solidFill>
                <a:latin typeface="Arial Black"/>
              </a:rPr>
              <a:t>Server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2811779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  <a:latin typeface="Calibri"/>
              </a:rPr>
              <a:t>個別 MCP server 子程序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0" y="2811779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050" b="0" i="1">
                <a:solidFill>
                  <a:srgbClr val="6B6B6B"/>
                </a:solidFill>
                <a:latin typeface="Consolas"/>
              </a:rPr>
              <a:t>Python MCP Server  (= 影片裡的 Child)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518154"/>
            <a:ext cx="411479" cy="109728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200" b="0" i="0">
                <a:solidFill>
                  <a:srgbClr val="6B6B6B"/>
                </a:solidFill>
                <a:latin typeface="Calibri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634739"/>
            <a:ext cx="82296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3812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2930" y="3675887"/>
            <a:ext cx="137160" cy="603504"/>
          </a:xfrm>
          <a:prstGeom prst="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3634739"/>
            <a:ext cx="1714500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800" b="1" i="0">
                <a:solidFill>
                  <a:srgbClr val="5CB85C"/>
                </a:solidFill>
                <a:latin typeface="Arial Black"/>
              </a:rPr>
              <a:t>Tool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3634739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  <a:latin typeface="Calibri"/>
              </a:rPr>
              <a:t>個別工具函式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29300" y="3634739"/>
            <a:ext cx="2948939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050" b="0" i="1">
                <a:solidFill>
                  <a:srgbClr val="6B6B6B"/>
                </a:solidFill>
                <a:latin typeface="Consolas"/>
              </a:rPr>
              <a:t>search_new_books / search_courses / search_teachers 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4350" y="4766310"/>
            <a:ext cx="8229600" cy="27432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050" b="0" i="1">
                <a:solidFill>
                  <a:srgbClr val="6B6B6B"/>
                </a:solidFill>
                <a:latin typeface="Calibri"/>
              </a:rPr>
              <a:t>Host 看不到 JSON-RPC · Client 看不到 Server 實作 · LLM 只看 name + description + inputSchema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342900"/>
            <a:ext cx="8229600" cy="54864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700" b="1" i="0">
                <a:solidFill>
                  <a:srgbClr val="1E2761"/>
                </a:solidFill>
                <a:latin typeface="Arial Black"/>
              </a:rPr>
              <a:t>本講重點回顧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" y="96011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7220" y="1131569"/>
            <a:ext cx="5486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E8793A"/>
                </a:solidFill>
                <a:latin typeface="Arial Black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131569"/>
            <a:ext cx="77495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Function calling:LLM 只吐 tool_use JSON,真的執行的是外面的 harness;harness 跨越「文字宇宙 → 真實電腦」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" y="1666493"/>
            <a:ext cx="5486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E8793A"/>
                </a:solidFill>
                <a:latin typeface="Arial Blac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66493"/>
            <a:ext cx="77495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MCP 把 LLM ⇄ 工具的通訊抽出來,變成 Parent / Child 兩個 process 之間的雙向管道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201418"/>
            <a:ext cx="5486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E8793A"/>
                </a:solidFill>
                <a:latin typeface="Arial Black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201418"/>
            <a:ext cx="77495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兩階段握手:① 互換能力 → ② 拿到工具清單;兩步都過才算真的連上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" y="2736342"/>
            <a:ext cx="5486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E8793A"/>
                </a:solidFill>
                <a:latin typeface="Arial Blac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736342"/>
            <a:ext cx="77495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工具呼叫:LLM 決定 → token 飛去 Child → Child 執行 → 結果飛回 → 找到對應請求回給使用者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" y="3271266"/>
            <a:ext cx="5486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E8793A"/>
                </a:solidFill>
                <a:latin typeface="Arial Blac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71266"/>
            <a:ext cx="77495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每個工具由 name / description / inputSchema 三個欄位定義;description 的品質直接決定 LLM 選不選得對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" y="3806190"/>
            <a:ext cx="5486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650" b="1" i="0">
                <a:solidFill>
                  <a:srgbClr val="E8793A"/>
                </a:solidFill>
                <a:latin typeface="Arial Black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806190"/>
            <a:ext cx="774954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Client 把所有工具定義轉換後,注入 LLM API 的 tools 參數 — LLM 只看得到 name + description + inputSchema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350" y="4663440"/>
            <a:ext cx="8229600" cy="27432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200" b="0" i="1">
                <a:solidFill>
                  <a:srgbClr val="1C7293"/>
                </a:solidFill>
                <a:latin typeface="Calibri"/>
              </a:rPr>
              <a:t>下一講預告:Agentic Tool Loop — LLM 怎麼自主決定該呼叫哪個工具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1028700"/>
            <a:ext cx="2743200" cy="30861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8000" b="1" i="0">
                <a:solidFill>
                  <a:srgbClr val="E8793A"/>
                </a:solidFill>
                <a:latin typeface="Arial Black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0" y="1920239"/>
            <a:ext cx="5143500" cy="10287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4050" b="1" i="0">
                <a:solidFill>
                  <a:srgbClr val="FFFFFF"/>
                </a:solidFill>
                <a:latin typeface="Arial Black"/>
              </a:rPr>
              <a:t>Function Calling 怎麼運作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3771900" y="2743200"/>
            <a:ext cx="17145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71900" y="2880360"/>
            <a:ext cx="5143500" cy="6858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650" b="0" i="0">
                <a:solidFill>
                  <a:srgbClr val="E8EDF3"/>
                </a:solidFill>
                <a:latin typeface="Calibri"/>
              </a:rPr>
              <a:t>LLM 只吐字串,真的執行的是外面的 harness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Arial Black"/>
              </a:rPr>
              <a:t>用一個具體例子搞懂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14500" y="994409"/>
            <a:ext cx="5486400" cy="24002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050" b="0" i="0">
                <a:solidFill>
                  <a:srgbClr val="6B6B6B"/>
                </a:solidFill>
                <a:latin typeface="Calibri"/>
              </a:rPr>
              <a:t>使用者輸入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14500" y="1303019"/>
            <a:ext cx="5486400" cy="685800"/>
          </a:xfrm>
          <a:prstGeom prst="roundRect">
            <a:avLst>
              <a:gd name="adj" fmla="val 12000"/>
            </a:avLst>
          </a:prstGeom>
          <a:solidFill>
            <a:srgbClr val="5B8DE8"/>
          </a:solidFill>
          <a:ln w="23812">
            <a:solidFill>
              <a:srgbClr val="5B8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4500" y="1303019"/>
            <a:ext cx="5486400" cy="6858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我家目錄底下有幾個 .py 檔？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4350" y="2400300"/>
            <a:ext cx="8229600" cy="61722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2400" b="1" i="0">
                <a:solidFill>
                  <a:srgbClr val="E8793A"/>
                </a:solidFill>
                <a:latin typeface="Arial Black"/>
              </a:rPr>
              <a:t>LLM 從頭到尾只做一件事 —— 吐字串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3360420"/>
            <a:ext cx="8229600" cy="137160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ctr">
              <a:spcAft>
                <a:spcPts val="1050"/>
              </a:spcAft>
            </a:pPr>
            <a:r>
              <a:rPr sz="1350" b="0" i="0">
                <a:solidFill>
                  <a:srgbClr val="1A1A1A"/>
                </a:solidFill>
                <a:latin typeface="Calibri"/>
              </a:rPr>
              <a:t>所有「真的執行」的動作 —— 跑 find、發 HTTP request、改檔、開瀏覽器 —— 都發生在 LLM 外面的一段程式裡。</a:t>
            </a:r>
          </a:p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我們叫它 harness  (= agent runtime / agent loop runner)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Arial Black"/>
              </a:rPr>
              <a:t>Stage 1+2 — 開發者準備工具描述,送出 API call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4350" y="1062990"/>
            <a:ext cx="5143500" cy="3634739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6434"/>
            <a:ext cx="4834890" cy="3387851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6B6B6B"/>
                </a:solidFill>
                <a:latin typeface="Consolas"/>
              </a:rPr>
              <a:t># 開發者寫的 Python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tools = [{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8793A"/>
                </a:solidFill>
                <a:latin typeface="Consolas"/>
              </a:rPr>
              <a:t>  "name": "execute_bash",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5CB85C"/>
                </a:solidFill>
                <a:latin typeface="Consolas"/>
              </a:rPr>
              <a:t>  "description": "Execute a bash command. Returns stdout.",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"input_schema":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"type": "object",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"properties":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"command": {"type": "string"}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},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"required": ["command"]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}]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messages = [{"role": "user",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       "content": "我家目錄底下有幾個 .py 檔？"}]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response = client.messages.create(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model="claude-opus-4-7",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8793A"/>
                </a:solidFill>
                <a:latin typeface="Consolas"/>
              </a:rPr>
              <a:t>    tools=tools,        ← 把工具 schema 一起送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messages=messages,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79" y="1165860"/>
            <a:ext cx="3086100" cy="356616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75" b="1" i="0">
                <a:solidFill>
                  <a:srgbClr val="1E2761"/>
                </a:solidFill>
                <a:latin typeface="Arial Black"/>
              </a:rPr>
              <a:t>tools 只是一個 dict</a:t>
            </a:r>
          </a:p>
          <a:p>
            <a:pPr algn="l">
              <a:spcAft>
                <a:spcPts val="12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SDK 把它序列化成 JSON,塞進 API 的 request body。</a:t>
            </a:r>
          </a:p>
          <a:p>
            <a:pPr algn="l">
              <a:spcAft>
                <a:spcPts val="300"/>
              </a:spcAft>
            </a:pPr>
            <a:r>
              <a:rPr sz="1275" b="1" i="0">
                <a:solidFill>
                  <a:srgbClr val="1E2761"/>
                </a:solidFill>
                <a:latin typeface="Arial Black"/>
              </a:rPr>
              <a:t>LLM 看到的是這段 JSON</a:t>
            </a:r>
          </a:p>
          <a:p>
            <a:pPr algn="l">
              <a:spcAft>
                <a:spcPts val="12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翻成 prompt 後 LLM 讀到「有一個叫 execute_bash 的東西,描述是這樣,參數長這樣」。</a:t>
            </a:r>
          </a:p>
          <a:p>
            <a:pPr algn="l">
              <a:spcAft>
                <a:spcPts val="300"/>
              </a:spcAft>
            </a:pPr>
            <a:r>
              <a:rPr sz="1275" b="1" i="0">
                <a:solidFill>
                  <a:srgbClr val="D9534F"/>
                </a:solidFill>
                <a:latin typeface="Arial Black"/>
              </a:rPr>
              <a:t>✗ 沒有綁定真函式指標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LLM 拿不到 Python 函式 reference,也碰不到 OS。它就是讀了一段文字。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950" b="1" i="0">
                <a:solidFill>
                  <a:srgbClr val="1E2761"/>
                </a:solidFill>
                <a:latin typeface="Arial Black"/>
              </a:rPr>
              <a:t>Stage 3 — LLM 回了一段 JSON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4350" y="1062990"/>
            <a:ext cx="5897879" cy="2948939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6434"/>
            <a:ext cx="5589270" cy="2702052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"id": "msg_abc123",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8793A"/>
                </a:solidFill>
                <a:latin typeface="Consolas"/>
              </a:rPr>
              <a:t>  "stop_reason": "tool_use",        ← 旗號:給 harness 看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"content": [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"type": "text",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5CB85C"/>
                </a:solidFill>
                <a:latin typeface="Consolas"/>
              </a:rPr>
              <a:t>      "text": "讓我用 find 幫你數一下。"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},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"type": "tool_use",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"id": "toolu_01XYZ",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"name": "execute_bash",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"input": {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5CB85C"/>
                </a:solidFill>
                <a:latin typeface="Consolas"/>
              </a:rPr>
              <a:t>        "command": "find ~ -name '*.py' -type f | wc -l"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79" y="1165860"/>
            <a:ext cx="2468880" cy="288036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E8793A"/>
                </a:solidFill>
                <a:latin typeface="Consolas"/>
              </a:rPr>
              <a:t>stop_reason: tool_use</a:t>
            </a:r>
          </a:p>
          <a:p>
            <a:pPr algn="l">
              <a:spcAft>
                <a:spcPts val="1200"/>
              </a:spcAft>
            </a:pPr>
            <a:r>
              <a:rPr sz="975" b="0" i="1">
                <a:solidFill>
                  <a:srgbClr val="6B6B6B"/>
                </a:solidFill>
                <a:latin typeface="Calibri"/>
              </a:rPr>
              <a:t>「我停下來了,因為產出了一個 tool_use,你接手。」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5CB85C"/>
                </a:solidFill>
                <a:latin typeface="Arial Black"/>
              </a:rPr>
              <a:t>command 這串字</a:t>
            </a:r>
          </a:p>
          <a:p>
            <a:pPr algn="l">
              <a:spcAft>
                <a:spcPts val="0"/>
              </a:spcAft>
            </a:pPr>
            <a:r>
              <a:rPr sz="975" b="0" i="0">
                <a:solidFill>
                  <a:srgbClr val="1A1A1A"/>
                </a:solidFill>
                <a:latin typeface="Calibri"/>
              </a:rPr>
              <a:t>是 LLM token-by-token 生出來的;constrained decoding 確保 JSON 一定合法。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4350" y="4149089"/>
            <a:ext cx="8229600" cy="582930"/>
          </a:xfrm>
          <a:prstGeom prst="roundRect">
            <a:avLst>
              <a:gd name="adj" fmla="val 12000"/>
            </a:avLst>
          </a:prstGeom>
          <a:solidFill>
            <a:srgbClr val="FCE5D1"/>
          </a:solidFill>
          <a:ln w="19050">
            <a:solidFill>
              <a:srgbClr val="E87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" y="4149089"/>
            <a:ext cx="8229600" cy="58293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E8793A"/>
                </a:solidFill>
                <a:latin typeface="Arial Black"/>
              </a:rPr>
              <a:t>LLM 沒有「呼叫」任何東西 —— 它就是吐了一段 JSON 字串。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950" b="1" i="0">
                <a:solidFill>
                  <a:srgbClr val="1E2761"/>
                </a:solidFill>
                <a:latin typeface="Arial Black"/>
              </a:rPr>
              <a:t>Stage 4 — Harness 真的執行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4350" y="1062990"/>
            <a:ext cx="5623559" cy="253746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6434"/>
            <a:ext cx="5314949" cy="2290572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6B6B6B"/>
                </a:solidFill>
                <a:latin typeface="Consolas"/>
              </a:rPr>
              <a:t># Harness 拿到 LLM 的 tool_use 後,跑 dispatcher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for block in response.content: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if block.type == "tool_use":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  cmd = block.input["command"]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8793A"/>
                </a:solidFill>
                <a:latin typeface="Consolas"/>
              </a:rPr>
              <a:t>        # 這一行才是「真的下去執行」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8793A"/>
                </a:solidFill>
                <a:latin typeface="Consolas"/>
              </a:rPr>
              <a:t>        result = subprocess.run(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8793A"/>
                </a:solidFill>
                <a:latin typeface="Consolas"/>
              </a:rPr>
              <a:t>            cmd,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8793A"/>
                </a:solidFill>
                <a:latin typeface="Consolas"/>
              </a:rPr>
              <a:t>            shell=True,         ← LLM 字串 → /bin/bash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8793A"/>
                </a:solidFill>
                <a:latin typeface="Consolas"/>
              </a:rPr>
              <a:t>            capture_output=True,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8793A"/>
                </a:solidFill>
                <a:latin typeface="Consolas"/>
              </a:rPr>
              <a:t>            text=True,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8793A"/>
                </a:solidFill>
                <a:latin typeface="Consolas"/>
              </a:rPr>
              <a:t>            timeout=30,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8793A"/>
                </a:solidFill>
                <a:latin typeface="Consolas"/>
              </a:rPr>
              <a:t>        )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    tool_output = result.stdout.strip()    # "42"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59" y="1165860"/>
            <a:ext cx="2743200" cy="240030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ctr">
              <a:spcAft>
                <a:spcPts val="150"/>
              </a:spcAft>
            </a:pPr>
            <a:r>
              <a:rPr sz="1200" b="1" i="0">
                <a:solidFill>
                  <a:srgbClr val="5B8DE8"/>
                </a:solidFill>
                <a:latin typeface="Arial Black"/>
              </a:rPr>
              <a:t>「文字宇宙」</a:t>
            </a:r>
          </a:p>
          <a:p>
            <a:pPr algn="ctr">
              <a:spcAft>
                <a:spcPts val="1050"/>
              </a:spcAft>
            </a:pPr>
            <a:r>
              <a:rPr sz="975" b="0" i="0">
                <a:solidFill>
                  <a:srgbClr val="6B6B6B"/>
                </a:solidFill>
                <a:latin typeface="Calibri"/>
              </a:rPr>
              <a:t>= LLM 吐的字串</a:t>
            </a:r>
          </a:p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E8793A"/>
                </a:solidFill>
                <a:latin typeface="Arial Black"/>
              </a:rPr>
              <a:t>↓  這道門  ↓</a:t>
            </a:r>
          </a:p>
          <a:p>
            <a:pPr algn="ctr">
              <a:spcAft>
                <a:spcPts val="1050"/>
              </a:spcAft>
            </a:pPr>
            <a:r>
              <a:rPr sz="975" b="1" i="0">
                <a:solidFill>
                  <a:srgbClr val="E8793A"/>
                </a:solidFill>
                <a:latin typeface="Consolas"/>
              </a:rPr>
              <a:t>subprocess.run(...)</a:t>
            </a:r>
          </a:p>
          <a:p>
            <a:pPr algn="ctr">
              <a:spcAft>
                <a:spcPts val="150"/>
              </a:spcAft>
            </a:pPr>
            <a:r>
              <a:rPr sz="1200" b="1" i="0">
                <a:solidFill>
                  <a:srgbClr val="1E2761"/>
                </a:solidFill>
                <a:latin typeface="Arial Black"/>
              </a:rPr>
              <a:t>「真實電腦」</a:t>
            </a:r>
          </a:p>
          <a:p>
            <a:pPr algn="ctr">
              <a:spcAft>
                <a:spcPts val="0"/>
              </a:spcAft>
            </a:pPr>
            <a:r>
              <a:rPr sz="975" b="0" i="0">
                <a:solidFill>
                  <a:srgbClr val="6B6B6B"/>
                </a:solidFill>
                <a:latin typeface="Calibri"/>
              </a:rPr>
              <a:t>= shell fork + exec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4350" y="3737610"/>
            <a:ext cx="8229600" cy="1028700"/>
          </a:xfrm>
          <a:prstGeom prst="roundRect">
            <a:avLst>
              <a:gd name="adj" fmla="val 12000"/>
            </a:avLst>
          </a:prstGeom>
          <a:solidFill>
            <a:srgbClr val="FDE5E5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840479"/>
            <a:ext cx="7886700" cy="89154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200" b="1" i="0">
                <a:solidFill>
                  <a:srgbClr val="D9534F"/>
                </a:solidFill>
                <a:latin typeface="Arial Black"/>
              </a:rPr>
              <a:t>⚠  安全警告 — 本質上是 eval(LLM 輸出)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若 prompt injection 攻擊,LLM 會生出 rm -rf ~,harness 不長眼就照跑。</a:t>
            </a:r>
          </a:p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1A1A1A"/>
                </a:solidFill>
                <a:latin typeface="Calibri"/>
              </a:rPr>
              <a:t>Production 系統必須加 sandbox / docker / allow-list / human-in-the-loop confirmation。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800" b="1" i="0">
                <a:solidFill>
                  <a:srgbClr val="1E2761"/>
                </a:solidFill>
                <a:latin typeface="Arial Black"/>
              </a:rPr>
              <a:t>Stage 5+6 — 結果塞回,LLM 給最終答案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4350" y="1062990"/>
            <a:ext cx="5486400" cy="27432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  <a:latin typeface="Arial Black"/>
              </a:rPr>
              <a:t>messages 陣列現在長這樣:</a:t>
            </a:r>
          </a:p>
        </p:txBody>
      </p:sp>
      <p:sp>
        <p:nvSpPr>
          <p:cNvPr id="6" name="Rectangle 5"/>
          <p:cNvSpPr/>
          <p:nvPr/>
        </p:nvSpPr>
        <p:spPr>
          <a:xfrm>
            <a:off x="514350" y="1371600"/>
            <a:ext cx="5349240" cy="3017520"/>
          </a:xfrm>
          <a:prstGeom prst="rect">
            <a:avLst/>
          </a:prstGeom>
          <a:solidFill>
            <a:srgbClr val="10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95044"/>
            <a:ext cx="5040629" cy="2770632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5B8DE8"/>
                </a:solidFill>
                <a:latin typeface="Consolas"/>
              </a:rPr>
              <a:t>[user]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"我家目錄底下有幾個 .py 檔？"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8793A"/>
                </a:solidFill>
                <a:latin typeface="Consolas"/>
              </a:rPr>
              <a:t>[assistant]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"讓我用 find 幫你數一下。"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+ tool_use { execute_bash, "find ~ ..."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5CB85C"/>
                </a:solidFill>
                <a:latin typeface="Consolas"/>
              </a:rPr>
              <a:t>[user]   ← 注意:role 是 user!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tool_result { id=toolu_01XYZ, content="42" }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E8793A"/>
                </a:solidFill>
                <a:latin typeface="Consolas"/>
              </a:rPr>
              <a:t>[assistant]   stop_reason: end_turn</a:t>
            </a:r>
          </a:p>
          <a:p>
            <a:pPr algn="l">
              <a:spcAft>
                <a:spcPts val="75"/>
              </a:spcAft>
            </a:pPr>
            <a:r>
              <a:rPr sz="825" b="0" i="0">
                <a:solidFill>
                  <a:srgbClr val="DDE4EE"/>
                </a:solidFill>
                <a:latin typeface="Consolas"/>
              </a:rPr>
              <a:t>    "你家目錄底下總共有 42 個 .py 檔。"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3620" y="1371600"/>
            <a:ext cx="2880360" cy="301752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25" b="1" i="0">
                <a:solidFill>
                  <a:srgbClr val="5CB85C"/>
                </a:solidFill>
                <a:latin typeface="Arial Black"/>
              </a:rPr>
              <a:t>tool_result 用 role: user 送回</a:t>
            </a:r>
          </a:p>
          <a:p>
            <a:pPr algn="l">
              <a:spcAft>
                <a:spcPts val="1350"/>
              </a:spcAft>
            </a:pPr>
            <a:r>
              <a:rPr sz="975" b="0" i="0">
                <a:solidFill>
                  <a:srgbClr val="1A1A1A"/>
                </a:solidFill>
                <a:latin typeface="Calibri"/>
              </a:rPr>
              <a:t>從 model 的角度,它中斷自己去問了外面的世界,外面的世界回了一句,現在輪到 model 繼續講。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E8793A"/>
                </a:solidFill>
                <a:latin typeface="Consolas"/>
              </a:rPr>
              <a:t>stop_reason: end_turn</a:t>
            </a:r>
          </a:p>
          <a:p>
            <a:pPr algn="l">
              <a:spcAft>
                <a:spcPts val="1350"/>
              </a:spcAft>
            </a:pPr>
            <a:r>
              <a:rPr sz="975" b="0" i="0">
                <a:solidFill>
                  <a:srgbClr val="1A1A1A"/>
                </a:solidFill>
                <a:latin typeface="Calibri"/>
              </a:rPr>
              <a:t>harness 看到這個(不是 tool_use)就知道:迴圈結束了。</a:t>
            </a:r>
          </a:p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E2761"/>
                </a:solidFill>
                <a:latin typeface="Arial Black"/>
              </a:rPr>
              <a:t>完整 loop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B6B6B"/>
                </a:solidFill>
                <a:latin typeface="Consolas"/>
              </a:rPr>
              <a:t>tool_use → run → tool_result → … → end_turn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350" y="4526279"/>
            <a:ext cx="8229600" cy="27432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125" b="0" i="1">
                <a:solidFill>
                  <a:srgbClr val="6B6B6B"/>
                </a:solidFill>
                <a:latin typeface="Calibri"/>
              </a:rPr>
              <a:t>可能要跑很多輪 —— LLM 可以連續呼叫多個工具,直到它覺得夠了 (end_turn)。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Arial Black"/>
              </a:rPr>
              <a:t>重點:LLM ↔ Harness 職責分工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4350" y="1165860"/>
            <a:ext cx="4046220" cy="30861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3812">
            <a:solidFill>
              <a:srgbClr val="5B8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9214" y="1220724"/>
            <a:ext cx="3936491" cy="377190"/>
          </a:xfrm>
          <a:prstGeom prst="rect">
            <a:avLst/>
          </a:prstGeom>
          <a:solidFill>
            <a:srgbClr val="5B8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9214" y="1220724"/>
            <a:ext cx="3936491" cy="37719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FFFFF"/>
                </a:solidFill>
                <a:latin typeface="Arial Black"/>
              </a:rPr>
              <a:t>LLM 做的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8669" y="1783080"/>
            <a:ext cx="3566160" cy="233172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75" b="0" i="0">
                <a:solidFill>
                  <a:srgbClr val="1A1A1A"/>
                </a:solidFill>
                <a:latin typeface="Calibri"/>
              </a:rPr>
              <a:t>• 純粹吐字串 (text + tool_use JSON)</a:t>
            </a:r>
          </a:p>
          <a:p>
            <a:pPr algn="l">
              <a:spcAft>
                <a:spcPts val="600"/>
              </a:spcAft>
            </a:pPr>
            <a:r>
              <a:rPr sz="1275" b="0" i="0">
                <a:solidFill>
                  <a:srgbClr val="1A1A1A"/>
                </a:solidFill>
                <a:latin typeface="Calibri"/>
              </a:rPr>
              <a:t>• 讀 tool schema,生 input JSON</a:t>
            </a:r>
          </a:p>
          <a:p>
            <a:pPr algn="l">
              <a:spcAft>
                <a:spcPts val="600"/>
              </a:spcAft>
            </a:pPr>
            <a:r>
              <a:rPr sz="1275" b="0" i="0">
                <a:solidFill>
                  <a:srgbClr val="1A1A1A"/>
                </a:solidFill>
                <a:latin typeface="Calibri"/>
              </a:rPr>
              <a:t>• Constrained decoding 確保 JSON 合法</a:t>
            </a:r>
          </a:p>
          <a:p>
            <a:pPr algn="l">
              <a:spcAft>
                <a:spcPts val="600"/>
              </a:spcAft>
            </a:pPr>
            <a:r>
              <a:rPr sz="1275" b="0" i="0">
                <a:solidFill>
                  <a:srgbClr val="1A1A1A"/>
                </a:solidFill>
                <a:latin typeface="Calibri"/>
              </a:rPr>
              <a:t>• 不知道工具真正做什麼</a:t>
            </a:r>
          </a:p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D9534F"/>
                </a:solidFill>
                <a:latin typeface="Calibri"/>
              </a:rPr>
              <a:t>✗ 碰不到 OS、檔案、網路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66310" y="1165860"/>
            <a:ext cx="4046220" cy="30861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3812">
            <a:solidFill>
              <a:srgbClr val="E87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21174" y="1220724"/>
            <a:ext cx="3936491" cy="377190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21174" y="1220724"/>
            <a:ext cx="3936491" cy="37719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FFFFF"/>
                </a:solidFill>
                <a:latin typeface="Arial Black"/>
              </a:rPr>
              <a:t>Harness 做的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0630" y="1783080"/>
            <a:ext cx="3566160" cy="233172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75" b="0" i="0">
                <a:solidFill>
                  <a:srgbClr val="1A1A1A"/>
                </a:solidFill>
                <a:latin typeface="Calibri"/>
              </a:rPr>
              <a:t>• 真的執行 (subprocess、HTTP、DB…)</a:t>
            </a:r>
          </a:p>
          <a:p>
            <a:pPr algn="l">
              <a:spcAft>
                <a:spcPts val="600"/>
              </a:spcAft>
            </a:pPr>
            <a:r>
              <a:rPr sz="1275" b="0" i="0">
                <a:solidFill>
                  <a:srgbClr val="1A1A1A"/>
                </a:solidFill>
                <a:latin typeface="Calibri"/>
              </a:rPr>
              <a:t>• 維護 messages 陣列</a:t>
            </a:r>
          </a:p>
          <a:p>
            <a:pPr algn="l">
              <a:spcAft>
                <a:spcPts val="600"/>
              </a:spcAft>
            </a:pPr>
            <a:r>
              <a:rPr sz="1275" b="0" i="0">
                <a:solidFill>
                  <a:srgbClr val="1A1A1A"/>
                </a:solidFill>
                <a:latin typeface="Calibri"/>
              </a:rPr>
              <a:t>• Loop 直到 stop_reason: end_turn</a:t>
            </a:r>
          </a:p>
          <a:p>
            <a:pPr algn="l">
              <a:spcAft>
                <a:spcPts val="600"/>
              </a:spcAft>
            </a:pPr>
            <a:r>
              <a:rPr sz="1275" b="0" i="0">
                <a:solidFill>
                  <a:srgbClr val="1A1A1A"/>
                </a:solidFill>
                <a:latin typeface="Calibri"/>
              </a:rPr>
              <a:t>• 處理 timeout / 錯誤 / 結果格式</a:t>
            </a:r>
          </a:p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5CB85C"/>
                </a:solidFill>
                <a:latin typeface="Calibri"/>
              </a:rPr>
              <a:t>✓ 加 sandbox / 安全防護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" y="4457700"/>
            <a:ext cx="8229600" cy="3429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275" b="1" i="1">
                <a:solidFill>
                  <a:srgbClr val="1E2761"/>
                </a:solidFill>
                <a:latin typeface="Calibri"/>
              </a:rPr>
              <a:t>→ MCP 在這個機制上加了什麼?把 harness ↔ tool 的協定標準化、抽到獨立 process。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1028700"/>
            <a:ext cx="2743200" cy="30861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8000" b="1" i="0">
                <a:solidFill>
                  <a:srgbClr val="E8793A"/>
                </a:solidFill>
                <a:latin typeface="Arial Black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0" y="1920239"/>
            <a:ext cx="5143500" cy="10287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4050" b="1" i="0">
                <a:solidFill>
                  <a:srgbClr val="FFFFFF"/>
                </a:solidFill>
                <a:latin typeface="Arial Black"/>
              </a:rPr>
              <a:t>從一個查詢開始</a:t>
            </a:r>
          </a:p>
        </p:txBody>
      </p:sp>
      <p:sp>
        <p:nvSpPr>
          <p:cNvPr id="5" name="Rectangle 4"/>
          <p:cNvSpPr/>
          <p:nvPr/>
        </p:nvSpPr>
        <p:spPr>
          <a:xfrm>
            <a:off x="3771900" y="2743200"/>
            <a:ext cx="17145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71900" y="2880360"/>
            <a:ext cx="5143500" cy="6858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650" b="0" i="0">
                <a:solidFill>
                  <a:srgbClr val="E8EDF3"/>
                </a:solidFill>
                <a:latin typeface="Calibri"/>
              </a:rPr>
              <a:t>用 search_new_books 走一遍完整流程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950" b="1" i="0">
                <a:solidFill>
                  <a:srgbClr val="1E2761"/>
                </a:solidFill>
                <a:latin typeface="Arial Black"/>
              </a:rPr>
              <a:t>場景:使用者問了一個問題,LLM 決定要呼叫工具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925830"/>
            <a:ext cx="1028700" cy="24002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6B6B6B"/>
                </a:solidFill>
                <a:latin typeface="Calibri"/>
              </a:rPr>
              <a:t>使用者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71900" y="1234440"/>
            <a:ext cx="4800600" cy="754380"/>
          </a:xfrm>
          <a:prstGeom prst="roundRect">
            <a:avLst>
              <a:gd name="adj" fmla="val 12000"/>
            </a:avLst>
          </a:prstGeom>
          <a:solidFill>
            <a:srgbClr val="5B8DE8"/>
          </a:solidFill>
          <a:ln w="23812">
            <a:solidFill>
              <a:srgbClr val="5B8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71900" y="1234440"/>
            <a:ext cx="4800600" cy="75438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FFFFF"/>
                </a:solidFill>
                <a:latin typeface="Calibri"/>
              </a:rPr>
              <a:t>幫我查最近圖書館有什麼新書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3086100" y="2057400"/>
            <a:ext cx="1371600" cy="82296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48640" y="2948939"/>
            <a:ext cx="5143500" cy="1234440"/>
          </a:xfrm>
          <a:prstGeom prst="roundRect">
            <a:avLst>
              <a:gd name="adj" fmla="val 12000"/>
            </a:avLst>
          </a:prstGeom>
          <a:solidFill>
            <a:srgbClr val="FCE5D1"/>
          </a:solidFill>
          <a:ln w="23812">
            <a:solidFill>
              <a:srgbClr val="E87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" y="3120389"/>
            <a:ext cx="4732020" cy="89154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嗯…需要查新書資料庫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E8793A"/>
                </a:solidFill>
                <a:latin typeface="Consolas"/>
              </a:rPr>
              <a:t>→ 呼叫 search_new_books 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17670"/>
            <a:ext cx="2743200" cy="24002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6B6B6B"/>
                </a:solidFill>
                <a:latin typeface="Consolas"/>
              </a:rPr>
              <a:t>LLM (Sonnet)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350" y="4491990"/>
            <a:ext cx="8572500" cy="3429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500" b="1" i="1">
                <a:solidFill>
                  <a:srgbClr val="D9534F"/>
                </a:solidFill>
                <a:latin typeface="Calibri"/>
              </a:rPr>
              <a:t>但 LLM 自己不會呼叫 — 要靠 Parent 去跟 Child 講話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Arial Black"/>
              </a:rPr>
              <a:t>Act 1 — Parent 開出 Child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86100" y="994409"/>
            <a:ext cx="4114800" cy="3429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650" b="1" i="0">
                <a:solidFill>
                  <a:srgbClr val="E8793A"/>
                </a:solidFill>
                <a:latin typeface="Consolas"/>
              </a:rPr>
              <a:t>▶ 開出 Child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9788" y="1481328"/>
            <a:ext cx="2880360" cy="1714500"/>
          </a:xfrm>
          <a:prstGeom prst="roundRect">
            <a:avLst>
              <a:gd name="adj" fmla="val 14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40180"/>
            <a:ext cx="2880360" cy="1714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3812">
            <a:solidFill>
              <a:srgbClr val="5B8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2930" y="1474469"/>
            <a:ext cx="2811780" cy="411479"/>
          </a:xfrm>
          <a:prstGeom prst="rect">
            <a:avLst/>
          </a:prstGeom>
          <a:solidFill>
            <a:srgbClr val="5B8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2930" y="1474469"/>
            <a:ext cx="281178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Parent 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930" y="1954530"/>
            <a:ext cx="2811780" cy="75438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0" i="0">
                <a:solidFill>
                  <a:srgbClr val="6B6B6B"/>
                </a:solidFill>
                <a:latin typeface="Consolas"/>
              </a:rPr>
              <a:t>Node.js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97430" y="2832353"/>
            <a:ext cx="1028700" cy="219456"/>
          </a:xfrm>
          <a:prstGeom prst="roundRect">
            <a:avLst>
              <a:gd name="adj" fmla="val 12000"/>
            </a:avLst>
          </a:prstGeom>
          <a:solidFill>
            <a:srgbClr val="E8793A"/>
          </a:solidFill>
          <a:ln w="14287">
            <a:solidFill>
              <a:srgbClr val="E87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7430" y="2832353"/>
            <a:ext cx="1028700" cy="219456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825" b="1" i="0">
                <a:solidFill>
                  <a:srgbClr val="FFFFFF"/>
                </a:solidFill>
                <a:latin typeface="Consolas"/>
              </a:rPr>
              <a:t>LLM · Sonnet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33288" y="1481328"/>
            <a:ext cx="2880360" cy="1714500"/>
          </a:xfrm>
          <a:prstGeom prst="roundRect">
            <a:avLst>
              <a:gd name="adj" fmla="val 14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92140" y="1440180"/>
            <a:ext cx="2880360" cy="1714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3812">
            <a:solidFill>
              <a:srgbClr val="2DB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26430" y="1474469"/>
            <a:ext cx="2811780" cy="411479"/>
          </a:xfrm>
          <a:prstGeom prst="rect">
            <a:avLst/>
          </a:prstGeom>
          <a:solidFill>
            <a:srgbClr val="2DB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26430" y="1474469"/>
            <a:ext cx="281178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Child Process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6430" y="1954530"/>
            <a:ext cx="2811780" cy="109728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0" i="0">
                <a:solidFill>
                  <a:srgbClr val="6B6B6B"/>
                </a:solidFill>
                <a:latin typeface="Consolas"/>
              </a:rPr>
              <a:t>Python MCP Server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63289" y="2160270"/>
            <a:ext cx="2194561" cy="0"/>
          </a:xfrm>
          <a:prstGeom prst="line">
            <a:avLst/>
          </a:prstGeom>
          <a:ln w="14287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463289" y="2434590"/>
            <a:ext cx="2194561" cy="0"/>
          </a:xfrm>
          <a:prstGeom prst="line">
            <a:avLst/>
          </a:prstGeom>
          <a:ln w="14287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14350" y="3429000"/>
            <a:ext cx="8572500" cy="150876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Parent (Node.js) 用 spawn() 開出 Child (Python) 子程序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LLM (Sonnet) 是 Parent 裡的一個 client component — 它住在 Parent 內,不會自己出去呼叫工具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• 兩條 stdio pipe 串通 → Parent ⇄ Child 可以雙向講話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Arial Black"/>
              </a:rPr>
              <a:t>Act 2 — 兩階段握手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9788" y="1412748"/>
            <a:ext cx="2743200" cy="1028700"/>
          </a:xfrm>
          <a:prstGeom prst="roundRect">
            <a:avLst>
              <a:gd name="adj" fmla="val 14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2743200" cy="10287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3812">
            <a:solidFill>
              <a:srgbClr val="5B8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2930" y="1405889"/>
            <a:ext cx="2674620" cy="411479"/>
          </a:xfrm>
          <a:prstGeom prst="rect">
            <a:avLst/>
          </a:prstGeom>
          <a:solidFill>
            <a:srgbClr val="5B8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2930" y="1405889"/>
            <a:ext cx="267462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Parent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930" y="1885950"/>
            <a:ext cx="2674620" cy="41148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0" i="0">
                <a:solidFill>
                  <a:srgbClr val="6B6B6B"/>
                </a:solidFill>
                <a:latin typeface="Consolas"/>
              </a:rPr>
              <a:t>Node.js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" y="2990087"/>
            <a:ext cx="2743200" cy="1028700"/>
          </a:xfrm>
          <a:prstGeom prst="roundRect">
            <a:avLst>
              <a:gd name="adj" fmla="val 14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2948939"/>
            <a:ext cx="2743200" cy="10287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3812">
            <a:solidFill>
              <a:srgbClr val="2DB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2930" y="2983229"/>
            <a:ext cx="2674620" cy="411479"/>
          </a:xfrm>
          <a:prstGeom prst="rect">
            <a:avLst/>
          </a:prstGeom>
          <a:solidFill>
            <a:srgbClr val="2DB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2930" y="2983229"/>
            <a:ext cx="267462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Child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930" y="3463289"/>
            <a:ext cx="2674620" cy="41148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0" i="0">
                <a:solidFill>
                  <a:srgbClr val="6B6B6B"/>
                </a:solidFill>
                <a:latin typeface="Consolas"/>
              </a:rPr>
              <a:t>Python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20239" y="2400300"/>
            <a:ext cx="0" cy="548639"/>
          </a:xfrm>
          <a:prstGeom prst="line">
            <a:avLst/>
          </a:prstGeom>
          <a:ln w="28575">
            <a:solidFill>
              <a:srgbClr val="E879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20239" y="3977639"/>
            <a:ext cx="0" cy="480061"/>
          </a:xfrm>
          <a:prstGeom prst="line">
            <a:avLst/>
          </a:prstGeom>
          <a:ln w="28575">
            <a:solidFill>
              <a:srgbClr val="5CB8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429000" y="2503170"/>
            <a:ext cx="2743200" cy="27432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E8793A"/>
                </a:solidFill>
                <a:latin typeface="Calibri"/>
              </a:rPr>
              <a:t>→ 我來了 / 給我工具清單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4011929"/>
            <a:ext cx="2743200" cy="27432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5CB85C"/>
                </a:solidFill>
                <a:latin typeface="Calibri"/>
              </a:rPr>
              <a:t>← 我能做什麼 / 8 個工具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1371600"/>
            <a:ext cx="3223260" cy="2606039"/>
          </a:xfrm>
          <a:prstGeom prst="roundRect">
            <a:avLst>
              <a:gd name="adj" fmla="val 12000"/>
            </a:avLst>
          </a:prstGeom>
          <a:solidFill>
            <a:srgbClr val="E8EDF3"/>
          </a:solidFill>
          <a:ln w="14287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92140" y="1508760"/>
            <a:ext cx="2811780" cy="3429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Arial Black"/>
              </a:rPr>
              <a:t>握手進度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988819"/>
            <a:ext cx="342900" cy="342900"/>
          </a:xfrm>
          <a:prstGeom prst="roundRect">
            <a:avLst>
              <a:gd name="adj" fmla="val 12000"/>
            </a:avLst>
          </a:prstGeom>
          <a:solidFill>
            <a:srgbClr val="5CB85C"/>
          </a:solidFill>
          <a:ln w="1905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1988819"/>
            <a:ext cx="34290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0779" y="1988819"/>
            <a:ext cx="240030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5CB85C"/>
                </a:solidFill>
                <a:latin typeface="Calibri"/>
              </a:rPr>
              <a:t>Step 1:打過招呼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720" y="2640329"/>
            <a:ext cx="342900" cy="342900"/>
          </a:xfrm>
          <a:prstGeom prst="roundRect">
            <a:avLst>
              <a:gd name="adj" fmla="val 12000"/>
            </a:avLst>
          </a:prstGeom>
          <a:solidFill>
            <a:srgbClr val="5CB85C"/>
          </a:solidFill>
          <a:ln w="1905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0" y="2640329"/>
            <a:ext cx="34290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0779" y="2640329"/>
            <a:ext cx="2400300" cy="3429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500" b="1" i="0">
                <a:solidFill>
                  <a:srgbClr val="5CB85C"/>
                </a:solidFill>
                <a:latin typeface="Calibri"/>
              </a:rPr>
              <a:t>Step 2:拿到工具清單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2140" y="3291839"/>
            <a:ext cx="281178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350" b="1" i="1">
                <a:solidFill>
                  <a:srgbClr val="1E2761"/>
                </a:solidFill>
                <a:latin typeface="Calibri"/>
              </a:rPr>
              <a:t>兩個都打勾 才算真的連上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4350" y="4389120"/>
            <a:ext cx="8572500" cy="3429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350" b="0" i="1">
                <a:solidFill>
                  <a:srgbClr val="6B6B6B"/>
                </a:solidFill>
                <a:latin typeface="Calibri"/>
              </a:rPr>
              <a:t>重點:中間時刻(Step 1 ✓ 但 Step 2 ✗)Parent 還不知道工具清單,送 tool call 也沒用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274320"/>
            <a:ext cx="8229600" cy="4800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Arial Black"/>
              </a:rPr>
              <a:t>Act 3 — 工具呼叫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" y="822959"/>
            <a:ext cx="20574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9788" y="1207008"/>
            <a:ext cx="2468880" cy="960119"/>
          </a:xfrm>
          <a:prstGeom prst="roundRect">
            <a:avLst>
              <a:gd name="adj" fmla="val 14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165860"/>
            <a:ext cx="2468880" cy="960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3812">
            <a:solidFill>
              <a:srgbClr val="5B8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2930" y="1200150"/>
            <a:ext cx="2400300" cy="411479"/>
          </a:xfrm>
          <a:prstGeom prst="rect">
            <a:avLst/>
          </a:prstGeom>
          <a:solidFill>
            <a:srgbClr val="5B8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2930" y="1200150"/>
            <a:ext cx="240030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Parent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930" y="1680210"/>
            <a:ext cx="2400300" cy="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0" i="0">
                <a:solidFill>
                  <a:srgbClr val="6B6B6B"/>
                </a:solidFill>
                <a:latin typeface="Consolas"/>
              </a:rPr>
              <a:t>Node.js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5950" y="1803654"/>
            <a:ext cx="1028700" cy="219456"/>
          </a:xfrm>
          <a:prstGeom prst="roundRect">
            <a:avLst>
              <a:gd name="adj" fmla="val 12000"/>
            </a:avLst>
          </a:prstGeom>
          <a:solidFill>
            <a:srgbClr val="E8793A"/>
          </a:solidFill>
          <a:ln w="14287">
            <a:solidFill>
              <a:srgbClr val="E87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85950" y="1803654"/>
            <a:ext cx="1028700" cy="219456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825" b="1" i="0">
                <a:solidFill>
                  <a:srgbClr val="FFFFFF"/>
                </a:solidFill>
                <a:latin typeface="Consolas"/>
              </a:rPr>
              <a:t>LLM · Sonnet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3348" y="1207008"/>
            <a:ext cx="2468880" cy="960119"/>
          </a:xfrm>
          <a:prstGeom prst="roundRect">
            <a:avLst>
              <a:gd name="adj" fmla="val 14000"/>
            </a:avLst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165860"/>
            <a:ext cx="2468880" cy="960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3812">
            <a:solidFill>
              <a:srgbClr val="2DB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6490" y="1200150"/>
            <a:ext cx="2400300" cy="411479"/>
          </a:xfrm>
          <a:prstGeom prst="rect">
            <a:avLst/>
          </a:prstGeom>
          <a:solidFill>
            <a:srgbClr val="2DB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6490" y="1200150"/>
            <a:ext cx="240030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 Black"/>
              </a:rPr>
              <a:t>Child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6490" y="1680210"/>
            <a:ext cx="2400300" cy="34289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0" i="0">
                <a:solidFill>
                  <a:srgbClr val="6B6B6B"/>
                </a:solidFill>
                <a:latin typeface="Consolas"/>
              </a:rPr>
              <a:t>Python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17520" y="1645919"/>
            <a:ext cx="3154680" cy="0"/>
          </a:xfrm>
          <a:prstGeom prst="line">
            <a:avLst/>
          </a:prstGeom>
          <a:ln w="28575">
            <a:solidFill>
              <a:srgbClr val="E879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771900" y="1405889"/>
            <a:ext cx="1714500" cy="377190"/>
          </a:xfrm>
          <a:prstGeom prst="roundRect">
            <a:avLst>
              <a:gd name="adj" fmla="val 12000"/>
            </a:avLst>
          </a:prstGeom>
          <a:solidFill>
            <a:srgbClr val="E8793A"/>
          </a:solidFill>
          <a:ln w="19050">
            <a:solidFill>
              <a:srgbClr val="E87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71900" y="1405889"/>
            <a:ext cx="1714500" cy="37719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825" b="1" i="0">
                <a:solidFill>
                  <a:srgbClr val="FFFFFF"/>
                </a:solidFill>
                <a:latin typeface="Consolas"/>
              </a:rPr>
              <a:t>search_new_books("新書")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263139"/>
            <a:ext cx="2468880" cy="411479"/>
          </a:xfrm>
          <a:prstGeom prst="roundRect">
            <a:avLst>
              <a:gd name="adj" fmla="val 12000"/>
            </a:avLst>
          </a:prstGeom>
          <a:solidFill>
            <a:srgbClr val="FCE5D1"/>
          </a:solidFill>
          <a:ln w="19050">
            <a:solidFill>
              <a:srgbClr val="E879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263139"/>
            <a:ext cx="246888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E8793A"/>
                </a:solidFill>
                <a:latin typeface="Calibri"/>
              </a:rPr>
              <a:t>等候第 4 個請求 · 30s 內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017520" y="3086100"/>
            <a:ext cx="3154680" cy="0"/>
          </a:xfrm>
          <a:prstGeom prst="line">
            <a:avLst/>
          </a:prstGeom>
          <a:ln w="28575">
            <a:solidFill>
              <a:srgbClr val="5CB8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771900" y="2866644"/>
            <a:ext cx="1714500" cy="377190"/>
          </a:xfrm>
          <a:prstGeom prst="roundRect">
            <a:avLst>
              <a:gd name="adj" fmla="val 12000"/>
            </a:avLst>
          </a:prstGeom>
          <a:solidFill>
            <a:srgbClr val="5CB85C"/>
          </a:solidFill>
          <a:ln w="1905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1900" y="2866644"/>
            <a:ext cx="1714500" cy="37719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nsolas"/>
              </a:rPr>
              <a:t>結果 · 10 筆新書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429000"/>
            <a:ext cx="2468880" cy="411479"/>
          </a:xfrm>
          <a:prstGeom prst="roundRect">
            <a:avLst>
              <a:gd name="adj" fmla="val 12000"/>
            </a:avLst>
          </a:prstGeom>
          <a:solidFill>
            <a:srgbClr val="DBEEDB"/>
          </a:solidFill>
          <a:ln w="1905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429000"/>
            <a:ext cx="2468880" cy="411479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5CB85C"/>
                </a:solidFill>
                <a:latin typeface="Calibri"/>
              </a:rPr>
              <a:t>第 4 個請求 ✓ 完成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350" y="4080510"/>
            <a:ext cx="8572500" cy="3429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完整流程:LLM 決定 → token 飛去 Child → Child 執行 → 結果飛回 → Parent 找到對應請求 → 回給使用者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4350" y="4491990"/>
            <a:ext cx="8572500" cy="3429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ctr"/>
            <a:r>
              <a:rPr sz="1050" b="0" i="1">
                <a:solidFill>
                  <a:srgbClr val="6B6B6B"/>
                </a:solidFill>
                <a:latin typeface="Calibri"/>
              </a:rPr>
              <a:t>「第 4 個請求」是 JSON-RPC 給每個 request 的編號,讓 response 能對得回來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1028700"/>
            <a:ext cx="8229600" cy="82295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4800" b="1" i="0">
                <a:solidFill>
                  <a:srgbClr val="E8793A"/>
                </a:solidFill>
                <a:latin typeface="Arial Black"/>
              </a:rPr>
              <a:t>→  切換到影片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4350" y="2057400"/>
            <a:ext cx="8229600" cy="411479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1650" b="0" i="0">
                <a:solidFill>
                  <a:srgbClr val="FFFFFF"/>
                </a:solidFill>
                <a:latin typeface="Consolas"/>
              </a:rPr>
              <a:t>02-mcp-connection-video.mp4   ·   2:17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50" y="2640330"/>
            <a:ext cx="17145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4350" y="2743200"/>
            <a:ext cx="8229600" cy="205740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105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影片重點:</a:t>
            </a:r>
          </a:p>
          <a:p>
            <a:pPr algn="l">
              <a:spcAft>
                <a:spcPts val="600"/>
              </a:spcAft>
            </a:pPr>
            <a:r>
              <a:rPr sz="1425" b="0" i="0">
                <a:solidFill>
                  <a:srgbClr val="E8EDF3"/>
                </a:solidFill>
                <a:latin typeface="Calibri"/>
              </a:rPr>
              <a:t>1. 場景開場 — 使用者問「新書」 → LLM 判斷要呼叫工具</a:t>
            </a:r>
          </a:p>
          <a:p>
            <a:pPr algn="l">
              <a:spcAft>
                <a:spcPts val="600"/>
              </a:spcAft>
            </a:pPr>
            <a:r>
              <a:rPr sz="1425" b="0" i="0">
                <a:solidFill>
                  <a:srgbClr val="E8EDF3"/>
                </a:solidFill>
                <a:latin typeface="Calibri"/>
              </a:rPr>
              <a:t>2. Act 1 — Parent / Child 的 spawn 與 pipe;LLM (Sonnet) 住在 Parent 內</a:t>
            </a:r>
          </a:p>
          <a:p>
            <a:pPr algn="l">
              <a:spcAft>
                <a:spcPts val="600"/>
              </a:spcAft>
            </a:pPr>
            <a:r>
              <a:rPr sz="1425" b="0" i="0">
                <a:solidFill>
                  <a:srgbClr val="E8EDF3"/>
                </a:solidFill>
                <a:latin typeface="Calibri"/>
              </a:rPr>
              <a:t>3. Act 2 — 兩階段握手:checkbox ☐打過招呼 → ✓打過招呼 → ☐拿工具 → ✓拿工具</a:t>
            </a:r>
          </a:p>
          <a:p>
            <a:pPr algn="l">
              <a:spcAft>
                <a:spcPts val="600"/>
              </a:spcAft>
            </a:pPr>
            <a:r>
              <a:rPr sz="1425" b="0" i="0">
                <a:solidFill>
                  <a:srgbClr val="E8EDF3"/>
                </a:solidFill>
                <a:latin typeface="Calibri"/>
              </a:rPr>
              <a:t>4. Act 3 — 工具呼叫:token 飛去、等候第 4 個請求、結果飛回</a:t>
            </a:r>
          </a:p>
          <a:p>
            <a:pPr algn="l">
              <a:spcAft>
                <a:spcPts val="0"/>
              </a:spcAft>
            </a:pPr>
            <a:r>
              <a:rPr sz="1425" b="0" i="0">
                <a:solidFill>
                  <a:srgbClr val="E8EDF3"/>
                </a:solidFill>
                <a:latin typeface="Calibri"/>
              </a:rPr>
              <a:t>5. Frame closure — 「查新書」→ Child 執行 → 10 筆新書 → 使用者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4350" y="1234440"/>
            <a:ext cx="2743200" cy="1714500"/>
          </a:xfrm>
          <a:prstGeom prst="rect">
            <a:avLst/>
          </a:prstGeom>
          <a:noFill/>
        </p:spPr>
        <p:txBody>
          <a:bodyPr wrap="square" lIns="34290" rIns="34290" tIns="13716" bIns="13716" anchor="ctr">
            <a:spAutoFit/>
          </a:bodyPr>
          <a:lstStyle/>
          <a:p>
            <a:pPr algn="l"/>
            <a:r>
              <a:rPr sz="13500" b="1" i="0">
                <a:solidFill>
                  <a:srgbClr val="E8793A"/>
                </a:solidFill>
                <a:latin typeface="Arial Black"/>
              </a:rPr>
              <a:t>附錄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0" y="1920239"/>
            <a:ext cx="5143500" cy="1028700"/>
          </a:xfrm>
          <a:prstGeom prst="rect">
            <a:avLst/>
          </a:prstGeom>
          <a:noFill/>
        </p:spPr>
        <p:txBody>
          <a:bodyPr wrap="square" lIns="34290" rIns="34290" tIns="13716" bIns="13716" anchor="t">
            <a:spAutoFit/>
          </a:bodyPr>
          <a:lstStyle/>
          <a:p>
            <a:pPr algn="l"/>
            <a:r>
              <a:rPr sz="4050" b="1" i="0">
                <a:solidFill>
                  <a:srgbClr val="FFFFFF"/>
                </a:solidFill>
                <a:latin typeface="Arial Black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3771900" y="2743200"/>
            <a:ext cx="1714500" cy="27432"/>
          </a:xfrm>
          <a:prstGeom prst="rect">
            <a:avLst/>
          </a:prstGeom>
          <a:solidFill>
            <a:srgbClr val="E87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71900" y="2880360"/>
            <a:ext cx="5143500" cy="1714500"/>
          </a:xfrm>
          <a:prstGeom prst="rect">
            <a:avLst/>
          </a:prstGeom>
          <a:noFill/>
        </p:spPr>
        <p:txBody>
          <a:bodyPr wrap="square" lIns="34290" rIns="3429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 i="0">
                <a:solidFill>
                  <a:srgbClr val="E8EDF3"/>
                </a:solidFill>
                <a:latin typeface="Calibri"/>
              </a:rPr>
              <a:t>給技術 curious 老師的細節</a:t>
            </a:r>
          </a:p>
          <a:p>
            <a:pPr algn="l">
              <a:spcAft>
                <a:spcPts val="450"/>
              </a:spcAft>
            </a:pPr>
            <a:r>
              <a:rPr sz="1500" b="0" i="0">
                <a:solidFill>
                  <a:srgbClr val="E8EDF3"/>
                </a:solidFill>
                <a:latin typeface="Calibri"/>
              </a:rPr>
              <a:t>• REST vs JSON-RPC 比較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8EDF3"/>
                </a:solidFill>
                <a:latin typeface="Calibri"/>
              </a:rPr>
              <a:t>• JSON-RPC 三種訊息類型(Request / Response / Notification)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1295</Words>
  <Application>Microsoft Macintosh PowerPoint</Application>
  <PresentationFormat>如螢幕大小 (16:9)</PresentationFormat>
  <Paragraphs>244</Paragraphs>
  <Slides>20</Slides>
  <Notes>20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5" baseType="lpstr">
      <vt:lpstr>Arial</vt:lpstr>
      <vt:lpstr>Arial Black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MCP Works</dc:title>
  <dc:subject>PptxGenJS Presentation</dc:subject>
  <dc:creator>NCHU MCP Workshop</dc:creator>
  <cp:lastModifiedBy>耀中 范</cp:lastModifiedBy>
  <cp:revision>2</cp:revision>
  <dcterms:created xsi:type="dcterms:W3CDTF">2026-04-10T01:18:22Z</dcterms:created>
  <dcterms:modified xsi:type="dcterms:W3CDTF">2026-04-21T09:11:28Z</dcterms:modified>
</cp:coreProperties>
</file>