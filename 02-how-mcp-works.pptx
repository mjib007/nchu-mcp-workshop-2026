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6" r:id="rId27"/>
    <p:sldId id="277" r:id="rId28"/>
    <p:sldId id="278" r:id="rId29"/>
    <p:sldId id="279" r:id="rId30"/>
    <p:sldId id="280" r:id="rId31"/>
    <p:sldId id="281" r:id="rId3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2" r:id="rId3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5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4514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MCP Works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架構、協定與連線機制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入門工作坊  ｜  第二講（50 min）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國立中興大學  ·  AI 學伴系統實務案例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1371600" cy="36576"/>
          </a:xfrm>
          <a:prstGeom prst="rect">
            <a:avLst/>
          </a:prstGeom>
          <a:solidFill>
            <a:srgbClr val="E8793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342900"/>
            <a:ext cx="8229600" cy="54864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Arial Black"/>
              </a:rPr>
              <a:t>本講大綱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96011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2870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3150" b="1" i="0">
                <a:solidFill>
                  <a:srgbClr val="E8793A"/>
                </a:solidFill>
                <a:latin typeface="Arial Black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4500" y="1371600"/>
            <a:ext cx="685800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從一個查詢開始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783080"/>
            <a:ext cx="68580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場景 → Parent 開出 Child → 兩階段握手 → 工具呼叫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63139"/>
            <a:ext cx="102870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3150" b="1" i="0">
                <a:solidFill>
                  <a:srgbClr val="E8793A"/>
                </a:solidFill>
                <a:latin typeface="Arial Black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4500" y="2263139"/>
            <a:ext cx="685800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Tool 註冊與描述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4500" y="2674620"/>
            <a:ext cx="68580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JSON Schema · description 如何影響 LLM 選擇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54679"/>
            <a:ext cx="102870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3150" b="1" i="0">
                <a:solidFill>
                  <a:srgbClr val="E8793A"/>
                </a:solidFill>
                <a:latin typeface="Arial Black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4500" y="3154679"/>
            <a:ext cx="685800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Client 整合機制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4500" y="3566159"/>
            <a:ext cx="68580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工具清單如何注入 LLM 的 system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46220"/>
            <a:ext cx="102870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3150" b="1" i="0">
                <a:solidFill>
                  <a:srgbClr val="E8793A"/>
                </a:solidFill>
                <a:latin typeface="Arial Black"/>
              </a:rPr>
              <a:t>附錄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4500" y="4046220"/>
            <a:ext cx="685800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技術細節(時間夠就講,不夠就跳)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4500" y="4457699"/>
            <a:ext cx="68580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REST vs JSON-RPC · JSON-RPC 三種訊息類型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通訊協定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 vs  JSON-RPC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REST vs JSON-RPC — 一張表看懂差異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24688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面向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JSON-RPC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核心概念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資源（URL + HTTP 動詞）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動作（method 欄位）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端點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每個資源一個 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單一入口，靠 method 區分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傳輸層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綁定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不綁定（stdio / HTTP / WS）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語意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CRUD 操作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呼叫函式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範例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/books?keyword=AI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 method: "search_books" }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40080" y="3794760"/>
            <a:ext cx="7863840" cy="59436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選 JSON-RPC 的原因：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傳輸層不綁 HTTP（可用 stdio），語意是「呼叫工具」而非「操作資源」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REST — 每個資源有自己的路徑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320040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14300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搜尋書籍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/api/books?keyword=AI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library.nchu.edu.tw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新增一本書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/api/books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"title": "深度學習入門", "author": "..."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刪除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/api/books/123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79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三個不同的 URL path + 三個不同的 HTTP method，必須透過 HTTP
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JSON-RPC — 單一入口，靠 method 區分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320040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14300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搜尋書籍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"jsonrpc": "2.0",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"method": "search_books",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"params": { "keyword": "AI" },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1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新增一本書 — 同一個入口，換 method 就好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"jsonrpc": "2.0",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"method": "create_book",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"params": { "title": "深度學習入門" },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2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79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不需要 HTTP、不需要 URL — 可以透過 stdio 傳送！
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JSON-RPC 2.0 的三種訊息類型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2377440" cy="338328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2011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Client → Server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>帶有 id 欄位
期待回應
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method: "tools/call",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params: {...},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id: 1 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377440" cy="338328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Response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1645920"/>
            <a:ext cx="2011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Server → Client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>帶有相同 id
回傳 result 或 error
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result: {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content: [...]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id: 1 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1051560"/>
            <a:ext cx="2377440" cy="3383280"/>
          </a:xfrm>
          <a:prstGeom prst="rect">
            <a:avLst/>
          </a:prstGeom>
          <a:solidFill>
            <a:srgbClr val="E8793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Notification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45920"/>
            <a:ext cx="2011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任一方向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CC"/>
                </a:solidFill>
              </a:rPr>
              <a:t>沒有 id 欄位
不期待回應（fire &amp; forget）
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method: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"notifications/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initialized" }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Server 生命週期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spawn  →  initialize  →  ready  →  shutdown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Server 的四個階段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645920" cy="146304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spawn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啟動子程序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（Python / Node）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5544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06040" y="1188720"/>
            <a:ext cx="1645920" cy="14630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交換版本與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51960" y="15544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0" y="1188720"/>
            <a:ext cx="1645920" cy="146304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0916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工具已註冊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開始接受請求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0" y="15544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537960" y="1188720"/>
            <a:ext cx="1645920" cy="1463040"/>
          </a:xfrm>
          <a:prstGeom prst="rect">
            <a:avLst/>
          </a:prstGeom>
          <a:solidFill>
            <a:srgbClr val="8899A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shutdown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7512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送出關閉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子程序結束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926080"/>
            <a:ext cx="7863840" cy="182880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306324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config.json — 定義如何 spawn 每個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"mcpServers": 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"library": 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 "python",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"args": ["${NCHU_MODULES_PATH}/library/server.py"]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}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Python 子程序，透過 stdio 通訊；Client 啟動時自動 spawn
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initialize 握手 — 交換 capabilities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657600" cy="182880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 → Server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"method": "initialize",
  "params": {
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"protocolVersion": "2024-11-05",
    "capabilities": {}
</a:t>
            </a: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 "id": 1 }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3657600" cy="182880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Server → Client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417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"result": {
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"protocolVersion": "2024-11-05",
    "capabilities": {
      "tools": { "listChanged": true }
</a:t>
            </a: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 "id": 1 }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97680" y="137160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8793A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7863840" cy="10972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握手完成後，Client 送出 notification：
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"method": "notifications/initialized" 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id → 單向通知，不期待回應。接下來 Client 呼叫 tools/list 取得工具清單。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 切換到互動動畫 Demo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mcp-connection-animation.html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展示重點：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1. spawn 子程序的實際流程（config.json → child_process.spawn）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2. initialize 握手的 JSON-RPC 訊息往返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3. notifications/initialized 通知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4. tools/list 載入工具清單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5. isConnected = true 的判定時機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註冊與描述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 ·  description  ·  LLM 的唯一線索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tools/list — Server 回傳工具定義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347472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143000"/>
            <a:ext cx="7315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Client 發送 tools/list request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"method": "tools/list", "id": 2 }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Server 回傳所有可用工具（興大系統共 33 個）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"result": { "tools": [{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"search_library_books",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"description": "搜尋中興大學圖書館的館藏書籍，支援關鍵字查詢",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"inputSchema": {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"object",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"properties": {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"keyword": { "type": "string", "description": "搜尋關鍵字" }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879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}, "required": ["keyword"]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 { "name": "get_department_courses", ... }, // ...共 33 個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}, "id": 2 }
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每個 Tool 的三個關鍵欄位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164592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97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56032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工具的唯一識別名稱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在 tool_use 回傳時引用這個名稱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"search_library_books"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1645920" cy="96012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33172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560320" y="2331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自然語言描述工具的用途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這是 LLM 判斷「要不要用」的最重要依據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"搜尋中興大學圖書館的館藏書籍"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645920" cy="96012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5661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inputSchema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60320" y="3566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定義參數格式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據此產生正確的 arguments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type: "object", properties: {...} }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description 寫得好不好，決定 LLM 選不選得對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3657600" cy="1645920"/>
          </a:xfrm>
          <a:prstGeom prst="rect">
            <a:avLst/>
          </a:prstGeom>
          <a:solidFill>
            <a:srgbClr val="C44E5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  模糊的 description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"搜尋課程"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問題：有 8 個課程相關工具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（關鍵字 / 系所 / 教師 / 類型…）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分不清楚要用哪一個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657600" cy="1645920"/>
          </a:xfrm>
          <a:prstGeom prst="rect">
            <a:avLst/>
          </a:prstGeom>
          <a:solidFill>
            <a:srgbClr val="2E8B57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  精確的 description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15087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FF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"依系所代碼查詢該系所的
 所有課程，回傳課程名稱、
 學分數、授課教師"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E0F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一看就知道：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E0F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「電機系有哪些課」→ 用這個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13716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0632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關鍵洞察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從來不會直接接觸 MCP Server。
它看到的就只有 name + description + inputSchema 這三個欄位的文字。
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description 的品質 = 工具被正確使用的機率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 整合機制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工具清單如何餵給 LLM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工具清單 → LLM 的 tools 參數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2286000" cy="73152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51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個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474720" y="1051560"/>
            <a:ext cx="2286000" cy="73152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051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收集工具清單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051560"/>
            <a:ext cx="2286000" cy="731520"/>
          </a:xfrm>
          <a:prstGeom prst="rect">
            <a:avLst/>
          </a:prstGeom>
          <a:solidFill>
            <a:srgbClr val="E8793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09360" y="1051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轉換 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 呼叫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103120"/>
            <a:ext cx="7863840" cy="256032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24028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raw-mcp-client.js — 呼叫 Claude API 時注入工具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response = await anthropic.messages.create({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model: "claude-sonnet-4-20250514",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messages: conversationHistory,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tools: allMcpTools.map(t =&gt; ({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t.name,              // 來自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description: t.description, // 來自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input_schema: t.inputSchema // 來自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}))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
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眼中的世界 — 只看到工具描述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5029200" cy="338328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097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看到的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tools:
</a:t>
            </a: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search_library_books
</a:t>
            </a:r>
            <a:r>
              <a:rPr lang="en-US" sz="9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搜尋圖書館館藏書籍
</a:t>
            </a: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get_department_courses
</a:t>
            </a:r>
            <a:r>
              <a:rPr lang="en-US" sz="9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依系所代碼查詢課程
</a:t>
            </a: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search_teachers
</a:t>
            </a:r>
            <a:r>
              <a:rPr lang="en-US" sz="9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搜尋教師資訊與研究
</a:t>
            </a: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 共 33 個
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0" y="1051560"/>
            <a:ext cx="2560320" cy="3383280"/>
          </a:xfrm>
          <a:prstGeom prst="rect">
            <a:avLst/>
          </a:prstGeom>
          <a:solidFill>
            <a:srgbClr val="3A3A4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0" y="1097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4E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看不到的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26480" y="146304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Server 怎麼啟動的
✕ Server 用什麼語言
✕ 資料庫連線方式
✕ 網路拓撲
✕ 認證機制
✕ JSON-RPC 細節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MCP 整體架構:四層分工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65860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930" y="1207008"/>
            <a:ext cx="13716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165860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Arial Black"/>
              </a:rPr>
              <a:t>Host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165860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應用程式 / 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0" y="1165860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興大 AI 學伴 web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872234"/>
            <a:ext cx="411479" cy="109728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88819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2930" y="2029967"/>
            <a:ext cx="137160" cy="603504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1988819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5B8DE8"/>
                </a:solidFill>
                <a:latin typeface="Arial Black"/>
              </a:rPr>
              <a:t>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98881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包含 LLM + MCP client 邏輯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0" y="198881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Node.js + Sonnet  (= 影片裡的 Parent)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95194"/>
            <a:ext cx="411479" cy="109728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811779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2930" y="2852927"/>
            <a:ext cx="137160" cy="603504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2811779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2DB5C9"/>
                </a:solidFill>
                <a:latin typeface="Arial Black"/>
              </a:rPr>
              <a:t>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81177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個別 MCP server 子程序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281177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Python MCP Server  (= 影片裡的 Child)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518154"/>
            <a:ext cx="411479" cy="109728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34739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2930" y="3675887"/>
            <a:ext cx="137160" cy="603504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3634739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5CB85C"/>
                </a:solidFill>
                <a:latin typeface="Arial Black"/>
              </a:rPr>
              <a:t>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63473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個別工具函式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0" y="363473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search_new_books / search_courses / search_teachers 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350" y="4766310"/>
            <a:ext cx="82296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6B6B6B"/>
                </a:solidFill>
                <a:latin typeface="Calibri"/>
              </a:rPr>
              <a:t>Host 看不到 JSON-RPC · Client 看不到 Server 實作 · LLM 只看 name + description + inputSchema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342900"/>
            <a:ext cx="8229600" cy="54864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Arial Black"/>
              </a:rPr>
              <a:t>本講重點回顧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96011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7220" y="1371600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E8793A"/>
                </a:solidFill>
                <a:latin typeface="Arial Black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71600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MCP 把 LLM ⇄ 工具的通訊抽出來,變成 Parent / Child 兩個 process 之間的雙向管道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" y="1954530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E8793A"/>
                </a:solidFill>
                <a:latin typeface="Arial Blac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54530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兩階段握手:① 互換能力 → ② 拿到工具清單;兩步都過才算真的連上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537460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E8793A"/>
                </a:solidFill>
                <a:latin typeface="Arial Black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537460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工具呼叫:LLM 決定 → token 飛去 Child → Child 執行 → 結果飛回 → 找到對應請求回給使用者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3120389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E8793A"/>
                </a:solidFill>
                <a:latin typeface="Arial Blac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20389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每個工具由 name / description / inputSchema 三個欄位定義;description 的品質直接決定 LLM 選不選得對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3703320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E8793A"/>
                </a:solidFill>
                <a:latin typeface="Arial Blac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03320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Client 把所有工具定義轉換後,注入 LLM API 的 tools 參數 — LLM 只看得到 name + description + inputSchema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" y="4663440"/>
            <a:ext cx="82296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200" b="0" i="1">
                <a:solidFill>
                  <a:srgbClr val="1C7293"/>
                </a:solidFill>
                <a:latin typeface="Calibri"/>
              </a:rPr>
              <a:t>下一講預告:Agentic Tool Loop — LLM 怎麼自主決定該呼叫哪個工具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1028700"/>
            <a:ext cx="2743200" cy="30861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0" b="1" i="0">
                <a:solidFill>
                  <a:srgbClr val="E8793A"/>
                </a:solidFill>
                <a:latin typeface="Arial Black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0" y="1920239"/>
            <a:ext cx="5143500" cy="10287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4050" b="1" i="0">
                <a:solidFill>
                  <a:srgbClr val="FFFFFF"/>
                </a:solidFill>
                <a:latin typeface="Arial Black"/>
              </a:rPr>
              <a:t>從一個查詢開始</a:t>
            </a:r>
          </a:p>
        </p:txBody>
      </p:sp>
      <p:sp>
        <p:nvSpPr>
          <p:cNvPr id="5" name="Rectangle 4"/>
          <p:cNvSpPr/>
          <p:nvPr/>
        </p:nvSpPr>
        <p:spPr>
          <a:xfrm>
            <a:off x="3771900" y="2743200"/>
            <a:ext cx="17145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71900" y="2880360"/>
            <a:ext cx="5143500" cy="6858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650" b="0" i="0">
                <a:solidFill>
                  <a:srgbClr val="E8EDF3"/>
                </a:solidFill>
                <a:latin typeface="Calibri"/>
              </a:rPr>
              <a:t>用 search_new_books 走一遍完整流程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場景:使用者問了一個問題,LLM 決定要呼叫工具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925830"/>
            <a:ext cx="1028700" cy="24002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6B6B6B"/>
                </a:solidFill>
                <a:latin typeface="Calibri"/>
              </a:rPr>
              <a:t>使用者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71900" y="1234440"/>
            <a:ext cx="4800600" cy="754380"/>
          </a:xfrm>
          <a:prstGeom prst="roundRect">
            <a:avLst>
              <a:gd name="adj" fmla="val 12000"/>
            </a:avLst>
          </a:prstGeom>
          <a:solidFill>
            <a:srgbClr val="5B8DE8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71900" y="1234440"/>
            <a:ext cx="4800600" cy="7543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Calibri"/>
              </a:rPr>
              <a:t>幫我查最近圖書館有什麼新書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3086100" y="2057400"/>
            <a:ext cx="1371600" cy="82296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2948939"/>
            <a:ext cx="5143500" cy="1234440"/>
          </a:xfrm>
          <a:prstGeom prst="roundRect">
            <a:avLst>
              <a:gd name="adj" fmla="val 12000"/>
            </a:avLst>
          </a:prstGeom>
          <a:solidFill>
            <a:srgbClr val="FCE5D1"/>
          </a:solidFill>
          <a:ln w="23812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" y="3120389"/>
            <a:ext cx="4732020" cy="89154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嗯…需要查新書資料庫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8793A"/>
                </a:solidFill>
                <a:latin typeface="Consolas"/>
              </a:rPr>
              <a:t>→ 呼叫 search_new_books 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17670"/>
            <a:ext cx="2743200" cy="24002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6B6B6B"/>
                </a:solidFill>
                <a:latin typeface="Consolas"/>
              </a:rPr>
              <a:t>LLM (Sonnet)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" y="449199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500" b="1" i="1">
                <a:solidFill>
                  <a:srgbClr val="D9534F"/>
                </a:solidFill>
                <a:latin typeface="Calibri"/>
              </a:rPr>
              <a:t>但 LLM 自己不會呼叫 — 要靠 Parent 去跟 Child 講話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Act 1 — Parent 開出 Child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86100" y="994409"/>
            <a:ext cx="41148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650" b="1" i="0">
                <a:solidFill>
                  <a:srgbClr val="E8793A"/>
                </a:solidFill>
                <a:latin typeface="Consolas"/>
              </a:rPr>
              <a:t>▶ 開出 Child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9788" y="1481328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40180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2930" y="1474469"/>
            <a:ext cx="2811780" cy="411479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930" y="1474469"/>
            <a:ext cx="28117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Parent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1954530"/>
            <a:ext cx="2811780" cy="7543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Node.js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7430" y="2832353"/>
            <a:ext cx="1028700" cy="219456"/>
          </a:xfrm>
          <a:prstGeom prst="roundRect">
            <a:avLst>
              <a:gd name="adj" fmla="val 12000"/>
            </a:avLst>
          </a:prstGeom>
          <a:solidFill>
            <a:srgbClr val="E8793A"/>
          </a:solidFill>
          <a:ln w="14287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7430" y="2832353"/>
            <a:ext cx="1028700" cy="219456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825" b="1" i="0">
                <a:solidFill>
                  <a:srgbClr val="FFFFFF"/>
                </a:solidFill>
                <a:latin typeface="Consolas"/>
              </a:rPr>
              <a:t>LLM · Sonnet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33288" y="1481328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92140" y="1440180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26430" y="1474469"/>
            <a:ext cx="2811780" cy="411479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6430" y="1474469"/>
            <a:ext cx="28117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Child 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6430" y="1954530"/>
            <a:ext cx="2811780" cy="10972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Python MCP Server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63289" y="2160270"/>
            <a:ext cx="2194561" cy="0"/>
          </a:xfrm>
          <a:prstGeom prst="line">
            <a:avLst/>
          </a:prstGeom>
          <a:ln w="14287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463289" y="2434590"/>
            <a:ext cx="2194561" cy="0"/>
          </a:xfrm>
          <a:prstGeom prst="line">
            <a:avLst/>
          </a:prstGeom>
          <a:ln w="14287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4350" y="3429000"/>
            <a:ext cx="8572500" cy="150876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Parent (Node.js) 用 spawn() 開出 Child (Python) 子程序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LLM (Sonnet) 是 Parent 裡的一個 client component — 它住在 Parent 內,不會自己出去呼叫工具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兩條 stdio pipe 串通 → Parent ⇄ Child 可以雙向講話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Act 2 — 兩階段握手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9788" y="1412748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930" y="1405889"/>
            <a:ext cx="2674620" cy="411479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405889"/>
            <a:ext cx="267462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Parent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" y="1885950"/>
            <a:ext cx="2674620" cy="4114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Node.js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" y="2990087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2948939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2930" y="2983229"/>
            <a:ext cx="2674620" cy="411479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2930" y="2983229"/>
            <a:ext cx="267462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Child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" y="3463289"/>
            <a:ext cx="2674620" cy="4114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Python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20239" y="2400300"/>
            <a:ext cx="0" cy="548639"/>
          </a:xfrm>
          <a:prstGeom prst="line">
            <a:avLst/>
          </a:prstGeom>
          <a:ln w="28575">
            <a:solidFill>
              <a:srgbClr val="E879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20239" y="3977639"/>
            <a:ext cx="0" cy="480061"/>
          </a:xfrm>
          <a:prstGeom prst="line">
            <a:avLst/>
          </a:prstGeom>
          <a:ln w="28575">
            <a:solidFill>
              <a:srgbClr val="5CB8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429000" y="2503170"/>
            <a:ext cx="27432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E8793A"/>
                </a:solidFill>
                <a:latin typeface="Calibri"/>
              </a:rPr>
              <a:t>→ 我來了 / 給我工具清單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4011929"/>
            <a:ext cx="27432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CB85C"/>
                </a:solidFill>
                <a:latin typeface="Calibri"/>
              </a:rPr>
              <a:t>← 我能做什麼 / 8 個工具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1371600"/>
            <a:ext cx="3223260" cy="2606039"/>
          </a:xfrm>
          <a:prstGeom prst="roundRect">
            <a:avLst>
              <a:gd name="adj" fmla="val 12000"/>
            </a:avLst>
          </a:prstGeom>
          <a:solidFill>
            <a:srgbClr val="E8EDF3"/>
          </a:solidFill>
          <a:ln w="14287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92140" y="1508760"/>
            <a:ext cx="281178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Arial Black"/>
              </a:rPr>
              <a:t>握手進度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988819"/>
            <a:ext cx="342900" cy="342900"/>
          </a:xfrm>
          <a:prstGeom prst="roundRect">
            <a:avLst>
              <a:gd name="adj" fmla="val 12000"/>
            </a:avLst>
          </a:prstGeom>
          <a:solidFill>
            <a:srgbClr val="5CB85C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1988819"/>
            <a:ext cx="3429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0779" y="1988819"/>
            <a:ext cx="24003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5CB85C"/>
                </a:solidFill>
                <a:latin typeface="Calibri"/>
              </a:rPr>
              <a:t>Step 1:打過招呼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2640329"/>
            <a:ext cx="342900" cy="342900"/>
          </a:xfrm>
          <a:prstGeom prst="roundRect">
            <a:avLst>
              <a:gd name="adj" fmla="val 12000"/>
            </a:avLst>
          </a:prstGeom>
          <a:solidFill>
            <a:srgbClr val="5CB85C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0" y="2640329"/>
            <a:ext cx="3429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0779" y="2640329"/>
            <a:ext cx="24003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5CB85C"/>
                </a:solidFill>
                <a:latin typeface="Calibri"/>
              </a:rPr>
              <a:t>Step 2:拿到工具清單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2140" y="3291839"/>
            <a:ext cx="28117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350" b="1" i="1">
                <a:solidFill>
                  <a:srgbClr val="1E2761"/>
                </a:solidFill>
                <a:latin typeface="Calibri"/>
              </a:rPr>
              <a:t>兩個都打勾 才算真的連上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350" y="438912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350" b="0" i="1">
                <a:solidFill>
                  <a:srgbClr val="6B6B6B"/>
                </a:solidFill>
                <a:latin typeface="Calibri"/>
              </a:rPr>
              <a:t>重點:中間時刻(Step 1 ✓ 但 Step 2 ✗)Parent 還不知道工具清單,送 tool call 也沒用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Act 3 — 工具呼叫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9788" y="1207008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165860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930" y="1200150"/>
            <a:ext cx="2400300" cy="411479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200150"/>
            <a:ext cx="240030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Parent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" y="1680210"/>
            <a:ext cx="2400300" cy="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Node.js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5950" y="1803654"/>
            <a:ext cx="1028700" cy="219456"/>
          </a:xfrm>
          <a:prstGeom prst="roundRect">
            <a:avLst>
              <a:gd name="adj" fmla="val 12000"/>
            </a:avLst>
          </a:prstGeom>
          <a:solidFill>
            <a:srgbClr val="E8793A"/>
          </a:solidFill>
          <a:ln w="14287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85950" y="1803654"/>
            <a:ext cx="1028700" cy="219456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825" b="1" i="0">
                <a:solidFill>
                  <a:srgbClr val="FFFFFF"/>
                </a:solidFill>
                <a:latin typeface="Consolas"/>
              </a:rPr>
              <a:t>LLM · Sonnet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3348" y="1207008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165860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6490" y="1200150"/>
            <a:ext cx="2400300" cy="411479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6490" y="1200150"/>
            <a:ext cx="240030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6490" y="1680210"/>
            <a:ext cx="2400300" cy="34289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Python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17520" y="1645919"/>
            <a:ext cx="3154680" cy="0"/>
          </a:xfrm>
          <a:prstGeom prst="line">
            <a:avLst/>
          </a:prstGeom>
          <a:ln w="28575">
            <a:solidFill>
              <a:srgbClr val="E879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771900" y="1405889"/>
            <a:ext cx="1714500" cy="377190"/>
          </a:xfrm>
          <a:prstGeom prst="roundRect">
            <a:avLst>
              <a:gd name="adj" fmla="val 12000"/>
            </a:avLst>
          </a:prstGeom>
          <a:solidFill>
            <a:srgbClr val="E8793A"/>
          </a:solidFill>
          <a:ln w="19050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71900" y="1405889"/>
            <a:ext cx="17145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825" b="1" i="0">
                <a:solidFill>
                  <a:srgbClr val="FFFFFF"/>
                </a:solidFill>
                <a:latin typeface="Consolas"/>
              </a:rPr>
              <a:t>search_new_books("新書")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263139"/>
            <a:ext cx="2468880" cy="411479"/>
          </a:xfrm>
          <a:prstGeom prst="roundRect">
            <a:avLst>
              <a:gd name="adj" fmla="val 12000"/>
            </a:avLst>
          </a:prstGeom>
          <a:solidFill>
            <a:srgbClr val="FCE5D1"/>
          </a:solidFill>
          <a:ln w="19050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263139"/>
            <a:ext cx="24688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E8793A"/>
                </a:solidFill>
                <a:latin typeface="Calibri"/>
              </a:rPr>
              <a:t>等候第 4 個請求 · 30s 內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017520" y="3086100"/>
            <a:ext cx="3154680" cy="0"/>
          </a:xfrm>
          <a:prstGeom prst="line">
            <a:avLst/>
          </a:prstGeom>
          <a:ln w="28575">
            <a:solidFill>
              <a:srgbClr val="5CB8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771900" y="2866644"/>
            <a:ext cx="1714500" cy="377190"/>
          </a:xfrm>
          <a:prstGeom prst="roundRect">
            <a:avLst>
              <a:gd name="adj" fmla="val 12000"/>
            </a:avLst>
          </a:prstGeom>
          <a:solidFill>
            <a:srgbClr val="5CB85C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1900" y="2866644"/>
            <a:ext cx="17145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結果 · 10 筆新書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29000"/>
            <a:ext cx="2468880" cy="411479"/>
          </a:xfrm>
          <a:prstGeom prst="roundRect">
            <a:avLst>
              <a:gd name="adj" fmla="val 12000"/>
            </a:avLst>
          </a:prstGeom>
          <a:solidFill>
            <a:srgbClr val="DBEEDB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429000"/>
            <a:ext cx="24688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5CB85C"/>
                </a:solidFill>
                <a:latin typeface="Calibri"/>
              </a:rPr>
              <a:t>第 4 個請求 ✓ 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50" y="408051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完整流程:LLM 決定 → token 飛去 Child → Child 執行 → 結果飛回 → Parent 找到對應請求 → 回給使用者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350" y="449199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6B6B6B"/>
                </a:solidFill>
                <a:latin typeface="Calibri"/>
              </a:rPr>
              <a:t>「第 4 個請求」是 JSON-RPC 給每個 request 的編號,讓 response 能對得回來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1028700"/>
            <a:ext cx="8229600" cy="8229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4800" b="1" i="0">
                <a:solidFill>
                  <a:srgbClr val="E8793A"/>
                </a:solidFill>
                <a:latin typeface="Arial Black"/>
              </a:rPr>
              <a:t>→  切換到影片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4350" y="2057400"/>
            <a:ext cx="8229600" cy="41147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650" b="0" i="0">
                <a:solidFill>
                  <a:srgbClr val="FFFFFF"/>
                </a:solidFill>
                <a:latin typeface="Consolas"/>
              </a:rPr>
              <a:t>02-mcp-connection-video.mp4   ·   2:17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2640330"/>
            <a:ext cx="17145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4350" y="2743200"/>
            <a:ext cx="8229600" cy="205740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105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影片重點: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1. 場景開場 — 使用者問「新書」 → LLM 判斷要呼叫工具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2. Act 1 — Parent / Child 的 spawn 與 pipe;LLM (Sonnet) 住在 Parent 內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3. Act 2 — 兩階段握手:checkbox ☐打過招呼 → ✓打過招呼 → ☐拿工具 → ✓拿工具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4. Act 3 — 工具呼叫:token 飛去、等候第 4 個請求、結果飛回</a:t>
            </a:r>
          </a:p>
          <a:p>
            <a:pPr algn="l">
              <a:spcAft>
                <a:spcPts val="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5. Frame closure — 「查新書」→ Child 執行 → 10 筆新書 → 使用者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1234440"/>
            <a:ext cx="2743200" cy="17145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0" b="1" i="0">
                <a:solidFill>
                  <a:srgbClr val="E8793A"/>
                </a:solidFill>
                <a:latin typeface="Arial Black"/>
              </a:rPr>
              <a:t>附錄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0" y="1920239"/>
            <a:ext cx="5143500" cy="10287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4050" b="1" i="0">
                <a:solidFill>
                  <a:srgbClr val="FFFFFF"/>
                </a:solidFill>
                <a:latin typeface="Arial Black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3771900" y="2743200"/>
            <a:ext cx="17145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71900" y="2880360"/>
            <a:ext cx="5143500" cy="171450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8EDF3"/>
                </a:solidFill>
                <a:latin typeface="Calibri"/>
              </a:rPr>
              <a:t>給技術 curious 老師的細節</a:t>
            </a:r>
          </a:p>
          <a:p>
            <a:pPr algn="l">
              <a:spcAft>
                <a:spcPts val="450"/>
              </a:spcAft>
            </a:pPr>
            <a:r>
              <a:rPr sz="1500" b="0" i="0">
                <a:solidFill>
                  <a:srgbClr val="E8EDF3"/>
                </a:solidFill>
                <a:latin typeface="Calibri"/>
              </a:rPr>
              <a:t>• REST vs JSON-RPC 比較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8EDF3"/>
                </a:solidFill>
                <a:latin typeface="Calibri"/>
              </a:rPr>
              <a:t>• JSON-RPC 三種訊息類型(Request / Response / Notification)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1295</Words>
  <Application>Microsoft Macintosh PowerPoint</Application>
  <PresentationFormat>如螢幕大小 (16:9)</PresentationFormat>
  <Paragraphs>244</Paragraphs>
  <Slides>20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5" baseType="lpstr">
      <vt:lpstr>Arial</vt:lpstr>
      <vt:lpstr>Arial Black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MCP Works</dc:title>
  <dc:subject>PptxGenJS Presentation</dc:subject>
  <dc:creator>NCHU MCP Workshop</dc:creator>
  <cp:lastModifiedBy>耀中 范</cp:lastModifiedBy>
  <cp:revision>2</cp:revision>
  <dcterms:created xsi:type="dcterms:W3CDTF">2026-04-10T01:18:22Z</dcterms:created>
  <dcterms:modified xsi:type="dcterms:W3CDTF">2026-04-21T09:11:28Z</dcterms:modified>
</cp:coreProperties>
</file>