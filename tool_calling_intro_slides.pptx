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208" y="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92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36576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Agent 課程・概念講義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64592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怎麼「呼叫」工具？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11480" y="26060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Bash 出發到 Agentic Loop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范耀中  Yao-Chung Fan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43708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國立中興大學  資訊工程系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329184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3F0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3429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不執行任何東西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09360" y="3886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所有「執行」都發生在你寫的程式裡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201168" cy="20116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00  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本日三個問題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32588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從具體到抽象、再回到具體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4340" y="182880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FF4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294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62940" y="2834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什麼是 Bash？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2940" y="34290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Linux 的 shell 到底在做什麼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2940" y="3794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 — 5 分鐘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68980" y="182880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3F0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758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497580" y="2834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怎麼達成 tool calling？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497580" y="34290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訓練、格式、Runtime — 三層架構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97580" y="3794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 — 15 分鐘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03620" y="182880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222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6332220" y="2834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字串怎麼變成「真的執行」？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332220" y="34290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prompt 到 subprocess.run() 的六步走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32220" y="3794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Q3 — 15 分鐘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0" y="47320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20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201168" cy="20116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 BASH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Bash：使用者跟 Linux 核心之間的翻譯員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32588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你在終端機打的每個指令，都是先進到 Bash 手裡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Bourne Again Shell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1989 年由 Brian Fox 為 GNU 計畫所寫，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取代並致敬更早的 Bourne Shell (sh)。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目前是大多數 Linux 發行版的預設 shell。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其他常見 shell：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zsh — macOS 現在的預設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fish — 語法比較友善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sh — POSIX 標準、最小公倍數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dash — Ubuntu 的 /bin/sh 其實是它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37760" y="1737360"/>
            <a:ext cx="3657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7373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937760" y="2697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打入 ls -la | grep .py | wc -l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37760" y="2971800"/>
            <a:ext cx="3657600" cy="640080"/>
          </a:xfrm>
          <a:prstGeom prst="roundRect">
            <a:avLst>
              <a:gd name="adj" fmla="val 11429"/>
            </a:avLst>
          </a:prstGeom>
          <a:solidFill>
            <a:srgbClr val="FFF4ED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971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Bash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93776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↓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937760" y="3931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解析、fork、執行 ls / grep / wc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37760" y="4206240"/>
            <a:ext cx="3657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42062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Linux Kernel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0" y="47320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20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201168" cy="20116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 BASH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Bash 本質上就是一個 REPL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32588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讀取（Read）→ 解析執行（Eval）→ 列印（Print）→ 等下一條（Loop）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58952" y="1828800"/>
            <a:ext cx="1783080" cy="1188720"/>
          </a:xfrm>
          <a:prstGeom prst="roundRect">
            <a:avLst>
              <a:gd name="adj" fmla="val 7692"/>
            </a:avLst>
          </a:prstGeom>
          <a:solidFill>
            <a:srgbClr val="FFF4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965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200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0392" y="2423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讀使用者打的指令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96312" y="22402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706624" y="1828800"/>
            <a:ext cx="1783080" cy="1188720"/>
          </a:xfrm>
          <a:prstGeom prst="roundRect">
            <a:avLst>
              <a:gd name="adj" fmla="val 7692"/>
            </a:avLst>
          </a:prstGeom>
          <a:solidFill>
            <a:srgbClr val="FFF4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06624" y="1965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200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98064" y="2423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解析、執行對應程式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43984" y="22402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654296" y="1828800"/>
            <a:ext cx="1783080" cy="1188720"/>
          </a:xfrm>
          <a:prstGeom prst="roundRect">
            <a:avLst>
              <a:gd name="adj" fmla="val 7692"/>
            </a:avLst>
          </a:prstGeom>
          <a:solidFill>
            <a:srgbClr val="FFF4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54296" y="1965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200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PRINT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45736" y="2423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stdout/stderr 印出來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91656" y="22402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601968" y="1828800"/>
            <a:ext cx="1783080" cy="1188720"/>
          </a:xfrm>
          <a:prstGeom prst="roundRect">
            <a:avLst>
              <a:gd name="adj" fmla="val 7692"/>
            </a:avLst>
          </a:prstGeom>
          <a:solidFill>
            <a:srgbClr val="FFF4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01968" y="1965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200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LOOP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93408" y="2423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等下一條指令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383280"/>
            <a:ext cx="8321040" cy="1325880"/>
          </a:xfrm>
          <a:prstGeom prst="roundRect">
            <a:avLst>
              <a:gd name="adj" fmla="val 5517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5204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教學洞見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88620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Bash 跟 Python interactive shell 是同一類東西 —— 只是它的「值」不是物件，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而是程式的 exit code 和 stdout/stderr。這個觀念可以串到 Unix philosophy 的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「everything is a stream」 —— 一切都是文字流，組合性就從這裡長出來。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0" y="47320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20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 LLM TOOL CALLING・核心觀念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從來沒有「呼叫」過任何工具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它只會做一件事 —— 生成下一個 token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108960"/>
            <a:ext cx="3749040" cy="1554480"/>
          </a:xfrm>
          <a:prstGeom prst="roundRect">
            <a:avLst>
              <a:gd name="adj" fmla="val 4706"/>
            </a:avLst>
          </a:prstGeom>
          <a:solidFill>
            <a:srgbClr val="F3F0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246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做的事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生成「長得像工具呼叫的」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token 序列 —— 一段 JSON 字串。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 LLM 來說，這跟生成一首詩、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或一段對話沒有任何差別。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3108960"/>
            <a:ext cx="3749040" cy="1554480"/>
          </a:xfrm>
          <a:prstGeom prst="roundRect">
            <a:avLst>
              <a:gd name="adj" fmla="val 4706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3246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Harness 做的事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36118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把那段 JSON 攔下、解析、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實際執行對應的函式/指令。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然後把結果包成 tool_result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塞回對話、再呼叫 LLM 一次。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0" y="47320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/ 20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 LLM TOOL CALLING・對照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Bash 跟 LLM 的 dispatch 本質完全不同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32588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都是「看到字串就執行」，但決策機制天差地別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A580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Bash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7C3AE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LLM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看到指令時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deterministic parser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語法規則寫死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probabilistic next-token predictor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訓練出來的傾向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看到 ls -la 會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一定執行 ls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語法保證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不一定，看訓練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統計湧現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決策依據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BNF / yacc-style 文法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RLHF / SFT 學到的 pattern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工程含義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錯了是 bug、可以靠規則修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錯了是 prompt / 訓練問題、難 debug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8229600" y="47320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/ 20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 LLM TOOL CALLING・三層架構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技術上要拆三層來看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32588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從「模型怎麼學會」一路到「程式怎麼接手執行」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09728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288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訓練層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TRAINING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834640" y="1828800"/>
            <a:ext cx="585216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19385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instruction tuning / RLHF / Toolformer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0" y="2286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讓模型學會「在這種語境下該吐工具呼叫格式」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109728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9260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格式層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85800" y="2971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FORMAT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834640" y="2926080"/>
            <a:ext cx="585216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30358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JSON schema / constrained decoding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17520" y="33832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保證模型吐出來的字串格式合法、parser 能讀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10972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0233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Runtime 層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5800" y="4069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AGENTIC LOOP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834640" y="4023360"/>
            <a:ext cx="585216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0" y="41330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harness 攔下、執行、塞回、再叫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017520" y="4480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這才是真正讓 tool calling「動起來」的地方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0" y="47320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/ 20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02・①  LLM TOOL CALLING・訓練層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訓練層：模型怎麼學會「該吐 JSON」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32588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資料形塑傾向 —— 不是規則，是統計湧現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Instruction Tuning / RLHF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訓練資料放大量多輪對話樣本：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使用者問問題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助手判斷需要工具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助手輸出工具呼叫格式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工具回傳結果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助手綜合回答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久了模型就學會「這種語境下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該輸出這種格式」 —— 是傾向，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不是規則。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69164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3F0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源頭：Toolformer (NeurIPS 2023)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2194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Schick et al. 用 self-supervised 方法，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 LM 在文字中插入 API call、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再用 perplexity 過濾出「有用的」呼叫。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310896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後來：商用模型的 fine-tune 策略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36118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SFT + RLHF 精緻化工具使用行為，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且針對下列情境個別 fine-tune：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multi-turn   • parallel tool use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error recovery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0" y="47320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/ 20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02・②  LLM TOOL CALLING・格式層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格式層：JSON 怎麼長、怎麼保證合法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32588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tool schema 序列化進 prompt —— 模型看到的「工具」其實是文字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8620" y="169164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1500" y="1828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1500" y="21488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JSON function calling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1500" y="2560320"/>
            <a:ext cx="2331720" cy="100584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" y="26060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{"tool_calls": [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{"name": "...",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"arguments": {...}}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]}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23260" y="169164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3F0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6140" y="1828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Anthropic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06140" y="21488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&lt;tool_use&gt; 結構化 block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06140" y="2560320"/>
            <a:ext cx="2331720" cy="100584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97580" y="26060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{"type": "tool_use",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"name": "...",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"input": {...}}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57900" y="169164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FF4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40780" y="1828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Open-source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40780" y="21488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 token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40780" y="2560320"/>
            <a:ext cx="2331720" cy="100584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2220" y="26060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&lt;|tool_call|&gt;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{"name": "...",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"args": {...}}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&lt;|/tool_call|&gt;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3794760"/>
            <a:ext cx="8321040" cy="960120"/>
          </a:xfrm>
          <a:prstGeom prst="roundRect">
            <a:avLst>
              <a:gd name="adj" fmla="val 7619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9319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Constrained decoding 的重要 caveat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429768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只保證「格式合法」 —— </a:t>
            </a: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「該不該呼叫」「呼叫哪個」「填什麼參數」仍然是模型語意判斷的結果，跟 grammar-constrained sampling 無關。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0" y="47320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/ 20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02・③  LLM TOOL CALLING・RUNTIME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Runtime 層：tool calling 動起來的地方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32588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agentic loop —— 所有 agent 框架的核心骨架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28216"/>
            <a:ext cx="292608" cy="292608"/>
          </a:xfrm>
          <a:prstGeom prst="ellipse">
            <a:avLst/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28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69164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使用者訊息進 model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292608" cy="292608"/>
          </a:xfrm>
          <a:prstGeom prst="ellipse">
            <a:avLst/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48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11226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Model 生成輸出（純文字 or tool_use block）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69464"/>
            <a:ext cx="292608" cy="292608"/>
          </a:xfrm>
          <a:prstGeom prst="ellipse">
            <a:avLst/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569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53288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Harness 解析；若是 tool call → 攔下、執行對應 function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990088"/>
            <a:ext cx="292608" cy="292608"/>
          </a:xfrm>
          <a:prstGeom prst="ellipse">
            <a:avLst/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990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295351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工具結果包成 tool_result message 塞回 model context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410712"/>
            <a:ext cx="292608" cy="292608"/>
          </a:xfrm>
          <a:prstGeom prst="ellipse">
            <a:avLst/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4107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37413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Model 看結果繼續生成 — 可能再呼叫工具，可能產出最終答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831336"/>
            <a:ext cx="292608" cy="292608"/>
          </a:xfrm>
          <a:prstGeom prst="ellipse">
            <a:avLst/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831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⑥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79476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迴圈直到 model 停止呼叫工具，或達到 step / token limit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040880" y="1691640"/>
            <a:ext cx="1691640" cy="2560320"/>
          </a:xfrm>
          <a:prstGeom prst="roundRect">
            <a:avLst>
              <a:gd name="adj" fmla="val 4324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0" y="18288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通用骨架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223760" y="2194560"/>
            <a:ext cx="1325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LangChain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AutoGPT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 Code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神農 Agent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差異只在 prompt 結構、錯誤處理、step 控制、多 agent 協作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343400"/>
            <a:ext cx="7223760" cy="54864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4805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 </a:t>
            </a:r>
            <a:r>
              <a:rPr lang="en-US" sz="12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框架不同、骨架一樣。差別在工程細節，不在演算法。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0" y="47320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20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02・補  LLM TOOL CALLING・MCP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MCP 在這個架構裡的位置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32588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Model Context Protocol — tool calling 生態的 USB-C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MCP 把這三件事標準化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工具如何被描述給模型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 (schema 序列化)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工具如何被呼叫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 (call 格式 + transport)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結果如何回傳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 (result 格式 + 錯誤處理)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i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跨 LLM 客戶端的協定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06340" y="178308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06340" y="1783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 Desktop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40780" y="178308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40780" y="1783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Cursor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475220" y="178308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75220" y="1783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其他客戶端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37760" y="22860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↓     ↓     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937760" y="2606040"/>
            <a:ext cx="3794760" cy="640080"/>
          </a:xfrm>
          <a:prstGeom prst="roundRect">
            <a:avLst>
              <a:gd name="adj" fmla="val 11429"/>
            </a:avLst>
          </a:prstGeom>
          <a:solidFill>
            <a:srgbClr val="F3F0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60604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MCP Protocol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37760" y="32918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↓     ↓     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06340" y="361188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06340" y="3611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File System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40780" y="361188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40780" y="3611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DB Query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475220" y="361188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75220" y="3611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Plant Doctor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37760" y="41605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 MCP server 同時被多客戶端複用 —— 工具實作者不必為每個 LLM 重寫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229600" y="47320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20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02・補  LLM TOOL CALLING・教學點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三個常被忽略、但很值得拿出來講的點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32588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這些是學術 paper 帶過、production 工程花最多時間的地方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9748" y="1691640"/>
            <a:ext cx="2788920" cy="2971800"/>
          </a:xfrm>
          <a:prstGeom prst="roundRect">
            <a:avLst>
              <a:gd name="adj" fmla="val 3279"/>
            </a:avLst>
          </a:prstGeom>
          <a:solidFill>
            <a:srgbClr val="F3F0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2628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2628" y="246888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tool description 本身就是 prompt engineering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2628" y="3383280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模型怎麼決定要呼叫哪個工具，極度依賴 description 寫得好不好。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模糊 → 亂呼叫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過長 → 吃 context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跟其他工具語意重疊 → 選錯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是 agent 系統最常 debug 的點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77540" y="1691640"/>
            <a:ext cx="2788920" cy="2971800"/>
          </a:xfrm>
          <a:prstGeom prst="roundRect">
            <a:avLst>
              <a:gd name="adj" fmla="val 3279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042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360420" y="246888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tool calling 本質上是 in-context learning 的特例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60420" y="3383280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prompt 裡塞 schema、訓練時看過類似格式，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模型就在合適時機產出合適格式。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沒有什麼神祕機制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跟 few-shot prompting 是同一回事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5332" y="1691640"/>
            <a:ext cx="2788920" cy="2971800"/>
          </a:xfrm>
          <a:prstGeom prst="roundRect">
            <a:avLst>
              <a:gd name="adj" fmla="val 3279"/>
            </a:avLst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8212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268212" y="246888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錯誤處理才是 agent 工程的核心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8212" y="3383280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Tool 回傳錯誤、超時、格式不如預期 —— 都會回到 context。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Model 要能：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讀懂錯誤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決定 retry / 換工具 / 放棄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Production 上絕大多數工程心力都花在這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9600" y="47320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20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 STRING → EXECUTION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把抽象的三層架構落地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32588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接下來用一個具體任務、走六個 stage、看字串怎麼變成執行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7315200" cy="1371600"/>
          </a:xfrm>
          <a:prstGeom prst="roundRect">
            <a:avLst>
              <a:gd name="adj" fmla="val 10000"/>
            </a:avLst>
          </a:prstGeom>
          <a:solidFill>
            <a:srgbClr val="F0FD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9659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使用者輸入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「我家目錄底下有幾個 .py 檔？」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14400" y="3520440"/>
            <a:ext cx="731520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6576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我們會看到的六個 stage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40233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開發者準備 prompt + tool schema   ② API 發出   </a:t>
            </a:r>
            <a:r>
              <a:rPr lang="en-US" sz="12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LLM 回傳 JSON   </a:t>
            </a:r>
            <a:r>
              <a:rPr lang="en-US" sz="1200" b="1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Harness 解析 + 執行  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結果塞回 context   ⑥ LLM 產出最終答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0" y="47320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/ 20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03・STAGE 1  STRING → EXECUTION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Stage 1：開發者準備 tool schema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32588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tools 只是個 Python dict —— 最終會被 SDK 序列化成 JSON 塞進 prompt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5029200" cy="3154680"/>
          </a:xfrm>
          <a:prstGeom prst="roundRect">
            <a:avLst>
              <a:gd name="adj" fmla="val 173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28800"/>
            <a:ext cx="46634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anthropic, subprocess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anthropic.Anthropic()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= [{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"execute_bash",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"description": "Execute a bash command",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"input_schema":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"type": "object",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"properties":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"command": {"type": "string"}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"required": ["command"]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 = [{"role": "user",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"content": "我家 .py 有幾個？"}]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0" y="1691640"/>
            <a:ext cx="3063240" cy="1371600"/>
          </a:xfrm>
          <a:prstGeom prst="roundRect">
            <a:avLst>
              <a:gd name="adj" fmla="val 5333"/>
            </a:avLst>
          </a:prstGeom>
          <a:solidFill>
            <a:srgbClr val="F3F0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0" y="18288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52160" y="219456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tools 只是個 dict。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5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它沒有任何「綁定的函式指標」。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5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純粹是被 SDK 序列化的資料結構。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0" y="3200400"/>
            <a:ext cx="3063240" cy="1508760"/>
          </a:xfrm>
          <a:prstGeom prst="roundRect">
            <a:avLst>
              <a:gd name="adj" fmla="val 4848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33375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模型看到什麼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52160" y="370332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prompt 裡讀到「有一個叫 execute_bash 的東西，描述是..., 參數長這樣...」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5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跟讀到自然語言描述沒有本質差別。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0" y="47320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/ 20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03・STAGE 2-3  STRING → EXECUTION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Stage 2-3：LLM 回傳的就是這段字串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32588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 LLM 全部的輸出 —— 一段字串。它沒有「呼叫」任何東西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5486400" cy="3017520"/>
          </a:xfrm>
          <a:prstGeom prst="roundRect">
            <a:avLst>
              <a:gd name="adj" fmla="val 181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2880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"msg_abc123",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"stop_reason": "tool_use",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"content": [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"text",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"text": "讓我用 find 幫你數一下。"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"tool_use",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"id": "toolu_01XYZ",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"name": "execute_bash",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"input":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"command": "find ~ -name '*.py' -type f | wc -l"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3F0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8288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stop_reason 是訊號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21945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tool_use 告訴 harness：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「我產出了 tool_use block，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輪到你接手了。」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31546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3291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本質是 token 序列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9360" y="36576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更底層上，模型吐的是：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5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&lt;tool_use&gt;{...}&lt;/tool_use&gt;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5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 SDK 解析、constrained decoding 確保合法。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0" y="47320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/ 20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03・STAGE 4  STRING → EXECUTION・最關鍵那一步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Stage 4：Harness 解析 + 真的下去執行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32588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subprocess.run() —— 字串穿越文字宇宙、進入真實電腦的那一刻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5212080" cy="3017520"/>
          </a:xfrm>
          <a:prstGeom prst="roundRect">
            <a:avLst>
              <a:gd name="adj" fmla="val 181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2880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block in response.content: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block.type == "tool_use" \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and block.name == "execute_bash":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cmd = block.input["command"]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= "find ~ -name '*.py' | wc -l"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↓↓↓ 這一行才是真的執行 ↓↓↓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subprocess.run(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cmd, shell=True,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capture_output=True,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text=True, timeout=30,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tool_output = result.stdout.strip()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→ "42"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52160" y="1691640"/>
            <a:ext cx="288036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0" y="18288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信任邊界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35040" y="21945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subprocess.run(cmd, shell=True)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5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LLM 的字串交給 OS shell。從這一刻起，跟你親手打 100% 一樣。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52160" y="3246120"/>
            <a:ext cx="288036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33832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OS 在這一刻做的事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35040" y="37490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/bin/bash 解析字串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fork 出 find / wc processes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用 pipe 串起來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stdout 回傳 "42"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0" y="47320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 / 20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03・STAGE 5-6  STRING → EXECUTION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Stage 5-6：塞回 context、產出最終答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32588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tool_result 是用 role="user" 塞回 —— 從 model 角度看，外面世界回了一句話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28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messages 陣列現在長這樣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[user]       "我家 .py 有幾個？"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[assistant]  "讓我用 find..." +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tool_use{cmd="find ~ ..."}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[user]       tool_result{id=toolu_01XYZ,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content="42"}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1691640"/>
            <a:ext cx="3063240" cy="1828800"/>
          </a:xfrm>
          <a:prstGeom prst="roundRect">
            <a:avLst>
              <a:gd name="adj" fmla="val 4000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0" y="18288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再次呼叫 API 得到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52160" y="219456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"stop_reason": "end_turn",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"content": [{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"type": "text",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"text": "總共 42 個 .py 檔"}]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65760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7947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 tool_result 用 role="user"？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41605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 model 來說，它中斷自己去問了外面世界一個問題，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外面世界回了一句話。現在輪到 model 繼續講。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36576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3F0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stop_reason 切換的意義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4160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tool_use → 還要再呼叫工具，迴圈繼續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end_turn → 結束，把文字 print 給使用者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0" y="47320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 / 20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03・回顧  STRING → EXECUTION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六個 stage 一張圖看完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8229600" y="47320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 / 20</a:t>
            </a:r>
            <a:endParaRPr lang="en-US" sz="1000" dirty="0"/>
          </a:p>
        </p:txBody>
      </p:sp>
      <p:pic>
        <p:nvPicPr>
          <p:cNvPr id="38" name="圖形 37">
            <a:extLst>
              <a:ext uri="{FF2B5EF4-FFF2-40B4-BE49-F238E27FC236}">
                <a16:creationId xmlns:a16="http://schemas.microsoft.com/office/drawing/2014/main" id="{CC6AF972-F4A2-6D48-7A1C-E9542C0EDC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1033405"/>
            <a:ext cx="5822635" cy="411009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 安全意涵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為什麼大家對 agent 系統提心吊膽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32588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subprocess.run(LLM 輸出) 本質上就是 eval(LLM 輸出)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8321040" cy="777240"/>
          </a:xfrm>
          <a:prstGeom prst="roundRect">
            <a:avLst>
              <a:gd name="adj" fmla="val 9412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288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 </a:t>
            </a:r>
            <a:r>
              <a:rPr lang="en-US" sz="13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 user prompt 被 prompt injection 攻擊，LLM 可能會生出  </a:t>
            </a:r>
            <a:r>
              <a:rPr lang="en-US" sz="13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-rf ~</a:t>
            </a:r>
            <a:r>
              <a:rPr lang="en-US" sz="13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， harness 不長眼就會照跑。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9748" y="2743200"/>
            <a:ext cx="2788920" cy="1920240"/>
          </a:xfrm>
          <a:prstGeom prst="roundRect">
            <a:avLst>
              <a:gd name="adj" fmla="val 4762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" y="2880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2628" y="33832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Sandbox / Container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2628" y="38404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subprocess.run 關進 Docker container 或 firejail —— 即使被攻擊，傷害只在容器內。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77540" y="2743200"/>
            <a:ext cx="2788920" cy="1920240"/>
          </a:xfrm>
          <a:prstGeom prst="roundRect">
            <a:avLst>
              <a:gd name="adj" fmla="val 4762"/>
            </a:avLst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0420" y="2880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60420" y="33832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Allow-list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60420" y="38404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預先列出可以執行的命令白名單（例如只准 find / ls / grep），其他通通拒絕。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5332" y="2743200"/>
            <a:ext cx="2788920" cy="1920240"/>
          </a:xfrm>
          <a:prstGeom prst="roundRect">
            <a:avLst>
              <a:gd name="adj" fmla="val 4762"/>
            </a:avLst>
          </a:prstGeom>
          <a:solidFill>
            <a:srgbClr val="F3F0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8212" y="2880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268212" y="33832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Human-in-the-loop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8212" y="38404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高風險命令執行前先讓使用者確認 —— Cursor 跟 Claude Code 都這樣做。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0" y="47320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 / 20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4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一句話總結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不執行任何東西。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4B5F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所有「執行」都發生在你寫的程式裡。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828800" y="384048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0F172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38404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🎬  </a:t>
            </a:r>
            <a:r>
              <a:rPr lang="en-US" sz="13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搭配教學影片：</a:t>
            </a:r>
            <a:r>
              <a:rPr lang="en-US" sz="1300" b="1" dirty="0">
                <a:solidFill>
                  <a:srgbClr val="E2E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「LLM 怎麼呼叫工具？— 從一段 JSON 到一行 subprocess.run()」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1828</Words>
  <Application>Microsoft Macintosh PowerPoint</Application>
  <PresentationFormat>如螢幕大小 (16:9)</PresentationFormat>
  <Paragraphs>409</Paragraphs>
  <Slides>20</Slides>
  <Notes>20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4" baseType="lpstr">
      <vt:lpstr>Microsoft JhengHei</vt:lpstr>
      <vt:lpstr>Arial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怎麼「呼叫」工具？— 從 Bash 出發到 Agentic Loop</dc:title>
  <dc:subject>PptxGenJS Presentation</dc:subject>
  <dc:creator>范耀中 (Yao-Chung Fan)</dc:creator>
  <cp:lastModifiedBy>耀中 范</cp:lastModifiedBy>
  <cp:revision>2</cp:revision>
  <dcterms:created xsi:type="dcterms:W3CDTF">2026-05-15T09:43:29Z</dcterms:created>
  <dcterms:modified xsi:type="dcterms:W3CDTF">2026-05-15T09:59:43Z</dcterms:modified>
</cp:coreProperties>
</file>