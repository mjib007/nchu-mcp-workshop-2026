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第一講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600" b="1" i="0">
                <a:solidFill>
                  <a:srgbClr val="1F2937"/>
                </a:solidFill>
                <a:latin typeface="Arial Black"/>
              </a:rPr>
              <a:t>Why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7B5CF5"/>
                </a:solidFill>
                <a:latin typeface="Calibri"/>
              </a:rPr>
              <a:t>從 LLM 的局限 到 Model Context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為什麼需要 MCP?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LLM 摸不到外部世界 — MCP 是橋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 LLM 的局限 → 三種延伸策略 → MCP → 興大案例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LLM 能 / 不能做什麼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理解大型語言模型的能力邊界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三種延伸策略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RAG / Tool Use / MCP 深入比較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MCP 核心概念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Host / Client / Server /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實際案例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興大 AI 學伴 33 個 MCP 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L L M   能 做 什 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LLM 擅長什麼?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訓練階段學到的「靜態知識」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7B5CF5"/>
                </a:solidFill>
                <a:latin typeface="Arial Black"/>
              </a:rPr>
              <a:t>語言理解與生成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翻譯、摘要、改寫、多語言對話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465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0EA594"/>
                </a:solidFill>
                <a:latin typeface="Arial Black"/>
              </a:rPr>
              <a:t>推理與分析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465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邏輯推導、比較分析、結構化輸出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347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FB7048"/>
                </a:solidFill>
                <a:latin typeface="Arial Black"/>
              </a:rPr>
              <a:t>程式碼生成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撰寫、除錯、解釋多種程式語言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4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5190" y="2125980"/>
            <a:ext cx="16802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EF4444"/>
                </a:solidFill>
                <a:latin typeface="Arial Black"/>
              </a:rPr>
              <a:t>知識回答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5190" y="2640330"/>
            <a:ext cx="16802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基於訓練資料的常識與專業知識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這些能力來自訓練階段學到的靜態知識 —— 用一次,模型不會更新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L L M   不 能 做 什 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LLM 的天花板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訓練階段沒看過的、無法執行的事情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知識截止日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訓練資料有日期上限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無法回答「今天」的事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465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沒有私有資料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465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不知道你的課表、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圖書館藏書、校內公告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347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無法執行動作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不能幫你查詢系統、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預約空間、操作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40" y="1954530"/>
            <a:ext cx="2023110" cy="21945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5190" y="209168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1" i="0">
                <a:solidFill>
                  <a:srgbClr val="B91C1C"/>
                </a:solidFill>
                <a:latin typeface="Arial Black"/>
              </a:rPr>
              <a:t>✗  會幻覺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5190" y="2537460"/>
            <a:ext cx="1851660" cy="15773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不確定時仍自信回答</a:t>
            </a:r>
          </a:p>
          <a:p>
            <a:pPr algn="l">
              <a:spcAft>
                <a:spcPts val="225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編造看起來合理的資訊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?  核心問題:如何讓 LLM 存取「外部世界」的資訊與功能?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A   S T R A T E G Y   ·   R A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策略 A:RAG (Retrieval-Augmented Generation)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把外部文件「檢索 + 注入 prompt」交給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使用者提問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Embedding
向量化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向量資料庫
相似度搜尋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取回相關
文件片段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5B3ED9"/>
                </a:solidFill>
                <a:latin typeface="Calibri"/>
              </a:rPr>
              <a:t>注入 Prompt
+ LLM 回答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2930" y="2743200"/>
            <a:ext cx="404622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" y="286664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優點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" y="3120389"/>
            <a:ext cx="377190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降低幻覺 — 有引用來源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存取私有資料(文件、知識庫)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不需重新訓練模型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4890" y="2743200"/>
            <a:ext cx="4011929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6340" y="286664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6340" y="3120389"/>
            <a:ext cx="370332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只能「讀」 — 無法執行動作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檢索品質依賴 embedding 與切塊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結構化查詢(如 SQL)支援差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A   R A G   ·   C O D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RAG 概念程式碼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三步驟:embed query → 向量檢索 → 拼到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8229600" cy="24688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2002536"/>
            <a:ext cx="7852409" cy="21808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1. 使用者提問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query = "中興大學圖書館有什麼 AI 相關的書？"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2. 轉成向量,在資料庫中搜尋最相似的文件片段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embedding = embed_model.encode(query)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relevant_docs = vector_db.search(embedding, top_k=5)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# 3. 把搜尋結果塞進 prompt,交給 LLM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prompt = f"根據以下資料回答問題:\n{relevant_docs}\n\n問題：{query}"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response = llm.generate(prompt)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S T R A T E G Y   ·   T O O L   U S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策略 B:Tool Use (Function Calling)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自己決定要不要呼叫工具、呼叫哪一個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使用者
提問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LLM 分析
選擇工具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呼叫外部
API / 函式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取得執行
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783080"/>
            <a:ext cx="10287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783080"/>
            <a:ext cx="1577339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783080"/>
            <a:ext cx="1577339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LLM 整合
回覆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2930" y="2743200"/>
            <a:ext cx="404622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" y="286664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優點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" y="3120389"/>
            <a:ext cx="377190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能「做事」 — 查詢、計算、操作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結構化輸入輸出(JSON Schema)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4890" y="2743200"/>
            <a:ext cx="4011929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6340" y="286664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6340" y="3120389"/>
            <a:ext cx="3703320" cy="13716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每家 API 格式不同(vendor lock-in)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✗  工具要寫死在應用程式裡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T O O L   U S E   ·   C L A U D E   v s   C H A T G P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同一支工具,兩家 API 寫法不同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這就是「vendor lock-in」的具體例子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Claude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3874770" cy="21259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82596"/>
            <a:ext cx="3497580" cy="18379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tools: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name: "search_books",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description: "搜尋館藏",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input_schema: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type: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properties: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keyword: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  { type: "string"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ChatGPT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3806189" cy="212598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82596"/>
            <a:ext cx="3429000" cy="183794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tools: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type: "function",   ← 多包一層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function: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name: "search_books",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  description: "搜尋館藏",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parameters: {  ← 名稱不同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type: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properties: { ...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B   T O O L   U S E   ·   T H E   N × M   P A I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Tool Use 的痛點:每個應用都要重做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4 個 AI 應用 × 4 個資料源 = 16 個 connector,而且格式各不相同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ChatGPT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40030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240030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Claude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94894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94894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Gemini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497580"/>
            <a:ext cx="1920239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3497580"/>
            <a:ext cx="1920239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自建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14500"/>
            <a:ext cx="34290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EF4444"/>
                </a:solidFill>
                <a:latin typeface="Arial Black"/>
              </a:rPr>
              <a:t>N ×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057400"/>
            <a:ext cx="34290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0">
                <a:solidFill>
                  <a:srgbClr val="B91C1C"/>
                </a:solidFill>
                <a:latin typeface="Calibri"/>
              </a:rPr>
              <a:t>個別整合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06039"/>
            <a:ext cx="342900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EF4444"/>
                </a:solidFill>
                <a:latin typeface="Arial Black"/>
              </a:rPr>
              <a:t>✕  ✕  ✕  ✕
✕  ✕  ✕  ✕
✕  ✕  ✕  ✕
✕  ✕  ✕  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7940" y="185166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7940" y="185166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圖書館 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77940" y="240030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7940" y="240030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課程系統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77940" y="294894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894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教師資料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7940" y="3497580"/>
            <a:ext cx="20574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7940" y="3497580"/>
            <a:ext cx="20574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F766E"/>
                </a:solidFill>
                <a:latin typeface="Calibri"/>
              </a:rPr>
              <a:t>校內公告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" y="432054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8669" y="432054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alibri"/>
              </a:rPr>
              <a:t>!  每加一個 AI 應用或一個資料源,connector 數量爆炸成長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C   S T R A T E G Y   ·   M C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策略 C:MCP — 統一協定解耦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寫一次 MCP Server,所有 AI 應用都能用 — 像 USB-C 一樣的標準介面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ChatGPT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40030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240030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Claude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94894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294894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Gemini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49758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30" y="349758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B7048"/>
                </a:solidFill>
                <a:latin typeface="Calibri"/>
              </a:rPr>
              <a:t>自建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20389" y="1954530"/>
            <a:ext cx="2880360" cy="212598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20389" y="2091689"/>
            <a:ext cx="288036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700" b="1" i="0">
                <a:solidFill>
                  <a:srgbClr val="FFFFFF"/>
                </a:solidFill>
                <a:latin typeface="Arial Black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0389" y="2503170"/>
            <a:ext cx="288036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統一協定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0389" y="288036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0" i="0">
                <a:solidFill>
                  <a:srgbClr val="FFFFFF"/>
                </a:solidFill>
                <a:latin typeface="Consolas"/>
              </a:rPr>
              <a:t>JSON-RPC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0389" y="3360420"/>
            <a:ext cx="288036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Arial Black"/>
              </a:rPr>
              <a:t>N +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0389" y="370332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FFFFFF"/>
                </a:solidFill>
                <a:latin typeface="Calibri"/>
              </a:rPr>
              <a:t>(而非 N × 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55129" y="185166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5129" y="185166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圖書館 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55129" y="240030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5129" y="240030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課程系統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29" y="294894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55129" y="294894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教師資料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55129" y="3497580"/>
            <a:ext cx="178308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55129" y="3497580"/>
            <a:ext cx="178308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0F766E"/>
                </a:solidFill>
                <a:latin typeface="Calibri"/>
              </a:rPr>
              <a:t>校內公告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★   C O M P A R E   ·   R A G   v s   T O O L   v s   M C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三者比較總覽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從核心能力到維護成本,看哪個適合你的情境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51660"/>
            <a:ext cx="1748789" cy="315468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851660"/>
            <a:ext cx="174878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Arial Black"/>
              </a:rPr>
              <a:t>面向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2400300" y="1851660"/>
            <a:ext cx="1988819" cy="315468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003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Arial Black"/>
              </a:rP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7700" y="1851660"/>
            <a:ext cx="1988819" cy="315468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3B82F6"/>
                </a:solidFill>
                <a:latin typeface="Arial Black"/>
              </a:rPr>
              <a:t>Tool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1851660"/>
            <a:ext cx="1988819" cy="315468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100" y="1851660"/>
            <a:ext cx="198881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Arial Black"/>
              </a:rPr>
              <a:t>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509" y="2167128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核心能力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檢索文件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執行功能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6712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檢索 + 執行 + 標準化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2482596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509" y="2482596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LLM 角色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讀 prompt 資訊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79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決定呼叫哪個函式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2482596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透過 Client 調度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09" y="2798064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整合方式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Embedding + 向量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各家 API 各寫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79" y="2798064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統一 JSON-RPC 協定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2930" y="3113532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509" y="3113532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可重用性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綁定單一應用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綁定單一應用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3113532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Server 跨應用共用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509" y="3429000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執行動作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79" y="3429000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2930" y="3744468"/>
            <a:ext cx="8229600" cy="31546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509" y="3744468"/>
            <a:ext cx="1611629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維護成本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高(N×M)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79" y="3744468"/>
            <a:ext cx="1851660" cy="31546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0" i="0">
                <a:solidFill>
                  <a:srgbClr val="1F2937"/>
                </a:solidFill>
                <a:latin typeface="Calibri"/>
              </a:rPr>
              <a:t>低(N+M)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MCP 不是「取代」前兩者 —— MCP Server 內部可以同時放 RAG 檢索 + Tool Use 函式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★   W H E N   T O   U S E   W H I C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什麼時候用哪一種?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適用場景判斷指南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7B5CF5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內部知識庫問答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文件搜尋與摘要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客服 FAQ 系統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7B5CF5"/>
                </a:solidFill>
                <a:latin typeface="Calibri"/>
              </a:rPr>
              <a:t>★  最適合大量非結構化文本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呼叫特定 API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資料庫查詢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計算或產生圖表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FB7048"/>
                </a:solidFill>
                <a:latin typeface="Calibri"/>
              </a:rPr>
              <a:t>★  最適合少量、固定的工具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2023110"/>
            <a:ext cx="2366010" cy="44577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0EA594"/>
                </a:solidFill>
                <a:latin typeface="Arial Black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537460"/>
            <a:ext cx="2366010" cy="17145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適用場景: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多系統整合平台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校園/企業助手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跨應用共享工具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4080510"/>
            <a:ext cx="236601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1">
                <a:solidFill>
                  <a:srgbClr val="0EA594"/>
                </a:solidFill>
                <a:latin typeface="Calibri"/>
              </a:rPr>
              <a:t>★  工具多、需跨應用重用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M C P   ·   核 心 概 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架構四大角色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Host → Client → Server → Tool —— 每層只看下一層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445769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Arial Black"/>
              </a:rPr>
              <a:t>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使用者介面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0660" y="1817369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Claude Desktop / 自建 Web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523744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1509" y="2592324"/>
            <a:ext cx="137160" cy="44576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2523744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Arial Black"/>
              </a:rPr>
              <a:t>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23744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MCP 協定客戶端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0660" y="2523744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負責與 Server 建立連線、傳遞訊息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30118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1509" y="3298698"/>
            <a:ext cx="137160" cy="44576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3230118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230118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MCP 服務端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0660" y="3230118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包裝外部資源為標準化工具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936491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509" y="4005072"/>
            <a:ext cx="137160" cy="44576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3936491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Arial Black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36491"/>
            <a:ext cx="24003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具體功能定義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0660" y="3936491"/>
            <a:ext cx="34975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search_books / get_courses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C P   ·   J S O N - R P C   2 .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如何溝通?— JSON-RPC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/ Server 雙向訊息,所有 MCP 通訊用同一格式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4688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Client → Server (Request)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3874770" cy="19202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482596"/>
            <a:ext cx="3497580" cy="16322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"jsonrpc": "2.0",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"method": "tools/call",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"params":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"name": "search_books",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"arguments":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"keyword": "AI"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34890" y="1851660"/>
            <a:ext cx="4011929" cy="24688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Server → Client (Response)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3806189" cy="19202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2482596"/>
            <a:ext cx="3429000" cy="16322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"jsonrpc": "2.0",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"result":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"content":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"找到 3 本..."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1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標準化 · 雙向 · 傳輸無關(支援 stdio、HTTP+SSE、WebSocket)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  C A S E   S T U D Y   ·   N C H U   A I   學 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33 個 MCP 工具,九大分類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用 Python 寫,透過 stdio 與 Node.js Client 通訊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Arial Black"/>
              </a:rPr>
              <a:t>課程查詢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7B5CF5"/>
                </a:solidFill>
                <a:latin typeface="Arial Blac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search_courses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get_department_courses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圖書資源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2110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FB7048"/>
                </a:solidFill>
                <a:latin typeface="Arial Blac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search_library_books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get_loan_history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8595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6490" y="1968245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EA594"/>
                </a:solidFill>
                <a:latin typeface="Arial Black"/>
              </a:rPr>
              <a:t>教師研究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8180" y="194081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0EA594"/>
                </a:solidFill>
                <a:latin typeface="Arial Black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6490" y="240030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search_teachers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get_research_projects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719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35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Arial Black"/>
              </a:rPr>
              <a:t>學術規劃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39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EF4444"/>
                </a:solidFill>
                <a:latin typeface="Arial Black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5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get_cross_program_courses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get_dual_degrees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2326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042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Arial Black"/>
              </a:rPr>
              <a:t>校園資源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2110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3B82F6"/>
                </a:solidFill>
                <a:latin typeface="Arial Black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get_activities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book_space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9330" y="3291840"/>
            <a:ext cx="2708910" cy="126873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6490" y="3374136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Arial Black"/>
              </a:rPr>
              <a:t>行政法規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8180" y="3346704"/>
            <a:ext cx="342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950" b="1" i="0">
                <a:solidFill>
                  <a:srgbClr val="0F766E"/>
                </a:solidFill>
                <a:latin typeface="Arial Black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6490" y="3806190"/>
            <a:ext cx="2434590" cy="6515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search_regulations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374151"/>
                </a:solidFill>
                <a:latin typeface="Consolas"/>
              </a:rPr>
              <a:t>get_faqs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 Black"/>
              </a:rPr>
              <a:t>MCP 把 N×M 變成 N+M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606039"/>
            <a:ext cx="82296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250" b="1" i="0">
                <a:solidFill>
                  <a:srgbClr val="7B5CF5"/>
                </a:solidFill>
                <a:latin typeface="Arial Black"/>
              </a:rPr>
              <a:t>—— 寫一次 Server,所有 AI 應用都能用。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搭配教學影片: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onsolas"/>
              </a:rPr>
              <a:t>「01-why-mcp-video.mp4 —— ~3 min」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★   R E C A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本講重點回顧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下一講預告:How MCP Works —— 架構與連線機制實作</a:t>
            </a:r>
          </a:p>
        </p:txBody>
      </p:sp>
      <p:sp>
        <p:nvSpPr>
          <p:cNvPr id="7" name="Oval 6"/>
          <p:cNvSpPr/>
          <p:nvPr/>
        </p:nvSpPr>
        <p:spPr>
          <a:xfrm>
            <a:off x="610362" y="19133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0362" y="19133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" y="19202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LLM 有知識截止、無法存取外部系統的先天限制</a:t>
            </a:r>
          </a:p>
        </p:txBody>
      </p:sp>
      <p:sp>
        <p:nvSpPr>
          <p:cNvPr id="10" name="Oval 9"/>
          <p:cNvSpPr/>
          <p:nvPr/>
        </p:nvSpPr>
        <p:spPr>
          <a:xfrm>
            <a:off x="610362" y="242773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" y="242773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5860" y="243458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RAG 解決「讀」的問題,Tool Use 解決「做」的問題</a:t>
            </a:r>
          </a:p>
        </p:txBody>
      </p:sp>
      <p:sp>
        <p:nvSpPr>
          <p:cNvPr id="13" name="Oval 12"/>
          <p:cNvSpPr/>
          <p:nvPr/>
        </p:nvSpPr>
        <p:spPr>
          <a:xfrm>
            <a:off x="610362" y="29420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362" y="29420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5860" y="29489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但 Tool Use 有 N×M 整合爆炸的痛點</a:t>
            </a:r>
          </a:p>
        </p:txBody>
      </p:sp>
      <p:sp>
        <p:nvSpPr>
          <p:cNvPr id="16" name="Oval 15"/>
          <p:cNvSpPr/>
          <p:nvPr/>
        </p:nvSpPr>
        <p:spPr>
          <a:xfrm>
            <a:off x="610362" y="345643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362" y="345643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5860" y="346328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MCP 用統一協定解耦 AI 應用與資料源,實現 N+M 整合</a:t>
            </a:r>
          </a:p>
        </p:txBody>
      </p:sp>
      <p:sp>
        <p:nvSpPr>
          <p:cNvPr id="19" name="Oval 18"/>
          <p:cNvSpPr/>
          <p:nvPr/>
        </p:nvSpPr>
        <p:spPr>
          <a:xfrm>
            <a:off x="610362" y="3970782"/>
            <a:ext cx="356616" cy="35661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362" y="3970782"/>
            <a:ext cx="356616" cy="35661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5860" y="3977639"/>
            <a:ext cx="7680959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0" i="0">
                <a:solidFill>
                  <a:srgbClr val="1F2937"/>
                </a:solidFill>
                <a:latin typeface="Calibri"/>
              </a:rPr>
              <a:t>興大 AI 學伴用 33 個 MCP 工具服務真實校園需求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