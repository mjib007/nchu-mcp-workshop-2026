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2930" y="377190"/>
            <a:ext cx="377190" cy="48006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2930" y="51435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MCP 入門工作坊  ·  第三講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1371600"/>
            <a:ext cx="8229600" cy="10972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5400" b="1" i="0">
                <a:solidFill>
                  <a:srgbClr val="1F2937"/>
                </a:solidFill>
                <a:latin typeface="Arial Black"/>
              </a:rPr>
              <a:t>Agentic Tool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2400300"/>
            <a:ext cx="822960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950" b="1" i="0">
                <a:solidFill>
                  <a:srgbClr val="7B5CF5"/>
                </a:solidFill>
                <a:latin typeface="Calibri"/>
              </a:rPr>
              <a:t>LLM 如何自主決策、呼叫工具、迭代推理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432054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Calibri"/>
              </a:rPr>
              <a:t>范耀中  Yao-Chung Fan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30" y="462915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國立中興大學  ·  AI 學伴系統實務案例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930" y="2948939"/>
            <a:ext cx="4800600" cy="78866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" y="3017520"/>
            <a:ext cx="4457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5B3ED9"/>
                </a:solidFill>
                <a:latin typeface="Arial Black"/>
              </a:rPr>
              <a:t>從一次回答  →  多輪迭代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3394710"/>
            <a:ext cx="445770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0" i="0">
                <a:solidFill>
                  <a:srgbClr val="1F2937"/>
                </a:solidFill>
                <a:latin typeface="Calibri"/>
              </a:rPr>
              <a:t>LLM 不只回答,還會自己選工具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00   A G E N D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Arial Black"/>
              </a:rPr>
              <a:t>本講三段路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33731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為什麼要 → 怎麼運作 → Live Demo + 收尾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954530"/>
            <a:ext cx="2743200" cy="26403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7492" y="2016252"/>
            <a:ext cx="493776" cy="49377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" y="2016252"/>
            <a:ext cx="493776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FB7048"/>
                </a:solidFill>
                <a:latin typeface="Arial Black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930" y="2846070"/>
            <a:ext cx="233172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Arial Black"/>
              </a:rPr>
              <a:t>概念與解法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930" y="3394710"/>
            <a:ext cx="233172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single-turn 解不了複合請求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→ Agentic 4 步走解法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30" y="4320540"/>
            <a:ext cx="23317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1" i="0">
                <a:solidFill>
                  <a:srgbClr val="374151"/>
                </a:solidFill>
                <a:latin typeface="Consolas"/>
              </a:rPr>
              <a:t>~10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3833" y="1954530"/>
            <a:ext cx="2743200" cy="264033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74135" y="2016252"/>
            <a:ext cx="493776" cy="49377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5" y="2016252"/>
            <a:ext cx="493776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7B5CF5"/>
                </a:solidFill>
                <a:latin typeface="Arial Black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9573" y="2846070"/>
            <a:ext cx="233172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Arial Black"/>
              </a:rPr>
              <a:t>迴圈機制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9573" y="3394710"/>
            <a:ext cx="233172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Loop 視覺圖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+ maxIterations 安全閥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9573" y="4320540"/>
            <a:ext cx="23317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1" i="0">
                <a:solidFill>
                  <a:srgbClr val="374151"/>
                </a:solidFill>
                <a:latin typeface="Consolas"/>
              </a:rPr>
              <a:t>~8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0478" y="1954530"/>
            <a:ext cx="2743200" cy="26403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40780" y="2016252"/>
            <a:ext cx="493776" cy="493776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0780" y="2016252"/>
            <a:ext cx="493776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950" b="1" i="0">
                <a:solidFill>
                  <a:srgbClr val="0EA594"/>
                </a:solidFill>
                <a:latin typeface="Arial Black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6218" y="2846070"/>
            <a:ext cx="233172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Arial Black"/>
              </a:rPr>
              <a:t>Live Demo + 收尾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6218" y="3394710"/>
            <a:ext cx="233172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5 個示範問題實機操作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+ 三策略對比 / Segment 4 鋪陳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6218" y="4320540"/>
            <a:ext cx="23317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1" i="0">
                <a:solidFill>
                  <a:srgbClr val="374151"/>
                </a:solidFill>
                <a:latin typeface="Consolas"/>
              </a:rPr>
              <a:t>~30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①   S I N G L E - T U R N · 解不了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為什麼需要 Agentic Loop?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single-turn LLM(就算有 tool)解不了的三類問題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708910" cy="226313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88819"/>
            <a:ext cx="23660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FB7048"/>
                </a:solidFill>
                <a:latin typeface="Arial Black"/>
              </a:rPr>
              <a:t>跨領域複合查詢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4589"/>
            <a:ext cx="23660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Calibri"/>
              </a:rPr>
              <a:t>「找最近圖書館新書,順便看星期一台中天氣」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26129"/>
            <a:ext cx="2366010" cy="7543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需要兩個不相關的工具同時呼叫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3260" y="1851660"/>
            <a:ext cx="2708910" cy="226313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4710" y="1988819"/>
            <a:ext cx="23660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7B5CF5"/>
                </a:solidFill>
                <a:latin typeface="Arial Black"/>
              </a:rPr>
              <a:t>結果驅動的後續查詢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4710" y="2434589"/>
            <a:ext cx="23660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Calibri"/>
              </a:rPr>
              <a:t>「資工系 AI 課的老師有什麼論文?」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3326129"/>
            <a:ext cx="2366010" cy="7543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先要拿到老師清單,才能查論文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9330" y="1851660"/>
            <a:ext cx="2708910" cy="226313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0780" y="1988819"/>
            <a:ext cx="23660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0EA594"/>
                </a:solidFill>
                <a:latin typeface="Arial Black"/>
              </a:rPr>
              <a:t>動態判斷要不要用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0780" y="2434589"/>
            <a:ext cx="2366010" cy="9601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Calibri"/>
              </a:rPr>
              <a:t>「圖書館有幾本 AI 書?順便比較 Claude vs GPT-4」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0780" y="3326129"/>
            <a:ext cx="2366010" cy="7543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  <a:latin typeface="Calibri"/>
              </a:rPr>
              <a:t>第一部分要 tool,第二部分用訓練資料就好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930" y="428625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669" y="428625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alibri"/>
              </a:rPr>
              <a:t>▶  Agentic Loop = LLM 自己決定何時、用什麼工具,以及要重複幾輪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③   A G E N T I C · 解法預覽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Agentic 怎麼解 — 一個 query 的 4 步走法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範例:"找 AI 課程 + 看這些老師最近的論文"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023110" cy="26403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54530"/>
            <a:ext cx="822959" cy="288036"/>
          </a:xfrm>
          <a:prstGeom prst="rect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54530"/>
            <a:ext cx="822959" cy="28803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63139"/>
            <a:ext cx="16802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4620"/>
            <a:ext cx="1680210" cy="13030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LLM 看問題 →
想到要做兩件事:
找課程 + 找論文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49089"/>
            <a:ext cx="168021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750" b="1" i="1">
                <a:solidFill>
                  <a:srgbClr val="FB7048"/>
                </a:solidFill>
                <a:latin typeface="Consolas"/>
              </a:rPr>
              <a:t>拆解能力 = 預訓練自帶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3170" y="1851660"/>
            <a:ext cx="2023110" cy="264033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4620" y="1954530"/>
            <a:ext cx="822959" cy="288036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4620" y="1954530"/>
            <a:ext cx="822959" cy="28803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4620" y="2263139"/>
            <a:ext cx="16802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第一輪 tool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4620" y="2674620"/>
            <a:ext cx="1680210" cy="13030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search_courses
  (keyword='AI')
→ 拿到 5 門課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4620" y="4149089"/>
            <a:ext cx="168021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750" b="1" i="1">
                <a:solidFill>
                  <a:srgbClr val="7B5CF5"/>
                </a:solidFill>
                <a:latin typeface="Consolas"/>
              </a:rPr>
              <a:t>stop_reason = "tool_use"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29150" y="1851660"/>
            <a:ext cx="2023110" cy="26403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0600" y="1954530"/>
            <a:ext cx="822959" cy="288036"/>
          </a:xfrm>
          <a:prstGeom prst="rect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1954530"/>
            <a:ext cx="822959" cy="28803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263139"/>
            <a:ext cx="16802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第二輪 tool 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674620"/>
            <a:ext cx="1680210" cy="13030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看到課的老師後:
for each 老師 →
arxiv_search (parallel)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149089"/>
            <a:ext cx="168021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750" b="1" i="1">
                <a:solidFill>
                  <a:srgbClr val="0EA594"/>
                </a:solidFill>
                <a:latin typeface="Consolas"/>
              </a:rPr>
              <a:t>結果驅動的後續決定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55130" y="1851660"/>
            <a:ext cx="2023110" cy="264033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5B3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6580" y="1954530"/>
            <a:ext cx="822959" cy="288036"/>
          </a:xfrm>
          <a:prstGeom prst="rect">
            <a:avLst/>
          </a:prstGeom>
          <a:solidFill>
            <a:srgbClr val="5B3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6580" y="1954530"/>
            <a:ext cx="822959" cy="28803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6580" y="2263139"/>
            <a:ext cx="16802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Arial Black"/>
              </a:rPr>
              <a:t>整合 + end_turn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6580" y="2674620"/>
            <a:ext cx="1680210" cy="130301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LLM 整合課 + 論文
→ 完整自然語言回覆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6580" y="4149089"/>
            <a:ext cx="168021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750" b="1" i="1">
                <a:solidFill>
                  <a:srgbClr val="5B3ED9"/>
                </a:solidFill>
                <a:latin typeface="Consolas"/>
              </a:rPr>
              <a:t>stop_reason = "end_turn"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· ①   A G E N T I C   L O O P · 概念圖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Agentic Tool Loop 概念圖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每一輪稱為一個 iteration,最多 maxIterations(預設 7)輪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954530"/>
            <a:ext cx="1577339" cy="75438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190" y="1954530"/>
            <a:ext cx="1577339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7B5CF5"/>
                </a:solidFill>
                <a:latin typeface="Calibri"/>
              </a:rPr>
              <a:t>User
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4529" y="1954530"/>
            <a:ext cx="171450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7B5CF5"/>
                </a:solidFill>
                <a:latin typeface="Arial Black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8819" y="1954530"/>
            <a:ext cx="1577339" cy="75438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8819" y="1954530"/>
            <a:ext cx="1577339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7B5CF5"/>
                </a:solidFill>
                <a:latin typeface="Calibri"/>
              </a:rPr>
              <a:t>Build
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59" y="1954530"/>
            <a:ext cx="171450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FB7048"/>
                </a:solidFill>
                <a:latin typeface="Arial Blac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449" y="1954530"/>
            <a:ext cx="1577339" cy="75438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449" y="1954530"/>
            <a:ext cx="1577339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B7048"/>
                </a:solidFill>
                <a:latin typeface="Calibri"/>
              </a:rPr>
              <a:t>Call
LLM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7790" y="1954530"/>
            <a:ext cx="171450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FB7048"/>
                </a:solidFill>
                <a:latin typeface="Arial Blac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1954530"/>
            <a:ext cx="1577339" cy="75438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1954530"/>
            <a:ext cx="1577339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FB7048"/>
                </a:solidFill>
                <a:latin typeface="Calibri"/>
              </a:rPr>
              <a:t>Check
stop_reason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9419" y="1954530"/>
            <a:ext cx="171450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50" b="1" i="0">
                <a:solidFill>
                  <a:srgbClr val="0EA594"/>
                </a:solidFill>
                <a:latin typeface="Arial Black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3709" y="1954530"/>
            <a:ext cx="1577339" cy="75438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3709" y="1954530"/>
            <a:ext cx="1577339" cy="7543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975" b="1" i="0">
                <a:solidFill>
                  <a:srgbClr val="0EA594"/>
                </a:solidFill>
                <a:latin typeface="Calibri"/>
              </a:rPr>
              <a:t>Execute
MCP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930" y="2880360"/>
            <a:ext cx="82296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1" i="1">
                <a:solidFill>
                  <a:srgbClr val="0F766E"/>
                </a:solidFill>
                <a:latin typeface="Calibri"/>
              </a:rPr>
              <a:t>↑   追加 tool_result 到 messages,回到 LLM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930" y="3394710"/>
            <a:ext cx="4080510" cy="126873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" y="351815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stop_reason = "tool_use"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" y="3806189"/>
            <a:ext cx="3771900" cy="78866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→  執行工具 → 追加 tool_result → 進入下一輪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34890" y="3394710"/>
            <a:ext cx="4011929" cy="126873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6340" y="351815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stop_reason = "end_turn"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6340" y="3806189"/>
            <a:ext cx="3703320" cy="78866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→  跳出迴圈,把最終文字回給使用者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· ①   M A X _ I T E R A T I O N S · 強制回覆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maxIterations 與強制回覆機制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避免 LLM 無限呼叫工具 —— 設上限 + 最後一輪強制總結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80510" cy="27432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EF4444"/>
                </a:solidFill>
                <a:latin typeface="Arial Black"/>
              </a:rPr>
              <a:t>問題:無限迴圈風險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263139"/>
            <a:ext cx="377190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LLM 可能不斷呼叫工具而永遠不回覆使用者,造成:</a:t>
            </a:r>
          </a:p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B91C1C"/>
                </a:solidFill>
                <a:latin typeface="Calibri"/>
              </a:rPr>
              <a:t>✗  Token 成本無限增長</a:t>
            </a:r>
          </a:p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B91C1C"/>
                </a:solidFill>
                <a:latin typeface="Calibri"/>
              </a:rPr>
              <a:t>✗  回應時間過長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91C1C"/>
                </a:solidFill>
                <a:latin typeface="Calibri"/>
              </a:rPr>
              <a:t>✗  使用者體驗極差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4890" y="1851660"/>
            <a:ext cx="4011929" cy="27432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解法:maxIterations =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6340" y="2263139"/>
            <a:ext cx="370332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✓  設定最大迭代次數上限</a:t>
            </a:r>
          </a:p>
          <a:p>
            <a:pPr algn="l">
              <a:spcAft>
                <a:spcPts val="1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✓  第 7 輪(最後一輪)時注入臨時</a:t>
            </a:r>
          </a:p>
          <a:p>
            <a:pPr algn="l">
              <a:spcAft>
                <a:spcPts val="1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    user message 強制模型停止使用</a:t>
            </a:r>
          </a:p>
          <a:p>
            <a:pPr algn="l">
              <a:spcAft>
                <a:spcPts val="1050"/>
              </a:spcAft>
            </a:pPr>
            <a:r>
              <a:rPr sz="1050" b="0" i="0">
                <a:solidFill>
                  <a:srgbClr val="1F2937"/>
                </a:solidFill>
                <a:latin typeface="Calibri"/>
              </a:rPr>
              <a:t>    工具,直接整理回覆</a:t>
            </a:r>
          </a:p>
          <a:p>
            <a:pPr algn="l">
              <a:spcAft>
                <a:spcPts val="150"/>
              </a:spcAft>
            </a:pPr>
            <a:r>
              <a:rPr sz="975" b="0" i="1">
                <a:solidFill>
                  <a:srgbClr val="0F766E"/>
                </a:solidFill>
                <a:latin typeface="Calibri"/>
              </a:rPr>
              <a:t>「請不要再使用任何工具,</a:t>
            </a:r>
          </a:p>
          <a:p>
            <a:pPr algn="l">
              <a:spcAft>
                <a:spcPts val="0"/>
              </a:spcAft>
            </a:pPr>
            <a:r>
              <a:rPr sz="975" b="0" i="1">
                <a:solidFill>
                  <a:srgbClr val="0F766E"/>
                </a:solidFill>
                <a:latin typeface="Calibri"/>
              </a:rPr>
              <a:t>  直接根據工具回傳的資料整理 Markdown 回覆。」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CBD5E1"/>
                </a:solidFill>
                <a:latin typeface="Calibri"/>
              </a:rPr>
              <a:t>04   L I V E   D E M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720090"/>
            <a:ext cx="8229600" cy="58293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300" b="1" i="0">
                <a:solidFill>
                  <a:srgbClr val="FB7048"/>
                </a:solidFill>
                <a:latin typeface="Arial Black"/>
              </a:rPr>
              <a:t>▶  切換到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405889"/>
            <a:ext cx="822960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0" i="1">
                <a:solidFill>
                  <a:srgbClr val="CBD5E1"/>
                </a:solidFill>
                <a:latin typeface="Calibri"/>
              </a:rPr>
              <a:t>25 分鐘 · 興大 AI 學伴實機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185166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0">
                <a:solidFill>
                  <a:srgbClr val="EEE8FF"/>
                </a:solidFill>
                <a:latin typeface="Calibri"/>
              </a:rPr>
              <a:t>5 個示範問題(從淺到深,完整腳本見 03-live-demo-script.md)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8126729" cy="445770"/>
          </a:xfrm>
          <a:prstGeom prst="roundRect">
            <a:avLst>
              <a:gd name="adj" fmla="val 10000"/>
            </a:avLst>
          </a:prstGeom>
          <a:solidFill>
            <a:srgbClr val="242A44"/>
          </a:solidFill>
          <a:ln w="14287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480059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0EA594"/>
                </a:solidFill>
                <a:latin typeface="Consolas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7310" y="2194560"/>
            <a:ext cx="308610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E5E7EB"/>
                </a:solidFill>
                <a:latin typeface="Calibri"/>
              </a:rPr>
              <a:t>圖書館 AI 書多少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2194560"/>
            <a:ext cx="23317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37" b="0" i="1">
                <a:solidFill>
                  <a:srgbClr val="9CA3AF"/>
                </a:solidFill>
                <a:latin typeface="Calibri"/>
              </a:rPr>
              <a:t>single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94560"/>
            <a:ext cx="106299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0EA594"/>
                </a:solidFill>
                <a:latin typeface="Calibr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990" y="2194560"/>
            <a:ext cx="85725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r"/>
            <a:r>
              <a:rPr sz="825" b="0" i="0">
                <a:solidFill>
                  <a:srgbClr val="9CA3AF"/>
                </a:solidFill>
                <a:latin typeface="Consolas"/>
              </a:rPr>
              <a:t>~30s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95194"/>
            <a:ext cx="8126729" cy="445770"/>
          </a:xfrm>
          <a:prstGeom prst="roundRect">
            <a:avLst>
              <a:gd name="adj" fmla="val 10000"/>
            </a:avLst>
          </a:prstGeom>
          <a:solidFill>
            <a:srgbClr val="242A44"/>
          </a:solidFill>
          <a:ln w="14287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695194"/>
            <a:ext cx="480059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0EA594"/>
                </a:solidFill>
                <a:latin typeface="Consolas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7310" y="2695194"/>
            <a:ext cx="308610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E5E7EB"/>
                </a:solidFill>
                <a:latin typeface="Calibri"/>
              </a:rPr>
              <a:t>資工系深度學習老師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0" y="2695194"/>
            <a:ext cx="23317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37" b="0" i="1">
                <a:solidFill>
                  <a:srgbClr val="9CA3AF"/>
                </a:solidFill>
                <a:latin typeface="Calibri"/>
              </a:rPr>
              <a:t>single tool + 參數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695194"/>
            <a:ext cx="106299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0EA594"/>
                </a:solidFill>
                <a:latin typeface="Calibri"/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990" y="2695194"/>
            <a:ext cx="85725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r"/>
            <a:r>
              <a:rPr sz="825" b="0" i="0">
                <a:solidFill>
                  <a:srgbClr val="9CA3AF"/>
                </a:solidFill>
                <a:latin typeface="Consolas"/>
              </a:rPr>
              <a:t>~30s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95828"/>
            <a:ext cx="8126729" cy="445770"/>
          </a:xfrm>
          <a:prstGeom prst="roundRect">
            <a:avLst>
              <a:gd name="adj" fmla="val 10000"/>
            </a:avLst>
          </a:prstGeom>
          <a:solidFill>
            <a:srgbClr val="242A44"/>
          </a:solidFill>
          <a:ln w="14287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195828"/>
            <a:ext cx="480059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onsolas"/>
              </a:rPr>
              <a:t>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7310" y="3195828"/>
            <a:ext cx="308610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E5E7EB"/>
                </a:solidFill>
                <a:latin typeface="Calibri"/>
              </a:rPr>
              <a:t>AI 課程 + 教授介紹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7700" y="3195828"/>
            <a:ext cx="23317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37" b="0" i="1">
                <a:solidFill>
                  <a:srgbClr val="9CA3AF"/>
                </a:solidFill>
                <a:latin typeface="Calibri"/>
              </a:rPr>
              <a:t>multi-turn 主菜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95828"/>
            <a:ext cx="106299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7B5CF5"/>
                </a:solidFill>
                <a:latin typeface="Calibri"/>
              </a:rPr>
              <a:t>★★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0990" y="3195828"/>
            <a:ext cx="85725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r"/>
            <a:r>
              <a:rPr sz="825" b="0" i="0">
                <a:solidFill>
                  <a:srgbClr val="9CA3AF"/>
                </a:solidFill>
                <a:latin typeface="Consolas"/>
              </a:rPr>
              <a:t>~60-90s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96462"/>
            <a:ext cx="8126729" cy="445770"/>
          </a:xfrm>
          <a:prstGeom prst="roundRect">
            <a:avLst>
              <a:gd name="adj" fmla="val 10000"/>
            </a:avLst>
          </a:prstGeom>
          <a:solidFill>
            <a:srgbClr val="242A44"/>
          </a:solidFill>
          <a:ln w="14287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696462"/>
            <a:ext cx="480059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FB7048"/>
                </a:solidFill>
                <a:latin typeface="Consolas"/>
              </a:rPr>
              <a:t>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7310" y="3696462"/>
            <a:ext cx="308610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E5E7EB"/>
                </a:solidFill>
                <a:latin typeface="Calibri"/>
              </a:rPr>
              <a:t>新書 + 天氣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7700" y="3696462"/>
            <a:ext cx="23317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37" b="0" i="1">
                <a:solidFill>
                  <a:srgbClr val="9CA3AF"/>
                </a:solidFill>
                <a:latin typeface="Calibri"/>
              </a:rPr>
              <a:t>parallel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96462"/>
            <a:ext cx="106299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FB7048"/>
                </a:solidFill>
                <a:latin typeface="Calibri"/>
              </a:rPr>
              <a:t>★★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990" y="3696462"/>
            <a:ext cx="85725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r"/>
            <a:r>
              <a:rPr sz="825" b="0" i="0">
                <a:solidFill>
                  <a:srgbClr val="9CA3AF"/>
                </a:solidFill>
                <a:latin typeface="Consolas"/>
              </a:rPr>
              <a:t>~45s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197096"/>
            <a:ext cx="8126729" cy="445770"/>
          </a:xfrm>
          <a:prstGeom prst="roundRect">
            <a:avLst>
              <a:gd name="adj" fmla="val 10000"/>
            </a:avLst>
          </a:prstGeom>
          <a:solidFill>
            <a:srgbClr val="242A44"/>
          </a:solidFill>
          <a:ln w="14287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197096"/>
            <a:ext cx="480059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onsolas"/>
              </a:rPr>
              <a:t>Q5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7310" y="4197096"/>
            <a:ext cx="308610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E5E7EB"/>
                </a:solidFill>
                <a:latin typeface="Calibri"/>
              </a:rPr>
              <a:t>課程 + 論文 + 推薦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7700" y="4197096"/>
            <a:ext cx="233172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37" b="0" i="1">
                <a:solidFill>
                  <a:srgbClr val="9CA3AF"/>
                </a:solidFill>
                <a:latin typeface="Calibri"/>
              </a:rPr>
              <a:t>maxIter 挑戰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97096"/>
            <a:ext cx="106299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EF4444"/>
                </a:solidFill>
                <a:latin typeface="Calibri"/>
              </a:rPr>
              <a:t>★★★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0990" y="4197096"/>
            <a:ext cx="857250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r"/>
            <a:r>
              <a:rPr sz="825" b="0" i="0">
                <a:solidFill>
                  <a:srgbClr val="9CA3AF"/>
                </a:solidFill>
                <a:latin typeface="Consolas"/>
              </a:rPr>
              <a:t>~90-120s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4800600"/>
            <a:ext cx="1371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  <a:latin typeface="Consolas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05 · ①   S T R A T E G I E S · 回看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100" b="1" i="0">
                <a:solidFill>
                  <a:srgbClr val="1F2937"/>
                </a:solidFill>
                <a:latin typeface="Arial Black"/>
              </a:rPr>
              <a:t>回頭看三種策略 — Agentic Loop 站在哪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Segment 1 介紹的三條路,Agentic Loop 是其中能力最完整的一條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708910" cy="27432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88819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3B82F6"/>
                </a:solidFill>
                <a:latin typeface="Arial Black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4589"/>
            <a:ext cx="23660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1">
                <a:solidFill>
                  <a:srgbClr val="9CA3AF"/>
                </a:solidFill>
                <a:latin typeface="Calibri"/>
              </a:rPr>
              <a:t>檢索增強生成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46070"/>
            <a:ext cx="23660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✓ 解知識截止
✓ 讀私有文件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43350"/>
            <a:ext cx="2366010" cy="6858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B91C1C"/>
                </a:solidFill>
                <a:latin typeface="Calibri"/>
              </a:rPr>
              <a:t>✗ 不能執行動作
✗ 單輪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3260" y="1851660"/>
            <a:ext cx="2708910" cy="27432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4710" y="1988819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Tool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2434589"/>
            <a:ext cx="23660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1">
                <a:solidFill>
                  <a:srgbClr val="9CA3AF"/>
                </a:solidFill>
                <a:latin typeface="Calibri"/>
              </a:rPr>
              <a:t>工具呼叫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710" y="2846070"/>
            <a:ext cx="23660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✓ 能執行動作
✓ 接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4710" y="3943350"/>
            <a:ext cx="2366010" cy="6858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B91C1C"/>
                </a:solidFill>
                <a:latin typeface="Calibri"/>
              </a:rPr>
              <a:t>✗ 典型 1-2 輪
✗ 不主動拆解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9330" y="1851660"/>
            <a:ext cx="2708910" cy="27432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0780" y="1988819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Agentic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0780" y="2434589"/>
            <a:ext cx="23660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1">
                <a:solidFill>
                  <a:srgbClr val="9CA3AF"/>
                </a:solidFill>
                <a:latin typeface="Calibri"/>
              </a:rPr>
              <a:t>多輪迭代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780" y="2846070"/>
            <a:ext cx="23660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✓ 自己拆解問題
✓ 多輪 + 結果驅動
✓ Tool Use 完整版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0780" y="3943350"/>
            <a:ext cx="2366010" cy="6858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FB7048"/>
                </a:solidFill>
                <a:latin typeface="Calibri"/>
              </a:rPr>
              <a:t>⚠ 成本最高、難 debug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930" y="47663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669" y="47663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FB7048"/>
                </a:solidFill>
                <a:latin typeface="Calibri"/>
              </a:rPr>
              <a:t>▶  從『單輪答話』到『多輪自主』 —— Segment 4 你會親手跑一個 mini-project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