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2930" y="377190"/>
            <a:ext cx="377190" cy="48006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2930" y="514350"/>
            <a:ext cx="8229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MCP 入門工作坊  ·  第三講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1371600"/>
            <a:ext cx="8229600" cy="10972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5400" b="1" i="0">
                <a:solidFill>
                  <a:srgbClr val="1F2937"/>
                </a:solidFill>
                <a:latin typeface="Arial Black"/>
              </a:rPr>
              <a:t>Agentic Tool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2400300"/>
            <a:ext cx="822960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950" b="1" i="0">
                <a:solidFill>
                  <a:srgbClr val="7B5CF5"/>
                </a:solidFill>
                <a:latin typeface="Calibri"/>
              </a:rPr>
              <a:t>LLM 如何自主決策、呼叫工具、迭代推理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2930" y="432054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范耀中  Yao-Chung Fan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2930" y="462915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國立中興大學  ·  AI 學伴系統實務案例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4114800"/>
            <a:ext cx="2948939" cy="75438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37909" y="4149089"/>
            <a:ext cx="27432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200" b="1" i="0">
                <a:solidFill>
                  <a:srgbClr val="5B3ED9"/>
                </a:solidFill>
                <a:latin typeface="Arial Black"/>
              </a:rPr>
              <a:t>從一次回答 → 多輪迭代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37909" y="4457700"/>
            <a:ext cx="27432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75" b="0" i="0">
                <a:solidFill>
                  <a:srgbClr val="1F2937"/>
                </a:solidFill>
                <a:latin typeface="Calibri"/>
              </a:rPr>
              <a:t>LLM 不只回答,還會自己選工具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00   A G E N D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000" b="1" i="0">
                <a:solidFill>
                  <a:srgbClr val="1F2937"/>
                </a:solidFill>
                <a:latin typeface="Arial Black"/>
              </a:rPr>
              <a:t>本講四個段落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33731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Agentic 觀念 → 訊息機制 → 控制迴圈 → Live Demo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637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637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FB7048"/>
                </a:solidFill>
                <a:latin typeface="Arial Black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" y="2708910"/>
            <a:ext cx="168021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什麼是 Agentic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" y="3326129"/>
            <a:ext cx="16802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225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傳統 LLM vs 自主代理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6664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6664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4650" y="2708910"/>
            <a:ext cx="168021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tool_use / 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4650" y="3326129"/>
            <a:ext cx="16802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225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Claude API 訊息格式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0347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02691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691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2708910"/>
            <a:ext cx="168021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迭代控制機制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3326129"/>
            <a:ext cx="16802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225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maxIterations · 強制回覆</a:t>
            </a:r>
          </a:p>
          <a:p>
            <a:pPr algn="l">
              <a:spcAft>
                <a:spcPts val="225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· Metadata 追蹤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6374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718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718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EF4444"/>
                </a:solidFill>
                <a:latin typeface="Arial Black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5190" y="2708910"/>
            <a:ext cx="168021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Live Demo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5190" y="3326129"/>
            <a:ext cx="16802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225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Running Example 逐步解說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  A G E N T I C   L O O P   ·   觀 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傳統 LLM vs Agentic LLM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從「單輪問答」到「多輪迭代」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80510" cy="2743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90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9CA3AF"/>
                </a:solidFill>
                <a:latin typeface="Arial Black"/>
              </a:rPr>
              <a:t>傳統 LLM — 單輪問答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" y="2331720"/>
            <a:ext cx="3771900" cy="219456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125" b="0" i="0">
                <a:solidFill>
                  <a:srgbClr val="1F2937"/>
                </a:solidFill>
                <a:latin typeface="Calibri"/>
              </a:rPr>
              <a:t>使用者  →  提問</a:t>
            </a:r>
          </a:p>
          <a:p>
            <a:pPr algn="l">
              <a:spcAft>
                <a:spcPts val="450"/>
              </a:spcAft>
            </a:pPr>
            <a:r>
              <a:rPr sz="1125" b="0" i="0">
                <a:solidFill>
                  <a:srgbClr val="1F2937"/>
                </a:solidFill>
                <a:latin typeface="Calibri"/>
              </a:rPr>
              <a:t>LLM     →  回答(僅根據訓練資料)</a:t>
            </a:r>
          </a:p>
          <a:p>
            <a:pPr algn="l">
              <a:spcAft>
                <a:spcPts val="1350"/>
              </a:spcAft>
            </a:pPr>
            <a:r>
              <a:rPr sz="1125" b="0" i="0">
                <a:solidFill>
                  <a:srgbClr val="1F2937"/>
                </a:solidFill>
                <a:latin typeface="Calibri"/>
              </a:rPr>
              <a:t>結束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B91C1C"/>
                </a:solidFill>
                <a:latin typeface="Calibri"/>
              </a:rPr>
              <a:t>✗  無法存取外部資料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B91C1C"/>
                </a:solidFill>
                <a:latin typeface="Calibri"/>
              </a:rPr>
              <a:t>✗  無法執行動作</a:t>
            </a:r>
          </a:p>
          <a:p>
            <a:pPr algn="l">
              <a:spcAft>
                <a:spcPts val="0"/>
              </a:spcAft>
            </a:pPr>
            <a:r>
              <a:rPr sz="975" b="0" i="0">
                <a:solidFill>
                  <a:srgbClr val="B91C1C"/>
                </a:solidFill>
                <a:latin typeface="Calibri"/>
              </a:rPr>
              <a:t>✗  一次互動就結束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34890" y="1851660"/>
            <a:ext cx="4011929" cy="27432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Agentic LLM — 多輪迭代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6340" y="2331720"/>
            <a:ext cx="3703320" cy="219456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25" b="0" i="0">
                <a:solidFill>
                  <a:srgbClr val="1F2937"/>
                </a:solidFill>
                <a:latin typeface="Calibri"/>
              </a:rPr>
              <a:t>使用者  →  提問</a:t>
            </a:r>
          </a:p>
          <a:p>
            <a:pPr algn="l">
              <a:spcAft>
                <a:spcPts val="300"/>
              </a:spcAft>
            </a:pPr>
            <a:r>
              <a:rPr sz="1125" b="0" i="0">
                <a:solidFill>
                  <a:srgbClr val="1F2937"/>
                </a:solidFill>
                <a:latin typeface="Calibri"/>
              </a:rPr>
              <a:t>LLM     →  分析 → 選工具 → 呼叫</a:t>
            </a:r>
          </a:p>
          <a:p>
            <a:pPr algn="l">
              <a:spcAft>
                <a:spcPts val="300"/>
              </a:spcAft>
            </a:pPr>
            <a:r>
              <a:rPr sz="1125" b="0" i="0">
                <a:solidFill>
                  <a:srgbClr val="1F2937"/>
                </a:solidFill>
                <a:latin typeface="Calibri"/>
              </a:rPr>
              <a:t>工具    →  回傳結果</a:t>
            </a:r>
          </a:p>
          <a:p>
            <a:pPr algn="l">
              <a:spcAft>
                <a:spcPts val="300"/>
              </a:spcAft>
            </a:pPr>
            <a:r>
              <a:rPr sz="1125" b="0" i="0">
                <a:solidFill>
                  <a:srgbClr val="1F2937"/>
                </a:solidFill>
                <a:latin typeface="Calibri"/>
              </a:rPr>
              <a:t>LLM     →  再分析 → 可能再呼叫…</a:t>
            </a:r>
          </a:p>
          <a:p>
            <a:pPr algn="l">
              <a:spcAft>
                <a:spcPts val="900"/>
              </a:spcAft>
            </a:pPr>
            <a:r>
              <a:rPr sz="1125" b="0" i="0">
                <a:solidFill>
                  <a:srgbClr val="1F2937"/>
                </a:solidFill>
                <a:latin typeface="Calibri"/>
              </a:rPr>
              <a:t>LLM     →  整合回覆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0F766E"/>
                </a:solidFill>
                <a:latin typeface="Calibri"/>
              </a:rPr>
              <a:t>✓  自主決策、多輪迭代</a:t>
            </a:r>
          </a:p>
          <a:p>
            <a:pPr algn="l">
              <a:spcAft>
                <a:spcPts val="0"/>
              </a:spcAft>
            </a:pPr>
            <a:r>
              <a:rPr sz="975" b="0" i="0">
                <a:solidFill>
                  <a:srgbClr val="0F766E"/>
                </a:solidFill>
                <a:latin typeface="Calibri"/>
              </a:rPr>
              <a:t>✓  存取外部系統、執行動作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①   A G E N T I C   L O O P   ·   概 念 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Agentic Tool Loop 概念圖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每一輪稱為一個 iteration,最多 maxIterations(預設 7)輪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7190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7B5CF5"/>
                </a:solidFill>
                <a:latin typeface="Calibri"/>
              </a:rPr>
              <a:t>User
Query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4529" y="1954530"/>
            <a:ext cx="171450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88819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88819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7B5CF5"/>
                </a:solidFill>
                <a:latin typeface="Calibri"/>
              </a:rPr>
              <a:t>Build
Messages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59" y="1954530"/>
            <a:ext cx="171450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0449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449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FB7048"/>
                </a:solidFill>
                <a:latin typeface="Calibri"/>
              </a:rPr>
              <a:t>Call
LLM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77790" y="1954530"/>
            <a:ext cx="171450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12079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79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FB7048"/>
                </a:solidFill>
                <a:latin typeface="Calibri"/>
              </a:rPr>
              <a:t>Check
stop_reason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9419" y="1954530"/>
            <a:ext cx="171450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23709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3709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0EA594"/>
                </a:solidFill>
                <a:latin typeface="Calibri"/>
              </a:rPr>
              <a:t>Execute
MCP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930" y="2880360"/>
            <a:ext cx="82296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050" b="1" i="1">
                <a:solidFill>
                  <a:srgbClr val="0F766E"/>
                </a:solidFill>
                <a:latin typeface="Calibri"/>
              </a:rPr>
              <a:t>↑   追加 tool_result 到 messages,回到 LLM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2930" y="3394710"/>
            <a:ext cx="4080510" cy="12687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4380" y="351815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stop_reason = "tool_use"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" y="3806189"/>
            <a:ext cx="3771900" cy="78866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→  執行工具 → 追加 tool_result → 進入下一輪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34890" y="3394710"/>
            <a:ext cx="4011929" cy="12687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6340" y="351815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stop_reason = "end_turn"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06340" y="3806189"/>
            <a:ext cx="3703320" cy="78866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→  跳出迴圈,把最終文字回給使用者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  S T O P   R E A S O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stop_reason — 迴圈的關鍵判斷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Claude API 用這個欄位告訴 client 接下來該怎麼做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51660"/>
            <a:ext cx="2708910" cy="24003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88819"/>
            <a:ext cx="23660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1" i="0">
                <a:solidFill>
                  <a:srgbClr val="0EA594"/>
                </a:solidFill>
                <a:latin typeface="Consolas"/>
              </a:rPr>
              <a:t>"end_turn"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37460"/>
            <a:ext cx="236601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模型認為已可回覆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86100"/>
            <a:ext cx="23660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374151"/>
                </a:solidFill>
                <a:latin typeface="Calibri"/>
              </a:rPr>
              <a:t>結束迴圈,回傳最終回覆給使用者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23260" y="1851660"/>
            <a:ext cx="2708910" cy="24003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94710" y="1988819"/>
            <a:ext cx="23660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1" i="0">
                <a:solidFill>
                  <a:srgbClr val="FB7048"/>
                </a:solidFill>
                <a:latin typeface="Consolas"/>
              </a:rPr>
              <a:t>"tool_use"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4710" y="2537460"/>
            <a:ext cx="236601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模型需要呼叫工具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4710" y="3086100"/>
            <a:ext cx="23660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374151"/>
                </a:solidFill>
                <a:latin typeface="Calibri"/>
              </a:rPr>
              <a:t>執行工具 → 追加結果 → 進入下一輪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69330" y="1851660"/>
            <a:ext cx="2708910" cy="24003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0780" y="1988819"/>
            <a:ext cx="23660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1" i="0">
                <a:solidFill>
                  <a:srgbClr val="EF4444"/>
                </a:solidFill>
                <a:latin typeface="Consolas"/>
              </a:rPr>
              <a:t>"max_tokens"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0780" y="2537460"/>
            <a:ext cx="236601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回覆被截斷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0780" y="3086100"/>
            <a:ext cx="23660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374151"/>
                </a:solidFill>
                <a:latin typeface="Calibri"/>
              </a:rPr>
              <a:t>視為完成或觸發錯誤處理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2930" y="438912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4380" y="4389120"/>
            <a:ext cx="78867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E5E7EB"/>
                </a:solidFill>
                <a:latin typeface="Consolas"/>
              </a:rPr>
              <a:t>while (stop_reason === "tool_use" &amp;&amp; iteration &lt; maxIterations) { … 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①   T O O L _ U S E   B L O C 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tool_use — LLM 的工具呼叫指令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當 LLM 決定呼叫工具時,response.content 會含 tool_use block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714500"/>
            <a:ext cx="4800600" cy="240030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386" y="1865376"/>
            <a:ext cx="4423410" cy="211226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// Claude API response.content 陣列中的一個 block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"type": "tool_use",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"id": "toolu_01A09q90qw90lq917835lq9",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  "name": "search_library_books",  // MCP 工具名稱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"input": {                       // LLM 自動產生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    "keyword": "人工智慧",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"limit": 10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4979" y="1714500"/>
            <a:ext cx="3291839" cy="99440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26429" y="1837944"/>
            <a:ext cx="294893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FB7048"/>
                </a:solidFill>
                <a:latin typeface="Arial Black"/>
              </a:rPr>
              <a:t>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26429" y="2057400"/>
            <a:ext cx="301752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唯一識別碼,後續 tool_result 必須對應同一個 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54979" y="2811779"/>
            <a:ext cx="3291839" cy="99440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26429" y="2935223"/>
            <a:ext cx="294893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7B5CF5"/>
                </a:solidFill>
                <a:latin typeface="Arial Black"/>
              </a:rPr>
              <a:t>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26429" y="3154679"/>
            <a:ext cx="301752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對應 MCP Server 註冊的工具名稱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54979" y="3909060"/>
            <a:ext cx="3291839" cy="99440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26429" y="4032504"/>
            <a:ext cx="294893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0EA594"/>
                </a:solidFill>
                <a:latin typeface="Arial Black"/>
              </a:rPr>
              <a:t>input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26429" y="4251960"/>
            <a:ext cx="301752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LLM 根據 JSON Schema 自動生成的參數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②   T O O L _ R E S U L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tool_result — 工具執行結果回傳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Client 執行 MCP 工具後,將結果以 user 角色追加到 messages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714500"/>
            <a:ext cx="5143500" cy="253746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386" y="1865376"/>
            <a:ext cx="4766310" cy="224942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// 追加到 messages 陣列(role: user)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"role": "user",                  ← 注意 role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"content": [{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"type": "tool_result",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  "tool_use_id": "toolu_01A09q...",  ← 同 id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"content": [{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"type": "text",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      "text": "[{\"title\":\"深度學習入門\"},…]"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}],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"is_error": false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}]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97879" y="1714500"/>
            <a:ext cx="2948939" cy="96011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69329" y="1837944"/>
            <a:ext cx="260603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00" b="1" i="0">
                <a:solidFill>
                  <a:srgbClr val="FB7048"/>
                </a:solidFill>
                <a:latin typeface="Arial Black"/>
              </a:rPr>
              <a:t>tool_use_id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69329" y="2057400"/>
            <a:ext cx="274320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必須與 tool_use 的 id 一致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97879" y="2777489"/>
            <a:ext cx="2948939" cy="96011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69329" y="2900933"/>
            <a:ext cx="260603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00" b="1" i="0">
                <a:solidFill>
                  <a:srgbClr val="0EA594"/>
                </a:solidFill>
                <a:latin typeface="Arial Black"/>
              </a:rPr>
              <a:t>content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69329" y="3120389"/>
            <a:ext cx="274320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MCP 工具的實際回傳值(JSON 序列化為 text)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97879" y="3840479"/>
            <a:ext cx="2948939" cy="960119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69329" y="3963923"/>
            <a:ext cx="260603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Arial Black"/>
              </a:rPr>
              <a:t>is_error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69329" y="4183379"/>
            <a:ext cx="274320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true 時 LLM 會嘗試錯誤處理或換工具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③   M E S S A G E S   G R O W T 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Messages 陣列的成長過程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每一輪迭代都追加 assistant + user(tool_result) —— 陣列持續增長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1234440" cy="377190"/>
          </a:xfrm>
          <a:prstGeom prst="roundRect">
            <a:avLst>
              <a:gd name="adj" fmla="val 10000"/>
            </a:avLst>
          </a:prstGeom>
          <a:solidFill>
            <a:srgbClr val="3B82F6"/>
          </a:solidFill>
          <a:ln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2930" y="1851660"/>
            <a:ext cx="123444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onsolas"/>
              </a:rPr>
              <a:t>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4530" y="1851660"/>
            <a:ext cx="68580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System Prompt(角色設定 + 注入資訊)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2930" y="2331720"/>
            <a:ext cx="1234440" cy="377190"/>
          </a:xfrm>
          <a:prstGeom prst="roundRect">
            <a:avLst>
              <a:gd name="adj" fmla="val 10000"/>
            </a:avLst>
          </a:prstGeom>
          <a:solidFill>
            <a:srgbClr val="7B5CF5"/>
          </a:solidFill>
          <a:ln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2930" y="2331720"/>
            <a:ext cx="123444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onsolas"/>
              </a:rPr>
              <a:t>user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4530" y="2331720"/>
            <a:ext cx="68580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中興大學圖書館有什麼新書?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2930" y="2811780"/>
            <a:ext cx="1234440" cy="377190"/>
          </a:xfrm>
          <a:prstGeom prst="roundRect">
            <a:avLst>
              <a:gd name="adj" fmla="val 10000"/>
            </a:avLst>
          </a:prstGeom>
          <a:solidFill>
            <a:srgbClr val="FB7048"/>
          </a:solidFill>
          <a:ln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2930" y="2811780"/>
            <a:ext cx="123444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onsolas"/>
              </a:rPr>
              <a:t>assistant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54530" y="2811780"/>
            <a:ext cx="68580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我需要查詢…  + tool_use: search_new_books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3017520"/>
            <a:ext cx="89154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1" i="1">
                <a:solidFill>
                  <a:srgbClr val="FB7048"/>
                </a:solidFill>
                <a:latin typeface="Calibri"/>
              </a:rPr>
              <a:t>第 1 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2930" y="3291840"/>
            <a:ext cx="1234440" cy="377190"/>
          </a:xfrm>
          <a:prstGeom prst="roundRect">
            <a:avLst>
              <a:gd name="adj" fmla="val 10000"/>
            </a:avLst>
          </a:prstGeom>
          <a:solidFill>
            <a:srgbClr val="0EA594"/>
          </a:solidFill>
          <a:ln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2930" y="3291840"/>
            <a:ext cx="123444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onsolas"/>
              </a:rPr>
              <a:t>user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54530" y="3291840"/>
            <a:ext cx="68580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tool_result: [{"title":"深度學習入門",…}]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2930" y="3771900"/>
            <a:ext cx="1234440" cy="377190"/>
          </a:xfrm>
          <a:prstGeom prst="roundRect">
            <a:avLst>
              <a:gd name="adj" fmla="val 10000"/>
            </a:avLst>
          </a:prstGeom>
          <a:solidFill>
            <a:srgbClr val="FB7048"/>
          </a:solidFill>
          <a:ln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930" y="3771900"/>
            <a:ext cx="123444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onsolas"/>
              </a:rPr>
              <a:t>assistant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54530" y="3771900"/>
            <a:ext cx="68580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以下是圖書館最新書籍:1.《深度學習入門》…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3977639"/>
            <a:ext cx="89154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1" i="1">
                <a:solidFill>
                  <a:srgbClr val="FB7048"/>
                </a:solidFill>
                <a:latin typeface="Calibri"/>
              </a:rPr>
              <a:t>第 2 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④   P A R A L L E L   T O O L   C A L L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一輪中呼叫多個工具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response.content 可以同時包含多個 tool_use block —— 平行執行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714500"/>
            <a:ext cx="8229600" cy="253746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386" y="1865376"/>
            <a:ext cx="7852409" cy="224942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response.content = [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{ type: "text",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    text: "讓我同時查詢課程和圖書資訊..." },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{ type: "tool_use", name: "search_courses",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id: "toolu_001", input: { keyword: "AI" } },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{ type: "tool_use", name: "search_library_books",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id: "toolu_002", input: { keyword: "AI" }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]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// Client 端收集所有 tool_use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const toolCalls = response.content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.filter(c =&gt; c.type === "tool_use");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// → 依序執行每個工具,收集結果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2930" y="4354829"/>
            <a:ext cx="8229600" cy="44577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8669" y="4354829"/>
            <a:ext cx="781812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興大 AI 學伴:「幫我查 AI 課程和相關書籍」→ 一輪同時呼叫 search_courses + search_library_books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  C O R E   L O O 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chatWithStreaming() —— 核心迴圈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整個 agent 行為就是這 ~15 行 — while loop 加上 stop 條件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714500"/>
            <a:ext cx="8229600" cy="294893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386" y="1865376"/>
            <a:ext cx="7852409" cy="266090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async chatWithStreaming(messages, options) 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const maxIterations = options.maxIterations || 7;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let iteration = 0;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while (iteration &lt; maxIterations) 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iteration++;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    // 最後一輪? 注入強制回覆提示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if (iteration === maxIterations) 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messages.push({ role: "user",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        content: "這是最後一輪,請直接回覆..." });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response = await callLLM(messages, tools);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toolCalls = response.content.filter(c=&gt;c.type==="tool_use");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  if (toolCalls.length === 0) break;  // end_turn → 結束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results = await executeTools(toolCalls);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messages.push(assistantMsg, toolResultMsg);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· ①   M A X _ I T E R A T I O N S   ·   強 制 回 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maxIterations 與強制回覆機制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避免 LLM 無限呼叫工具 —— 設上限 + 最後一輪強制總結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80510" cy="27432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EF4444"/>
                </a:solidFill>
                <a:latin typeface="Arial Black"/>
              </a:rPr>
              <a:t>問題:無限迴圈風險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" y="2263139"/>
            <a:ext cx="3771900" cy="22631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LLM 可能不斷呼叫工具而永遠不回覆使用者,造成:</a:t>
            </a:r>
          </a:p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B91C1C"/>
                </a:solidFill>
                <a:latin typeface="Calibri"/>
              </a:rPr>
              <a:t>✗  Token 成本無限增長</a:t>
            </a:r>
          </a:p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B91C1C"/>
                </a:solidFill>
                <a:latin typeface="Calibri"/>
              </a:rPr>
              <a:t>✗  回應時間過長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B91C1C"/>
                </a:solidFill>
                <a:latin typeface="Calibri"/>
              </a:rPr>
              <a:t>✗  使用者體驗極差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34890" y="1851660"/>
            <a:ext cx="4011929" cy="27432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解法:maxIterations =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6340" y="2263139"/>
            <a:ext cx="3703320" cy="22631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✓  設定最大迭代次數上限</a:t>
            </a:r>
          </a:p>
          <a:p>
            <a:pPr algn="l">
              <a:spcAft>
                <a:spcPts val="1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✓  第 7 輪(最後一輪)時注入臨時</a:t>
            </a:r>
          </a:p>
          <a:p>
            <a:pPr algn="l">
              <a:spcAft>
                <a:spcPts val="1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    user message 強制模型停止使用</a:t>
            </a:r>
          </a:p>
          <a:p>
            <a:pPr algn="l">
              <a:spcAft>
                <a:spcPts val="10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    工具,直接整理回覆</a:t>
            </a:r>
          </a:p>
          <a:p>
            <a:pPr algn="l">
              <a:spcAft>
                <a:spcPts val="150"/>
              </a:spcAft>
            </a:pPr>
            <a:r>
              <a:rPr sz="900" b="1" i="1">
                <a:solidFill>
                  <a:srgbClr val="0F766E"/>
                </a:solidFill>
                <a:latin typeface="Consolas"/>
              </a:rPr>
              <a:t>「請不要再使用任何工具,</a:t>
            </a:r>
          </a:p>
          <a:p>
            <a:pPr algn="l">
              <a:spcAft>
                <a:spcPts val="0"/>
              </a:spcAft>
            </a:pPr>
            <a:r>
              <a:rPr sz="900" b="1" i="1">
                <a:solidFill>
                  <a:srgbClr val="0F766E"/>
                </a:solidFill>
                <a:latin typeface="Consolas"/>
              </a:rPr>
              <a:t>  直接根據工具回傳的資料整理 Markdown 回覆。」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· ②   M E T A D A T A   T R A C K I N 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Arial Black"/>
              </a:rPr>
              <a:t>Metadata 追蹤 —— 不污染 Messages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每輪的 stop_reason 與 token usage 用「平行陣列」記錄,結構分離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817369"/>
            <a:ext cx="3017520" cy="308610"/>
          </a:xfrm>
          <a:prstGeom prst="rect">
            <a:avLst/>
          </a:prstGeom>
          <a:solidFill>
            <a:srgbClr val="EE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2930" y="1817369"/>
            <a:ext cx="3017520" cy="30861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7B5CF5"/>
                </a:solidFill>
                <a:latin typeface="Consolas"/>
              </a:rPr>
              <a:t>messages[]</a:t>
            </a:r>
          </a:p>
        </p:txBody>
      </p:sp>
      <p:sp>
        <p:nvSpPr>
          <p:cNvPr id="9" name="Rectangle 8"/>
          <p:cNvSpPr/>
          <p:nvPr/>
        </p:nvSpPr>
        <p:spPr>
          <a:xfrm>
            <a:off x="3737610" y="1817369"/>
            <a:ext cx="2743200" cy="308610"/>
          </a:xfrm>
          <a:prstGeom prst="rect">
            <a:avLst/>
          </a:prstGeom>
          <a:solidFill>
            <a:srgbClr val="FFE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37610" y="1817369"/>
            <a:ext cx="2743200" cy="30861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FB7048"/>
                </a:solidFill>
                <a:latin typeface="Consolas"/>
              </a:rPr>
              <a:t>messageStopReasons[]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17970" y="1817369"/>
            <a:ext cx="2228850" cy="308610"/>
          </a:xfrm>
          <a:prstGeom prst="rect">
            <a:avLst/>
          </a:prstGeom>
          <a:solidFill>
            <a:srgbClr val="D4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7970" y="1817369"/>
            <a:ext cx="2228850" cy="30861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0EA594"/>
                </a:solidFill>
                <a:latin typeface="Consolas"/>
              </a:rPr>
              <a:t>messageUsages[]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2930" y="2160270"/>
            <a:ext cx="3017520" cy="48005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7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509" y="2160270"/>
            <a:ext cx="2880360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onsolas"/>
              </a:rPr>
              <a:t>assistant (tool_use)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37610" y="2160270"/>
            <a:ext cx="2743200" cy="48005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7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06189" y="2160270"/>
            <a:ext cx="2606039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onsolas"/>
              </a:rPr>
              <a:t>tool_use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17970" y="2160270"/>
            <a:ext cx="2228850" cy="48005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7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86550" y="2160270"/>
            <a:ext cx="2091689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onsolas"/>
              </a:rPr>
              <a:t>{ in: 850, out: 120 }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2930" y="2708910"/>
            <a:ext cx="3017520" cy="48005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7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509" y="2708910"/>
            <a:ext cx="2880360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onsolas"/>
              </a:rPr>
              <a:t>user (tool_result)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37610" y="2708910"/>
            <a:ext cx="2743200" cy="48005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7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06189" y="2708910"/>
            <a:ext cx="2606039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onsolas"/>
              </a:rPr>
              <a:t>null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17970" y="2708910"/>
            <a:ext cx="2228850" cy="48005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7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86550" y="2708910"/>
            <a:ext cx="2091689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onsolas"/>
              </a:rPr>
              <a:t>null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2930" y="3257550"/>
            <a:ext cx="3017520" cy="48005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7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509" y="3257550"/>
            <a:ext cx="2880360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onsolas"/>
              </a:rPr>
              <a:t>assistant (end_turn)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37610" y="3257550"/>
            <a:ext cx="2743200" cy="48005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7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06189" y="3257550"/>
            <a:ext cx="2606039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onsolas"/>
              </a:rPr>
              <a:t>end_turn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17970" y="3257550"/>
            <a:ext cx="2228850" cy="48005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7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86550" y="3257550"/>
            <a:ext cx="2091689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onsolas"/>
              </a:rPr>
              <a:t>{ in: 1200, out: 350 }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2930" y="4354829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8669" y="4354829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alibri"/>
              </a:rPr>
              <a:t>▶  索引對齊、結構分離 — 乾淨且不影響 API 呼叫格式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· ③   S S E   S T R E A M I N 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SSE 串流 —— 即時回饋使用者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整個 agentic loop 過程,透過 Server-Sent Events 逐步通知前端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51660"/>
            <a:ext cx="2708910" cy="10287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1920240"/>
            <a:ext cx="243459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onsolas"/>
              </a:rPr>
              <a:t>thinking_start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2263140"/>
            <a:ext cx="243459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第 N 輪思考中…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4350" y="2571750"/>
            <a:ext cx="243459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825" b="0" i="1">
                <a:solidFill>
                  <a:srgbClr val="9CA3AF"/>
                </a:solidFill>
                <a:latin typeface="Calibri"/>
              </a:rPr>
              <a:t>每輪開始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23260" y="1851660"/>
            <a:ext cx="2708910" cy="10287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0420" y="1920240"/>
            <a:ext cx="243459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0">
                <a:solidFill>
                  <a:srgbClr val="FB7048"/>
                </a:solidFill>
                <a:latin typeface="Consolas"/>
              </a:rPr>
              <a:t>tools_start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420" y="2263140"/>
            <a:ext cx="243459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開始執行工具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0420" y="2571750"/>
            <a:ext cx="243459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825" b="0" i="1">
                <a:solidFill>
                  <a:srgbClr val="9CA3AF"/>
                </a:solidFill>
                <a:latin typeface="Calibri"/>
              </a:rPr>
              <a:t>偵測 tool_use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69330" y="1851660"/>
            <a:ext cx="2708910" cy="10287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06490" y="1920240"/>
            <a:ext cx="243459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0">
                <a:solidFill>
                  <a:srgbClr val="EF4444"/>
                </a:solidFill>
                <a:latin typeface="Consolas"/>
              </a:rPr>
              <a:t>tool_executing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6490" y="2263140"/>
            <a:ext cx="243459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正在執行 search_books…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6490" y="2571750"/>
            <a:ext cx="243459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825" b="0" i="1">
                <a:solidFill>
                  <a:srgbClr val="9CA3AF"/>
                </a:solidFill>
                <a:latin typeface="Calibri"/>
              </a:rPr>
              <a:t>每個工具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7190" y="3017520"/>
            <a:ext cx="2708910" cy="10287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4350" y="3086100"/>
            <a:ext cx="243459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0">
                <a:solidFill>
                  <a:srgbClr val="0EA594"/>
                </a:solidFill>
                <a:latin typeface="Consolas"/>
              </a:rPr>
              <a:t>tool_completed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350" y="3429000"/>
            <a:ext cx="243459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工具完成,取得結果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350" y="3737610"/>
            <a:ext cx="243459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825" b="0" i="1">
                <a:solidFill>
                  <a:srgbClr val="9CA3AF"/>
                </a:solidFill>
                <a:latin typeface="Calibri"/>
              </a:rPr>
              <a:t>工具完成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23260" y="3017520"/>
            <a:ext cx="2708910" cy="102870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60420" y="3086100"/>
            <a:ext cx="243459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0">
                <a:solidFill>
                  <a:srgbClr val="3B82F6"/>
                </a:solidFill>
                <a:latin typeface="Consolas"/>
              </a:rPr>
              <a:t>text_chunk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60420" y="3429000"/>
            <a:ext cx="243459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逐字回傳最終文字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60420" y="3737610"/>
            <a:ext cx="243459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825" b="0" i="1">
                <a:solidFill>
                  <a:srgbClr val="9CA3AF"/>
                </a:solidFill>
                <a:latin typeface="Calibri"/>
              </a:rPr>
              <a:t>最後回覆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69330" y="3017520"/>
            <a:ext cx="2708910" cy="10287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06490" y="3086100"/>
            <a:ext cx="243459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0">
                <a:solidFill>
                  <a:srgbClr val="0F766E"/>
                </a:solidFill>
                <a:latin typeface="Consolas"/>
              </a:rPr>
              <a:t>done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06490" y="3429000"/>
            <a:ext cx="243459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串流結束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06490" y="3737610"/>
            <a:ext cx="243459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825" b="0" i="1">
                <a:solidFill>
                  <a:srgbClr val="9CA3AF"/>
                </a:solidFill>
                <a:latin typeface="Calibri"/>
              </a:rPr>
              <a:t>全部完成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2930" y="1028700"/>
            <a:ext cx="8229600" cy="54864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3300" b="1" i="0">
                <a:solidFill>
                  <a:srgbClr val="FB7048"/>
                </a:solidFill>
                <a:latin typeface="Arial Black"/>
              </a:rPr>
              <a:t>▶  切換到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2930" y="1783080"/>
            <a:ext cx="82296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650" b="0" i="0">
                <a:solidFill>
                  <a:srgbClr val="9CA3AF"/>
                </a:solidFill>
                <a:latin typeface="Consolas"/>
              </a:rPr>
              <a:t>sonnet-running-example.pptx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468880"/>
            <a:ext cx="6377940" cy="2057400"/>
          </a:xfrm>
          <a:prstGeom prst="roundRect">
            <a:avLst>
              <a:gd name="adj" fmla="val 10000"/>
            </a:avLst>
          </a:prstGeom>
          <a:solidFill>
            <a:srgbClr val="1E203A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1630" y="2640330"/>
            <a:ext cx="5897879" cy="17830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7B5CF5"/>
                </a:solidFill>
                <a:latin typeface="Arial Black"/>
              </a:rPr>
              <a:t>展示重點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E5E7EB"/>
                </a:solidFill>
                <a:latin typeface="Calibri"/>
              </a:rPr>
              <a:t>1.  使用者提問 → Controller → 建立 messages 陣列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E5E7EB"/>
                </a:solidFill>
                <a:latin typeface="Calibri"/>
              </a:rPr>
              <a:t>2.  第 1 輪 — 送往 Sonnet → 回傳 tool_use block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E5E7EB"/>
                </a:solidFill>
                <a:latin typeface="Calibri"/>
              </a:rPr>
              <a:t>3.  MCP 工具執行(auto-inject user_id)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E5E7EB"/>
                </a:solidFill>
                <a:latin typeface="Calibri"/>
              </a:rPr>
              <a:t>4.  第 2 輪 — 帶結果回 Sonnet → end_turn</a:t>
            </a:r>
          </a:p>
          <a:p>
            <a:pPr algn="l">
              <a:spcAft>
                <a:spcPts val="0"/>
              </a:spcAft>
            </a:pPr>
            <a:r>
              <a:rPr sz="975" b="0" i="0">
                <a:solidFill>
                  <a:srgbClr val="E5E7EB"/>
                </a:solidFill>
                <a:latin typeface="Calibri"/>
              </a:rPr>
              <a:t>5.  SSE 串流回傳完整回覆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2930" y="960119"/>
            <a:ext cx="82296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050" b="0" i="1">
                <a:solidFill>
                  <a:srgbClr val="9CA3AF"/>
                </a:solidFill>
                <a:latin typeface="Calibri"/>
              </a:rPr>
              <a:t>—  一  句  話  總  結  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2930" y="1783080"/>
            <a:ext cx="8229600" cy="8229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3150" b="1" i="0">
                <a:solidFill>
                  <a:srgbClr val="FFFFFF"/>
                </a:solidFill>
                <a:latin typeface="Arial Black"/>
              </a:rPr>
              <a:t>Agentic = stop_reason 驅動的 while 迴圈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2537460"/>
            <a:ext cx="8229600" cy="6858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—— 加上 maxIterations 安全閥 + 最後一輪強制回覆。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703320"/>
            <a:ext cx="6377940" cy="822959"/>
          </a:xfrm>
          <a:prstGeom prst="roundRect">
            <a:avLst>
              <a:gd name="adj" fmla="val 10000"/>
            </a:avLst>
          </a:prstGeom>
          <a:solidFill>
            <a:srgbClr val="1E203A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7339" y="3771900"/>
            <a:ext cx="6035040" cy="7200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9CA3AF"/>
                </a:solidFill>
                <a:latin typeface="Calibri"/>
              </a:rPr>
              <a:t>下一講:實務考量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E5E7EB"/>
                </a:solidFill>
                <a:latin typeface="Calibri"/>
              </a:rPr>
              <a:t>「動手做 mini-project + 實務上的成本 / 模型 / 品質考量」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★   R E C A 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本講回顧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下一講預告:實務考量 —— 模型選擇、Haiku alignment、工具品質</a:t>
            </a:r>
          </a:p>
        </p:txBody>
      </p:sp>
      <p:sp>
        <p:nvSpPr>
          <p:cNvPr id="7" name="Oval 6"/>
          <p:cNvSpPr/>
          <p:nvPr/>
        </p:nvSpPr>
        <p:spPr>
          <a:xfrm>
            <a:off x="596645" y="2002536"/>
            <a:ext cx="384048" cy="384048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6645" y="2002536"/>
            <a:ext cx="384048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" y="1920239"/>
            <a:ext cx="7680959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Agentic = 自主決策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" y="2194560"/>
            <a:ext cx="7680959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374151"/>
                </a:solidFill>
                <a:latin typeface="Calibri"/>
              </a:rPr>
              <a:t>LLM 不只回答問題,還能判斷需要什麼資訊、主動呼叫工具取得</a:t>
            </a:r>
          </a:p>
        </p:txBody>
      </p:sp>
      <p:sp>
        <p:nvSpPr>
          <p:cNvPr id="11" name="Oval 10"/>
          <p:cNvSpPr/>
          <p:nvPr/>
        </p:nvSpPr>
        <p:spPr>
          <a:xfrm>
            <a:off x="596645" y="2633472"/>
            <a:ext cx="384048" cy="384048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6645" y="2633472"/>
            <a:ext cx="384048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5860" y="2551176"/>
            <a:ext cx="7680959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tool_use / tool_result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5860" y="2825496"/>
            <a:ext cx="7680959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374151"/>
                </a:solidFill>
                <a:latin typeface="Calibri"/>
              </a:rPr>
              <a:t>Claude API 的核心機制 — stop_reason 驅動整個迴圈</a:t>
            </a:r>
          </a:p>
        </p:txBody>
      </p:sp>
      <p:sp>
        <p:nvSpPr>
          <p:cNvPr id="15" name="Oval 14"/>
          <p:cNvSpPr/>
          <p:nvPr/>
        </p:nvSpPr>
        <p:spPr>
          <a:xfrm>
            <a:off x="596645" y="3264408"/>
            <a:ext cx="384048" cy="384048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6645" y="3264408"/>
            <a:ext cx="384048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5860" y="3182111"/>
            <a:ext cx="7680959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maxIterations 安全閥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5860" y="3456432"/>
            <a:ext cx="7680959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374151"/>
                </a:solidFill>
                <a:latin typeface="Calibri"/>
              </a:rPr>
              <a:t>預設 7 輪上限 + 最後一輪強制回覆,平衡能力與安全</a:t>
            </a:r>
          </a:p>
        </p:txBody>
      </p:sp>
      <p:sp>
        <p:nvSpPr>
          <p:cNvPr id="19" name="Oval 18"/>
          <p:cNvSpPr/>
          <p:nvPr/>
        </p:nvSpPr>
        <p:spPr>
          <a:xfrm>
            <a:off x="596645" y="3895344"/>
            <a:ext cx="384048" cy="384048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645" y="3895344"/>
            <a:ext cx="384048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5860" y="3813048"/>
            <a:ext cx="7680959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SSE 即時串流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5860" y="4087368"/>
            <a:ext cx="7680959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374151"/>
                </a:solidFill>
                <a:latin typeface="Calibri"/>
              </a:rPr>
              <a:t>每個步驟(思考、執行工具、回覆)都即時通知前端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