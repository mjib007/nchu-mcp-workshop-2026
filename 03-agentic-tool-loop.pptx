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第三講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5400" b="1" i="0">
                <a:solidFill>
                  <a:srgbClr val="1F2937"/>
                </a:solidFill>
                <a:latin typeface="Arial Black"/>
              </a:rPr>
              <a:t>Agentic Tool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LLM 如何自主決策、呼叫工具、迭代推理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114800"/>
            <a:ext cx="29489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7909" y="4149089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5B3ED9"/>
                </a:solidFill>
                <a:latin typeface="Arial Black"/>
              </a:rPr>
              <a:t>從一次回答 → 多輪迭代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909" y="4457700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0">
                <a:solidFill>
                  <a:srgbClr val="1F2937"/>
                </a:solidFill>
                <a:latin typeface="Calibri"/>
              </a:rPr>
              <a:t>LLM 不只回答,還會自己選工具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本講三段路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為什麼要 → 怎麼運作 → Live Demo + 收尾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7492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概念與解法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single-turn 解不了複合請求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→ Agentic 4 步走解法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FB7048"/>
                </a:solidFill>
                <a:latin typeface="Consolas"/>
              </a:rPr>
              <a:t>~10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3833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74135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5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9573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迴圈機制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9573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Loop 視覺圖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maxIterations 安全閥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9573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onsolas"/>
              </a:rPr>
              <a:t>~8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0478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0780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6218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Live Demo + 收尾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6218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5 個示範問題實機操作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三策略對比 / Segment 4 鋪陳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6218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0EA594"/>
                </a:solidFill>
                <a:latin typeface="Consolas"/>
              </a:rPr>
              <a:t>~30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S I N G L E - T U R N   解 不 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為什麼需要 Agentic Loop?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single-turn LLM(就算有 tool)解不了的三類問題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FB7048"/>
                </a:solidFill>
                <a:latin typeface="Arial Black"/>
              </a:rPr>
              <a:t>跨領域複合查詢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1F2937"/>
                </a:solidFill>
                <a:latin typeface="Calibri"/>
              </a:rPr>
              <a:t>「找最近圖書館新書,順便看星期一台中天氣」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97579"/>
            <a:ext cx="236601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alibri"/>
              </a:rPr>
              <a:t>需要兩個不相關的工具同時呼叫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Arial Black"/>
              </a:rPr>
              <a:t>結果驅動的後續查詢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1F2937"/>
                </a:solidFill>
                <a:latin typeface="Calibri"/>
              </a:rPr>
              <a:t>「資工系 AI 課的老師有什麼論文?」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497579"/>
            <a:ext cx="236601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alibri"/>
              </a:rPr>
              <a:t>先要拿到老師清單,才能查論文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EA594"/>
                </a:solidFill>
                <a:latin typeface="Arial Black"/>
              </a:rPr>
              <a:t>動態判斷要不要用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1F2937"/>
                </a:solidFill>
                <a:latin typeface="Calibri"/>
              </a:rPr>
              <a:t>「圖書館有幾本 AI 書?順便比較 Claude vs GPT-4」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497579"/>
            <a:ext cx="236601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alibri"/>
              </a:rPr>
              <a:t>第一部分要 tool,第二部分用訓練資料就好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526279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526279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Agentic Loop = LLM 自己決定何時、用什麼工具,以及要重複幾輪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③   A G E N T I C   解 法   預 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Agentic 怎麼解 — 一個 query 的 4 步走法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範例:"找 AI 課程 + 看這些老師最近的論文"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54530"/>
            <a:ext cx="685800" cy="219456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看問題 →
想到要做兩件事:
找課程 + 找論文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FB7048"/>
                </a:solidFill>
                <a:latin typeface="Consolas"/>
              </a:rPr>
              <a:t>拆解能力 = 預訓練自帶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317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4620" y="1954530"/>
            <a:ext cx="685800" cy="21945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462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462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第一輪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462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search_courses
  (keyword='AI')
→ 拿到 5 門課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462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7B5CF5"/>
                </a:solidFill>
                <a:latin typeface="Consolas"/>
              </a:rPr>
              <a:t>stop_reason = "tool_use"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915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00600" y="1954530"/>
            <a:ext cx="685800" cy="219456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第二輪 tool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看到課的老師後:
for each 老師 →
arxiv_search (parallel)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EA594"/>
                </a:solidFill>
                <a:latin typeface="Consolas"/>
              </a:rPr>
              <a:t>結果驅動的後續決定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3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26580" y="1954530"/>
            <a:ext cx="685800" cy="21945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6580" y="1954530"/>
            <a:ext cx="685800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onsolas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658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整合 + end_turn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658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整合課 + 論文
→ 完整自然語言回覆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658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F766E"/>
                </a:solidFill>
                <a:latin typeface="Consolas"/>
              </a:rPr>
              <a:t>stop_reason = "end_turn"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A G E N T I C   L O O P   ·   概 念 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Agentic Tool Loop 概念圖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每一輪稱為一個 iteration,最多 maxIterations(預設 7)輪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User
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Build
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Call
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Check
stop_reason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Calibri"/>
              </a:rPr>
              <a:t>Execute
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288036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1">
                <a:solidFill>
                  <a:srgbClr val="0F766E"/>
                </a:solidFill>
                <a:latin typeface="Calibri"/>
              </a:rPr>
              <a:t>↑   追加 tool_result 到 messages,回到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394710"/>
            <a:ext cx="40805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351815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 = "tool_use"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" y="3806189"/>
            <a:ext cx="377190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執行工具 → 追加 tool_result → 進入下一輪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34890" y="3394710"/>
            <a:ext cx="4011929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351815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stop_reason = "end_turn"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6340" y="3806189"/>
            <a:ext cx="370332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跳出迴圈,把最終文字回給使用者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M A X _ I T E R A T I O N S   ·   強 制 回 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maxIterations 與強制回覆機制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避免 LLM 無限呼叫工具 —— 設上限 + 最後一輪強制總結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問題:無限迴圈風險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LLM 可能不斷呼叫工具而永遠不回覆使用者,造成: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Token 成本無限增長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回應時間過長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使用者體驗極差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解法:maxIterations =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設定最大迭代次數上限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第 7 輪(最後一輪)時注入臨時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user message 強制模型停止使用</a:t>
            </a:r>
          </a:p>
          <a:p>
            <a:pPr algn="l">
              <a:spcAft>
                <a:spcPts val="10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工具,直接整理回覆</a:t>
            </a:r>
          </a:p>
          <a:p>
            <a:pPr algn="l">
              <a:spcAft>
                <a:spcPts val="150"/>
              </a:spcAft>
            </a:pPr>
            <a:r>
              <a:rPr sz="900" b="1" i="1">
                <a:solidFill>
                  <a:srgbClr val="0F766E"/>
                </a:solidFill>
                <a:latin typeface="Consolas"/>
              </a:rPr>
              <a:t>「請不要再使用任何工具,</a:t>
            </a:r>
          </a:p>
          <a:p>
            <a:pPr algn="l">
              <a:spcAft>
                <a:spcPts val="0"/>
              </a:spcAft>
            </a:pPr>
            <a:r>
              <a:rPr sz="900" b="1" i="1">
                <a:solidFill>
                  <a:srgbClr val="0F766E"/>
                </a:solidFill>
                <a:latin typeface="Consolas"/>
              </a:rPr>
              <a:t>  直接根據工具回傳的資料整理 Markdown 回覆。」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480059"/>
            <a:ext cx="82296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450" b="1" i="0">
                <a:solidFill>
                  <a:srgbClr val="FB7048"/>
                </a:solidFill>
                <a:latin typeface="Arial Black"/>
              </a:rPr>
              <a:t>▶  切換到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200150"/>
            <a:ext cx="82296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25 分鐘 · 興大 AI 學伴實機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8021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5 個示範問題(從淺到深,完整腳本見 03-live-demo-script.md)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23110"/>
            <a:ext cx="8126729" cy="493776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23110"/>
            <a:ext cx="480059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7310" y="2023110"/>
            <a:ext cx="308610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圖書館 AI 書多少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700" y="2023110"/>
            <a:ext cx="233172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023110"/>
            <a:ext cx="106299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990" y="2023110"/>
            <a:ext cx="85725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85466"/>
            <a:ext cx="8126729" cy="493776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585466"/>
            <a:ext cx="480059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7310" y="2585466"/>
            <a:ext cx="308610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資工系深度學習老師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7700" y="2585466"/>
            <a:ext cx="233172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 + 參數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585466"/>
            <a:ext cx="106299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990" y="2585466"/>
            <a:ext cx="85725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147822"/>
            <a:ext cx="8126729" cy="493776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147822"/>
            <a:ext cx="480059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7310" y="3147822"/>
            <a:ext cx="308610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AI 課程 + 教授介紹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147822"/>
            <a:ext cx="233172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multi-turn 主菜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147822"/>
            <a:ext cx="106299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Calibri"/>
              </a:rPr>
              <a:t>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990" y="3147822"/>
            <a:ext cx="85725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~60-90s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710178"/>
            <a:ext cx="8126729" cy="493776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3710178"/>
            <a:ext cx="480059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7310" y="3710178"/>
            <a:ext cx="308610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新書 + 天氣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7700" y="3710178"/>
            <a:ext cx="233172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parallel 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710178"/>
            <a:ext cx="106299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alibr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990" y="3710178"/>
            <a:ext cx="85725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~45s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72534"/>
            <a:ext cx="8126729" cy="493776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4272534"/>
            <a:ext cx="480059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onsolas"/>
              </a:rPr>
              <a:t>Q5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7310" y="4272534"/>
            <a:ext cx="308610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課程 + 論文 + 推薦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7700" y="4272534"/>
            <a:ext cx="233172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maxIter 挑戰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272534"/>
            <a:ext cx="106299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F4444"/>
                </a:solidFill>
                <a:latin typeface="Calibri"/>
              </a:rPr>
              <a:t>★★★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0990" y="4272534"/>
            <a:ext cx="857250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~90-120s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05 · ①   S T R A T E G I E S   ·   回 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回頭看三種策略 — Agentic Loop 站在哪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Segment 1 介紹的三條路,Agentic Loop 是其中能力最完整的一條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檢索增強生成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解知識截止
✓ 讀私有文件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不能執行動作
✗ 單輪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471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工具呼叫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471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能執行動作
✓ 接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471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典型 1-2 輪
✗ 不主動拆解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078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078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多輪迭代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078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自己拆解問題
✓ 多輪 + 結果驅動
✓ Tool Use 完整版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9CA3AF"/>
                </a:solidFill>
                <a:latin typeface="Calibri"/>
              </a:rPr>
              <a:t>成本最高、難 debug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從『單輪答話』到『多輪自主』 —— Segment 4 你會親手跑一個 mini-project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