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從一次回答 →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本講四個段落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Agentic 觀念 → 訊息機制 → 控制迴圈 →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什麼是 Agentic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傳統 LLM vs 自主代理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465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tool_use /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Claude API 訊息格式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迭代控制機制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maxIterations · 強制回覆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· Metadata 追蹤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19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Live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19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Running Example 逐步解說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S I N G L E - T U R N   解 不 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為什麼需要 Agentic Loop?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single-turn LLM(就算有 tool)解不了的三類問題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Arial Black"/>
              </a:rPr>
              <a:t>跨領域複合查詢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1F2937"/>
                </a:solidFill>
                <a:latin typeface="Calibri"/>
              </a:rPr>
              <a:t>「找最近圖書館新書,順便看星期一台中天氣」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97579"/>
            <a:ext cx="236601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alibri"/>
              </a:rPr>
              <a:t>需要兩個不相關的工具同時呼叫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Arial Black"/>
              </a:rPr>
              <a:t>結果驅動的後續查詢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1F2937"/>
                </a:solidFill>
                <a:latin typeface="Calibri"/>
              </a:rPr>
              <a:t>「資工系 AI 課的老師有什麼論文?」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497579"/>
            <a:ext cx="236601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alibri"/>
              </a:rPr>
              <a:t>先要拿到老師清單,才能查論文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EA594"/>
                </a:solidFill>
                <a:latin typeface="Arial Black"/>
              </a:rPr>
              <a:t>動態判斷要不要用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1F2937"/>
                </a:solidFill>
                <a:latin typeface="Calibri"/>
              </a:rPr>
              <a:t>「圖書館有幾本 AI 書?順便比較 Claude vs GPT-4」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497579"/>
            <a:ext cx="236601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alibri"/>
              </a:rPr>
              <a:t>第一部分要 tool,第二部分用訓練資料就好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526279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526279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Agentic Loop = LLM 自己決定何時、用什麼工具,以及要重複幾輪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G E N T I C   L O O P   ·   觀 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傳統 LLM vs Agentic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從「單輪問答」到「多輪迭代」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9CA3AF"/>
                </a:solidFill>
                <a:latin typeface="Arial Black"/>
              </a:rPr>
              <a:t>傳統 LLM — 單輪問答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331720"/>
            <a:ext cx="3771900" cy="21945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使用者  →  提問</a:t>
            </a:r>
          </a:p>
          <a:p>
            <a:pPr algn="l">
              <a:spcAft>
                <a:spcPts val="45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回答(僅根據訓練資料)</a:t>
            </a:r>
          </a:p>
          <a:p>
            <a:pPr algn="l">
              <a:spcAft>
                <a:spcPts val="135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結束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B91C1C"/>
                </a:solidFill>
                <a:latin typeface="Calibri"/>
              </a:rPr>
              <a:t>✗  無法存取外部資料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B91C1C"/>
                </a:solidFill>
                <a:latin typeface="Calibri"/>
              </a:rPr>
              <a:t>✗  無法執行動作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B91C1C"/>
                </a:solidFill>
                <a:latin typeface="Calibri"/>
              </a:rPr>
              <a:t>✗  一次互動就結束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LLM — 多輪迭代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331720"/>
            <a:ext cx="3703320" cy="21945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使用者  →  提問</a:t>
            </a:r>
          </a:p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分析 → 選工具 → 呼叫</a:t>
            </a:r>
          </a:p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工具    →  回傳結果</a:t>
            </a:r>
          </a:p>
          <a:p>
            <a:pPr algn="l">
              <a:spcAft>
                <a:spcPts val="3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再分析 → 可能再呼叫…</a:t>
            </a:r>
          </a:p>
          <a:p>
            <a:pPr algn="l">
              <a:spcAft>
                <a:spcPts val="9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LLM     →  整合回覆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0F766E"/>
                </a:solidFill>
                <a:latin typeface="Calibri"/>
              </a:rPr>
              <a:t>✓  自主決策、多輪迭代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0F766E"/>
                </a:solidFill>
                <a:latin typeface="Calibri"/>
              </a:rPr>
              <a:t>✓  存取外部系統、執行動作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A G E N T I C   解 法   預 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Agentic 怎麼解 — 一個 query 的 4 步走法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範例:"找 AI 課程 + 看這些老師最近的論文"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54530"/>
            <a:ext cx="685800" cy="219456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看問題 →
想到要做兩件事:
找課程 + 找論文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FB7048"/>
                </a:solidFill>
                <a:latin typeface="Consolas"/>
              </a:rPr>
              <a:t>拆解能力 = 預訓練自帶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317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4620" y="1954530"/>
            <a:ext cx="685800" cy="21945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462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462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第一輪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search_courses
  (keyword='AI')
→ 拿到 5 門課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462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7B5CF5"/>
                </a:solidFill>
                <a:latin typeface="Consolas"/>
              </a:rPr>
              <a:t>stop_reason = "tool_use"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1954530"/>
            <a:ext cx="685800" cy="219456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第二輪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看到課的老師後:
for each 老師 →
arxiv_search (parallel)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EA594"/>
                </a:solidFill>
                <a:latin typeface="Consolas"/>
              </a:rPr>
              <a:t>結果驅動的後續決定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3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26580" y="1954530"/>
            <a:ext cx="685800" cy="21945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658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658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整合 + end_turn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58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整合課 + 論文
→ 完整自然語言回覆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58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F766E"/>
                </a:solidFill>
                <a:latin typeface="Consolas"/>
              </a:rPr>
              <a:t>stop_reason = "end_turn"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A G E N T I C   L O O P   ·   概 念 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7)輪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S T O P   R E A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stop_reason — 迴圈的關鍵判斷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Claude API 用這個欄位告訴 client 接下來該怎麼做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Consolas"/>
              </a:rPr>
              <a:t>"end_turn"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3746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模型認為已可回覆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8610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結束迴圈,回傳最終回覆給使用者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Consolas"/>
              </a:rPr>
              <a:t>"tool_use"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53746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模型需要呼叫工具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08610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執行工具 → 追加結果 → 進入下一輪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Consolas"/>
              </a:rPr>
              <a:t>"max_tokens"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53746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回覆被截斷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08610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視為完成或觸發錯誤處理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" y="4389120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onsolas"/>
              </a:rPr>
              <a:t>while (stop_reason === "tool_use" &amp;&amp; iteration &lt; maxIterations) { …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T O O L _ U S E   B L O C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tool_use — LLM 的工具呼叫指令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當 LLM 決定呼叫工具時,response.content 會含 tool_use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4800600" cy="24003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423410" cy="21122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Claude API response.content 陣列中的一個 block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"type": "tool_use",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"toolu_01A09q90qw90lq917835lq9",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"name": "search_library_books",  // MCP 工具名稱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"input": {                       // LLM 自動產生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"keyword": "人工智慧",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"limit": 10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4979" y="1714500"/>
            <a:ext cx="3291839" cy="99440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6429" y="1837944"/>
            <a:ext cx="29489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FB7048"/>
                </a:solidFill>
                <a:latin typeface="Arial Black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6429" y="2057400"/>
            <a:ext cx="301752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唯一識別碼,後續 tool_result 必須對應同一個 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4979" y="2811779"/>
            <a:ext cx="3291839" cy="9944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6429" y="2935223"/>
            <a:ext cx="29489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7B5CF5"/>
                </a:solidFill>
                <a:latin typeface="Arial Black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6429" y="3154679"/>
            <a:ext cx="301752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對應 MCP Server 註冊的工具名稱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4979" y="3909060"/>
            <a:ext cx="3291839" cy="99440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6429" y="4032504"/>
            <a:ext cx="29489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EA594"/>
                </a:solidFill>
                <a:latin typeface="Arial Black"/>
              </a:rP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6429" y="4251960"/>
            <a:ext cx="301752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根據 JSON Schema 自動生成的參數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T O O L _ R E S U L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tool_result — 工具執行結果回傳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執行 MCP 工具後,將結果以 user 角色追加到 messages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143500" cy="25374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766310" cy="22494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追加到 messages 陣列(role: user)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"role": "user",                  ← 注意 role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"content":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"type": "tool_result",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"tool_use_id": "toolu_01A09q...",  ← 同 id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"content":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"text": "[{\"title\":\"深度學習入門\"},…]"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}],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"is_error": false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14500"/>
            <a:ext cx="2948939" cy="96011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9329" y="18379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tool_use_id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9329" y="2057400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必須與 tool_use 的 id 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2777489"/>
            <a:ext cx="2948939" cy="96011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9329" y="2900933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329" y="3120389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MCP 工具的實際回傳值(JSON 序列化為 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79" y="3840479"/>
            <a:ext cx="2948939" cy="960119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329" y="3963923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Arial Black"/>
              </a:rPr>
              <a:t>is_error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9329" y="4183379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true 時 LLM 會嘗試錯誤處理或換工具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③   M E S S A G E S   G R O W T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Messages 陣列的成長過程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每一輪迭代都追加 assistant + user(tool_result) —— 陣列持續增長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30" y="185166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System Prompt(角色設定 + 注入資訊)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233172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2930" y="233172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4530" y="233172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中興大學圖書館有什麼新書?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281178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281178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4530" y="281178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我需要查詢…  + tool_use: search_new_books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017520"/>
            <a:ext cx="89154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1">
                <a:solidFill>
                  <a:srgbClr val="FB7048"/>
                </a:solidFill>
                <a:latin typeface="Calibri"/>
              </a:rPr>
              <a:t>第 1 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29184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930" y="329184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4530" y="329184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tool_result: [{"title":"深度學習入門",…}]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2930" y="3771900"/>
            <a:ext cx="1234440" cy="37719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930" y="3771900"/>
            <a:ext cx="123444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onsolas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4530" y="3771900"/>
            <a:ext cx="68580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以下是圖書館最新書籍:1.《深度學習入門》…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977639"/>
            <a:ext cx="89154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1">
                <a:solidFill>
                  <a:srgbClr val="FB7048"/>
                </a:solidFill>
                <a:latin typeface="Calibri"/>
              </a:rPr>
              <a:t>第 2 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④   P A R A L L E L   T O O L   C A L L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一輪中呼叫多個工具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response.content 可以同時包含多個 tool_use block —— 平行執行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5374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2494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response.content = [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{ type: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text: "讓我同時查詢課程和圖書資訊..."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{ type: "tool_use", name: "search_courses",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id: "toolu_001", input: { keyword: "AI" }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{ type: "tool_use", name: "search_library_books",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id: "toolu_002", input: { keyword: "AI" }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Client 端收集所有 tool_use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const toolCalls = response.content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.filter(c =&gt; c.type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→ 依序執行每個工具,收集結果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354829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354829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興大 AI 學伴:「幫我查 AI 課程和相關書籍」→ 一輪同時呼叫 search_courses + search_library_books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C O R E   L O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chatWithStreaming() —— 核心迴圈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整個 agent 行為就是這 ~15 行 — while loop 加上 stop 條件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9489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6609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chatWithStreaming(messages, options)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maxIterations = options.maxIterations || 7;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let iteration = 0;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while (iteration &lt; maxIterations)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iteration++;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    // 最後一輪? 注入強制回覆提示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if (iteration === maxIterations)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messages.push({ role: "user",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  content: "這是最後一輪,請直接回覆..."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response = await callLLM(messages, tools);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toolCalls = response.content.filter(c=&gt;c.type==="tool_use");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(toolCalls.length === 0) break;  // end_turn →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results = await executeTools(toolCalls);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messages.push(assistantMsg, toolResultMsg);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A X _ I T E R A T I O N S   ·   強 制 回 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7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00" b="1" i="1">
                <a:solidFill>
                  <a:srgbClr val="0F766E"/>
                </a:solidFill>
                <a:latin typeface="Consolas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00" b="1" i="1">
                <a:solidFill>
                  <a:srgbClr val="0F766E"/>
                </a:solidFill>
                <a:latin typeface="Consolas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④   工 程 細 節  ·  一 頁 帶 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支撐 Loop 的工程細節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Production 才需要;教師受眾知道有就好,不深入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6060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Metadata 追蹤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97430"/>
            <a:ext cx="3771900" cy="20574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每一輪 tool_use / tool_result 記下:</a:t>
            </a:r>
          </a:p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374151"/>
                </a:solidFill>
                <a:latin typeface="Calibri"/>
              </a:rPr>
              <a:t>•  用了哪個 model (Sonnet / Haiku)</a:t>
            </a:r>
          </a:p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374151"/>
                </a:solidFill>
                <a:latin typeface="Calibri"/>
              </a:rPr>
              <a:t>•  消耗多少 token (in / out / cache)</a:t>
            </a:r>
          </a:p>
          <a:p>
            <a:pPr algn="l">
              <a:spcAft>
                <a:spcPts val="1050"/>
              </a:spcAft>
            </a:pPr>
            <a:r>
              <a:rPr sz="900" b="0" i="0">
                <a:solidFill>
                  <a:srgbClr val="374151"/>
                </a:solidFill>
                <a:latin typeface="Calibri"/>
              </a:rPr>
              <a:t>•  stop_reason 是什麼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為什麼:</a:t>
            </a:r>
          </a:p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Debug、計費、未來 fine-tune 模型用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6060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SSE 串流回饋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97430"/>
            <a:ext cx="3703320" cy="20574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Loop 跑時別讓使用者乾等:</a:t>
            </a:r>
          </a:p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374151"/>
                </a:solidFill>
                <a:latin typeface="Calibri"/>
              </a:rPr>
              <a:t>•  thinking_start  → 「思考中…」</a:t>
            </a:r>
          </a:p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374151"/>
                </a:solidFill>
                <a:latin typeface="Calibri"/>
              </a:rPr>
              <a:t>•  tool_executing  → 「正在查圖書館…」</a:t>
            </a:r>
          </a:p>
          <a:p>
            <a:pPr algn="l">
              <a:spcAft>
                <a:spcPts val="1050"/>
              </a:spcAft>
            </a:pPr>
            <a:r>
              <a:rPr sz="900" b="0" i="0">
                <a:solidFill>
                  <a:srgbClr val="374151"/>
                </a:solidFill>
                <a:latin typeface="Calibri"/>
              </a:rPr>
              <a:t>•  text_chunk      → 逐字回傳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為什麼:</a:t>
            </a:r>
          </a:p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Server-Sent Events 讓 chat 像「邊想邊講」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59486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59486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i  這頁是 production 才關心的;Segment 5 會深入,這裡一語帶過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1028700"/>
            <a:ext cx="82296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30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0" i="0">
                <a:solidFill>
                  <a:srgbClr val="9CA3AF"/>
                </a:solidFill>
                <a:latin typeface="Consolas"/>
              </a:rPr>
              <a:t>sonnet-running-example.pptx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468880"/>
            <a:ext cx="6377940" cy="2057400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1630" y="2640330"/>
            <a:ext cx="5897879" cy="17830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7B5CF5"/>
                </a:solidFill>
                <a:latin typeface="Arial Black"/>
              </a:rPr>
              <a:t>展示重點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1.  使用者提問 → Controller → 建立 messages 陣列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2.  第 1 輪 — 送往 Sonnet → 回傳 tool_use block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3.  MCP 工具執行(auto-inject user_id)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4.  第 2 輪 — 帶結果回 Sonnet → end_turn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5.  SSE 串流回傳完整回覆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96011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—  一  句  話  總  結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150" b="1" i="0">
                <a:solidFill>
                  <a:srgbClr val="FFFFFF"/>
                </a:solidFill>
                <a:latin typeface="Arial Black"/>
              </a:rPr>
              <a:t>Agentic = stop_reason 驅動的 while 迴圈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537460"/>
            <a:ext cx="822960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—— 加上 maxIterations 安全閥 + 最後一輪強制回覆。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703320"/>
            <a:ext cx="6377940" cy="82295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39" y="3771900"/>
            <a:ext cx="603504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9CA3AF"/>
                </a:solidFill>
                <a:latin typeface="Calibri"/>
              </a:rPr>
              <a:t>下一講:實務考量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5E7EB"/>
                </a:solidFill>
                <a:latin typeface="Calibri"/>
              </a:rPr>
              <a:t>「動手做 mini-project + 實務上的成本 / 模型 / 品質考量」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05 · ①   S T R A T E G I E S   ·   回 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回頭看三種策略 — Agentic Loop 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Segment 1 介紹的三條路,Agentic Loop 是其中能力最完整的一條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檢索增強生成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解知識截止
✓ 讀私有文件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不能執行動作
✗ 單輪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71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工具呼叫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71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能執行動作
✓ 接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471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典型 1-2 輪
✗ 不主動拆解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078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078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多輪迭代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自己拆解問題
✓ 多輪 + 結果驅動
✓ Tool Use 完整版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9CA3AF"/>
                </a:solidFill>
                <a:latin typeface="Calibri"/>
              </a:rPr>
              <a:t>成本最高、難 debug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Agentic Loop 不取代 RAG —— RAG 可以當 Agentic Loop 的其中一個 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本講回顧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下一講預告:實務考量 —— 模型選擇、Haiku alignment、工具品質</a:t>
            </a:r>
          </a:p>
        </p:txBody>
      </p:sp>
      <p:sp>
        <p:nvSpPr>
          <p:cNvPr id="7" name="Oval 6"/>
          <p:cNvSpPr/>
          <p:nvPr/>
        </p:nvSpPr>
        <p:spPr>
          <a:xfrm>
            <a:off x="596645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645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920239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Agentic = 自主決策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2194560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LLM 不只回答問題,還能判斷需要什麼資訊、主動呼叫工具取得</a:t>
            </a:r>
          </a:p>
        </p:txBody>
      </p:sp>
      <p:sp>
        <p:nvSpPr>
          <p:cNvPr id="11" name="Oval 10"/>
          <p:cNvSpPr/>
          <p:nvPr/>
        </p:nvSpPr>
        <p:spPr>
          <a:xfrm>
            <a:off x="596645" y="2633472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645" y="2633472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" y="2551176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tool_use / tool_result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5860" y="2825496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Claude API 的核心機制 — stop_reason 驅動整個迴圈</a:t>
            </a:r>
          </a:p>
        </p:txBody>
      </p:sp>
      <p:sp>
        <p:nvSpPr>
          <p:cNvPr id="15" name="Oval 14"/>
          <p:cNvSpPr/>
          <p:nvPr/>
        </p:nvSpPr>
        <p:spPr>
          <a:xfrm>
            <a:off x="596645" y="3264408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645" y="3264408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3182111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3456432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預設 7 輪上限 + 最後一輪強制回覆,平衡能力與安全</a:t>
            </a:r>
          </a:p>
        </p:txBody>
      </p:sp>
      <p:sp>
        <p:nvSpPr>
          <p:cNvPr id="19" name="Oval 18"/>
          <p:cNvSpPr/>
          <p:nvPr/>
        </p:nvSpPr>
        <p:spPr>
          <a:xfrm>
            <a:off x="596645" y="3895344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645" y="3895344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5860" y="3813048"/>
            <a:ext cx="768095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SSE 即時串流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" y="4087368"/>
            <a:ext cx="768095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每個步驟(思考、執行工具、回覆)都即時通知前端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