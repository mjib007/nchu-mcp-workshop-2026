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2930" y="377190"/>
            <a:ext cx="377190" cy="48006"/>
          </a:xfrm>
          <a:prstGeom prst="rect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82930" y="514350"/>
            <a:ext cx="82296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NCHU Claude MCP Client  ·  優化報告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1371600"/>
            <a:ext cx="8229600" cy="109728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5400" b="1" i="0">
                <a:solidFill>
                  <a:srgbClr val="1F2937"/>
                </a:solidFill>
                <a:latin typeface="Arial Black"/>
              </a:rPr>
              <a:t>Haiku 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2400300"/>
            <a:ext cx="8229600" cy="4800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7B5CF5"/>
                </a:solidFill>
                <a:latin typeface="Calibri"/>
              </a:rPr>
              <a:t>從 Sonnet 切到 Haiku — Few-shot Alignment 降 73% 成本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4114800"/>
            <a:ext cx="2948939" cy="75438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37909" y="4149089"/>
            <a:ext cx="274320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2400" b="1" i="0">
                <a:solidFill>
                  <a:srgbClr val="FB7048"/>
                </a:solidFill>
                <a:latin typeface="Arial Black"/>
              </a:rPr>
              <a:t>73%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37909" y="4526279"/>
            <a:ext cx="27432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975" b="0" i="0">
                <a:solidFill>
                  <a:srgbClr val="374151"/>
                </a:solidFill>
                <a:latin typeface="Calibri"/>
              </a:rPr>
              <a:t>input token 成本節省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01   G O A 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優化目標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將基底模型從 Sonnet 切換至 Haiku,同時透過 few-shot alignment 維持品質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7190" y="1851660"/>
            <a:ext cx="2708910" cy="253746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88819"/>
            <a:ext cx="2366010" cy="54864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700" b="1" i="0">
                <a:solidFill>
                  <a:srgbClr val="FB7048"/>
                </a:solidFill>
                <a:latin typeface="Arial Black"/>
              </a:rPr>
              <a:t>$0.80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71750"/>
            <a:ext cx="236601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vs $3.00 / 1M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14650"/>
            <a:ext cx="236601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1F2937"/>
                </a:solidFill>
                <a:latin typeface="Arial Black"/>
              </a:rPr>
              <a:t>降低成本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29000"/>
            <a:ext cx="2366010" cy="89154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0" i="0">
                <a:solidFill>
                  <a:srgbClr val="374151"/>
                </a:solidFill>
                <a:latin typeface="Calibri"/>
              </a:rPr>
              <a:t>Haiku input token 價格僅 Sonnet 27%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3260" y="1851660"/>
            <a:ext cx="2708910" cy="253746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4710" y="1988819"/>
            <a:ext cx="2366010" cy="54864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700" b="1" i="0">
                <a:solidFill>
                  <a:srgbClr val="7B5CF5"/>
                </a:solidFill>
                <a:latin typeface="Arial Black"/>
              </a:rPr>
              <a:t>3,200+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4710" y="2571750"/>
            <a:ext cx="236601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筆歷史 Trace 檢索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4710" y="2914650"/>
            <a:ext cx="236601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1F2937"/>
                </a:solidFill>
                <a:latin typeface="Arial Black"/>
              </a:rPr>
              <a:t>維持品質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4710" y="3429000"/>
            <a:ext cx="2366010" cy="89154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0" i="0">
                <a:solidFill>
                  <a:srgbClr val="374151"/>
                </a:solidFill>
                <a:latin typeface="Calibri"/>
              </a:rPr>
              <a:t>Few-shot 範例引導工具選擇與回覆格式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69330" y="1851660"/>
            <a:ext cx="2708910" cy="253746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0780" y="1988819"/>
            <a:ext cx="2366010" cy="54864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2700" b="1" i="0">
                <a:solidFill>
                  <a:srgbClr val="0EA594"/>
                </a:solidFill>
                <a:latin typeface="Arial Black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0780" y="2571750"/>
            <a:ext cx="236601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00" b="0" i="0">
                <a:solidFill>
                  <a:srgbClr val="9CA3AF"/>
                </a:solidFill>
                <a:latin typeface="Calibri"/>
              </a:rPr>
              <a:t>類回覆格式規範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0780" y="2914650"/>
            <a:ext cx="236601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1F2937"/>
                </a:solidFill>
                <a:latin typeface="Arial Black"/>
              </a:rPr>
              <a:t>結構化輸出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0780" y="3429000"/>
            <a:ext cx="2366010" cy="89154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0" i="0">
                <a:solidFill>
                  <a:srgbClr val="374151"/>
                </a:solidFill>
                <a:latin typeface="Calibri"/>
              </a:rPr>
              <a:t>五大分類模板,確保 Markdown 回覆一致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02   F L O W   C O M P A R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請求處理流程對比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綠色 = 新增或變更的元件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851660"/>
            <a:ext cx="4080510" cy="27432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90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" y="1975104"/>
            <a:ext cx="37376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9CA3AF"/>
                </a:solidFill>
                <a:latin typeface="Arial Black"/>
              </a:rPr>
              <a:t>原始流程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" y="2263139"/>
            <a:ext cx="3771900" cy="226313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75" b="1" i="0">
                <a:solidFill>
                  <a:srgbClr val="1F2937"/>
                </a:solidFill>
                <a:latin typeface="Calibri"/>
              </a:rPr>
              <a:t>User Query</a:t>
            </a:r>
          </a:p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1F2937"/>
                </a:solidFill>
                <a:latin typeface="Calibri"/>
              </a:rPr>
              <a:t>ChatController (注入時間 + 登入狀態)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F2937"/>
                </a:solidFill>
                <a:latin typeface="Consolas"/>
              </a:rPr>
              <a:t>raw-mcp-client.js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F2937"/>
                </a:solidFill>
                <a:latin typeface="Consolas"/>
              </a:rPr>
              <a:t>ClaudeClient (claude-client.js)</a:t>
            </a:r>
          </a:p>
          <a:p>
            <a:pPr algn="l">
              <a:spcAft>
                <a:spcPts val="600"/>
              </a:spcAft>
            </a:pPr>
            <a:r>
              <a:rPr sz="900" b="0" i="0">
                <a:solidFill>
                  <a:srgbClr val="374151"/>
                </a:solidFill>
                <a:latin typeface="Calibri"/>
              </a:rPr>
              <a:t>System Prompt = 靜態 config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FB7048"/>
                </a:solidFill>
                <a:latin typeface="Calibri"/>
              </a:rPr>
              <a:t>⬤ Claude Sonnet API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74151"/>
                </a:solidFill>
                <a:latin typeface="Calibri"/>
              </a:rPr>
              <a:t>回覆直接串流給用戶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34890" y="1851660"/>
            <a:ext cx="4011929" cy="274320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6340" y="1975104"/>
            <a:ext cx="3669029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0EA594"/>
                </a:solidFill>
                <a:latin typeface="Arial Black"/>
              </a:rPr>
              <a:t>新流程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06340" y="2263139"/>
            <a:ext cx="3703320" cy="226313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75" b="1" i="0">
                <a:solidFill>
                  <a:srgbClr val="1F2937"/>
                </a:solidFill>
                <a:latin typeface="Calibri"/>
              </a:rPr>
              <a:t>User Query</a:t>
            </a:r>
          </a:p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1F2937"/>
                </a:solidFill>
                <a:latin typeface="Calibri"/>
              </a:rPr>
              <a:t>ChatController (注入時間 + 登入狀態)</a:t>
            </a:r>
          </a:p>
          <a:p>
            <a:pPr algn="l">
              <a:spcAft>
                <a:spcPts val="300"/>
              </a:spcAft>
            </a:pPr>
            <a:r>
              <a:rPr sz="900" b="0" i="0">
                <a:solidFill>
                  <a:srgbClr val="1F2937"/>
                </a:solidFill>
                <a:latin typeface="Consolas"/>
              </a:rPr>
              <a:t>raw-mcp-client.js</a:t>
            </a:r>
          </a:p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0F766E"/>
                </a:solidFill>
                <a:latin typeface="Consolas"/>
              </a:rPr>
              <a:t>claude-client-aligned.js</a:t>
            </a:r>
          </a:p>
          <a:p>
            <a:pPr algn="l">
              <a:spcAft>
                <a:spcPts val="600"/>
              </a:spcAft>
            </a:pPr>
            <a:r>
              <a:rPr sz="825" b="1" i="0">
                <a:solidFill>
                  <a:srgbClr val="0F766E"/>
                </a:solidFill>
                <a:latin typeface="Consolas"/>
              </a:rPr>
              <a:t>AlignmentMiddleware.enrichSystemPrompt()</a:t>
            </a:r>
          </a:p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0EA594"/>
                </a:solidFill>
                <a:latin typeface="Calibri"/>
              </a:rPr>
              <a:t>⬤ Claude Haiku API</a:t>
            </a:r>
          </a:p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74151"/>
                </a:solidFill>
                <a:latin typeface="Calibri"/>
              </a:rPr>
              <a:t>回覆直接串流給用戶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02 · ①   N E W   C O M P O N E N T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新增元件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在不改變既有架構的前提下,增加三層品質保護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817369"/>
            <a:ext cx="8229600" cy="651509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1509" y="1920239"/>
            <a:ext cx="137160" cy="445769"/>
          </a:xfrm>
          <a:prstGeom prst="rect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19" y="1899666"/>
            <a:ext cx="27432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1" i="0">
                <a:solidFill>
                  <a:srgbClr val="7B5CF5"/>
                </a:solidFill>
                <a:latin typeface="Arial Black"/>
              </a:rPr>
              <a:t>AlignmentMiddleware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19" y="2160270"/>
            <a:ext cx="27432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825" b="0" i="0">
                <a:solidFill>
                  <a:srgbClr val="9CA3AF"/>
                </a:solidFill>
                <a:latin typeface="Consolas"/>
              </a:rPr>
              <a:t>api/alignment-middleware.js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79" y="1817369"/>
            <a:ext cx="4937760" cy="65150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0">
                <a:solidFill>
                  <a:srgbClr val="1F2937"/>
                </a:solidFill>
                <a:latin typeface="Calibri"/>
              </a:rPr>
              <a:t>從歷史 trace 檢索相似範例 — keyword / embedding / hybrid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2930" y="2537460"/>
            <a:ext cx="8229600" cy="651509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1509" y="2640330"/>
            <a:ext cx="137160" cy="445769"/>
          </a:xfrm>
          <a:prstGeom prst="rect">
            <a:avLst/>
          </a:prstGeom>
          <a:solidFill>
            <a:srgbClr val="FB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19" y="2619756"/>
            <a:ext cx="27432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1" i="0">
                <a:solidFill>
                  <a:srgbClr val="FB7048"/>
                </a:solidFill>
                <a:latin typeface="Arial Black"/>
              </a:rPr>
              <a:t>Aligned ClaudeClient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19" y="2880360"/>
            <a:ext cx="27432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825" b="0" i="0">
                <a:solidFill>
                  <a:srgbClr val="9CA3AF"/>
                </a:solidFill>
                <a:latin typeface="Consolas"/>
              </a:rPr>
              <a:t>api/claude-client-aligned.js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79" y="2537460"/>
            <a:ext cx="4937760" cy="65150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0">
                <a:solidFill>
                  <a:srgbClr val="1F2937"/>
                </a:solidFill>
                <a:latin typeface="Calibri"/>
              </a:rPr>
              <a:t>每次 API 呼叫前透過 middleware 動態豐富 system prompt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2930" y="3257550"/>
            <a:ext cx="8229600" cy="651509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1509" y="3360420"/>
            <a:ext cx="137160" cy="445769"/>
          </a:xfrm>
          <a:prstGeom prst="rect">
            <a:avLst/>
          </a:prstGeom>
          <a:solidFill>
            <a:srgbClr val="0EA5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3339846"/>
            <a:ext cx="27432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1" i="0">
                <a:solidFill>
                  <a:srgbClr val="0EA594"/>
                </a:solidFill>
                <a:latin typeface="Arial Black"/>
              </a:rPr>
              <a:t>格式規範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19" y="3600450"/>
            <a:ext cx="27432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825" b="0" i="0">
                <a:solidFill>
                  <a:srgbClr val="9CA3AF"/>
                </a:solidFill>
                <a:latin typeface="Consolas"/>
              </a:rPr>
              <a:t>config/response-format-rules.js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79" y="3257550"/>
            <a:ext cx="4937760" cy="65150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0">
                <a:solidFill>
                  <a:srgbClr val="1F2937"/>
                </a:solidFill>
                <a:latin typeface="Calibri"/>
              </a:rPr>
              <a:t>書籍/課程/活動/人員/法規 五大分類 Markdown 模板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2930" y="3977640"/>
            <a:ext cx="8229600" cy="651509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1509" y="4080510"/>
            <a:ext cx="137160" cy="445769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19" y="4059936"/>
            <a:ext cx="27432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1" i="0">
                <a:solidFill>
                  <a:srgbClr val="EF4444"/>
                </a:solidFill>
                <a:latin typeface="Arial Black"/>
              </a:rPr>
              <a:t>Trace 資料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19" y="4320540"/>
            <a:ext cx="27432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825" b="0" i="0">
                <a:solidFill>
                  <a:srgbClr val="9CA3AF"/>
                </a:solidFill>
                <a:latin typeface="Consolas"/>
              </a:rPr>
              <a:t>data/nchu_traces/*.jsonl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79" y="3977640"/>
            <a:ext cx="4937760" cy="651509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75" b="0" i="0">
                <a:solidFill>
                  <a:srgbClr val="1F2937"/>
                </a:solidFill>
                <a:latin typeface="Calibri"/>
              </a:rPr>
              <a:t>3,207 筆正例 + 876 筆負例,作為 few-shot 檢索來源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7B5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02 · ②   Q U A L I T Y   P R O T E C T I O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Enriched Prompt 三層結構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Query → Retrieval → Enriched Prompt → Haiku Loop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7190" y="1851660"/>
            <a:ext cx="2708910" cy="253746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23110"/>
            <a:ext cx="23660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7B5CF5"/>
                </a:solidFill>
                <a:latin typeface="Consolas"/>
              </a:rPr>
              <a:t>ALIGNMENT_RULES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37460"/>
            <a:ext cx="236601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1F2937"/>
                </a:solidFill>
                <a:latin typeface="Arial Black"/>
              </a:rPr>
              <a:t>工具選擇正確性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48939"/>
            <a:ext cx="2366010" cy="123444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Calibri"/>
              </a:rPr>
              <a:t>選對工具、填對參數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23260" y="1851660"/>
            <a:ext cx="2708910" cy="253746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4710" y="2023110"/>
            <a:ext cx="23660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FB7048"/>
                </a:solidFill>
                <a:latin typeface="Consolas"/>
              </a:rPr>
              <a:t>RESPONSE_FORMAT_RULES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4710" y="2537460"/>
            <a:ext cx="236601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1F2937"/>
                </a:solidFill>
                <a:latin typeface="Arial Black"/>
              </a:rPr>
              <a:t>回覆格式品質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4710" y="2948939"/>
            <a:ext cx="2366010" cy="123444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Calibri"/>
              </a:rPr>
              <a:t>Markdown 標題/列表/圖片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69330" y="1851660"/>
            <a:ext cx="2708910" cy="253746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40780" y="2023110"/>
            <a:ext cx="23660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0EA594"/>
                </a:solidFill>
                <a:latin typeface="Consolas"/>
              </a:rPr>
              <a:t>Top-9 Few-shot 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0780" y="2537460"/>
            <a:ext cx="236601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125" b="1" i="0">
                <a:solidFill>
                  <a:srgbClr val="1F2937"/>
                </a:solidFill>
                <a:latin typeface="Arial Black"/>
              </a:rPr>
              <a:t>具體示範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0780" y="2948939"/>
            <a:ext cx="2366010" cy="123444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050" b="0" i="0">
                <a:solidFill>
                  <a:srgbClr val="374151"/>
                </a:solidFill>
                <a:latin typeface="Calibri"/>
              </a:rPr>
              <a:t>query → tool_calls 配對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2930" y="4423410"/>
            <a:ext cx="8229600" cy="37719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8669" y="4423410"/>
            <a:ext cx="781812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1" i="0">
                <a:solidFill>
                  <a:srgbClr val="7B5CF5"/>
                </a:solidFill>
                <a:latin typeface="Calibri"/>
              </a:rPr>
              <a:t>▶  Query → Embedding/Keyword (3,200+ traces) → Enriched Prompt → Haiku Loop (≤7) → Markdown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FB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03   C O S T   I M P A C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成本影響分析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節省 73% input token 費用,額外開銷可忽略不計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930" y="1851660"/>
            <a:ext cx="4080510" cy="274320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" y="1975104"/>
            <a:ext cx="37376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FB7048"/>
                </a:solidFill>
                <a:latin typeface="Arial Black"/>
              </a:rPr>
              <a:t>模型成本比較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" y="2263139"/>
            <a:ext cx="3771900" cy="4800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4800" b="1" i="0">
                <a:solidFill>
                  <a:srgbClr val="FB7048"/>
                </a:solidFill>
                <a:latin typeface="Arial Black"/>
              </a:rPr>
              <a:t>73 %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" y="3017520"/>
            <a:ext cx="3771900" cy="27432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050" b="0" i="1">
                <a:solidFill>
                  <a:srgbClr val="374151"/>
                </a:solidFill>
                <a:latin typeface="Calibri"/>
              </a:rPr>
              <a:t>input token 費用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3429000"/>
            <a:ext cx="3223260" cy="109728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9CA3AF"/>
                </a:solidFill>
                <a:latin typeface="Consolas"/>
              </a:rPr>
              <a:t>Sonnet:   $3.00 / 1M tokens</a:t>
            </a:r>
          </a:p>
          <a:p>
            <a:pPr algn="l">
              <a:spcAft>
                <a:spcPts val="0"/>
              </a:spcAft>
            </a:pPr>
            <a:r>
              <a:rPr sz="975" b="1" i="0">
                <a:solidFill>
                  <a:srgbClr val="0F766E"/>
                </a:solidFill>
                <a:latin typeface="Consolas"/>
              </a:rPr>
              <a:t>Haiku:    $0.80 / 1M tokens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34890" y="1851660"/>
            <a:ext cx="4011929" cy="27432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6340" y="1975104"/>
            <a:ext cx="3669029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650" b="1" i="0">
                <a:solidFill>
                  <a:srgbClr val="7B5CF5"/>
                </a:solidFill>
                <a:latin typeface="Arial Black"/>
              </a:rPr>
              <a:t>額外開銷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6340" y="2263139"/>
            <a:ext cx="3703320" cy="226313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150"/>
              </a:spcAft>
            </a:pPr>
            <a:r>
              <a:rPr sz="975" b="1" i="0">
                <a:solidFill>
                  <a:srgbClr val="1F2937"/>
                </a:solidFill>
                <a:latin typeface="Calibri"/>
              </a:rPr>
              <a:t>格式規範額外 token</a:t>
            </a:r>
          </a:p>
          <a:p>
            <a:pPr algn="l">
              <a:spcAft>
                <a:spcPts val="750"/>
              </a:spcAft>
            </a:pPr>
            <a:r>
              <a:rPr sz="900" b="0" i="0">
                <a:solidFill>
                  <a:srgbClr val="374151"/>
                </a:solidFill>
                <a:latin typeface="Calibri"/>
              </a:rPr>
              <a:t>~300 tokens/request — 五大分類模板</a:t>
            </a:r>
          </a:p>
          <a:p>
            <a:pPr algn="l">
              <a:spcAft>
                <a:spcPts val="150"/>
              </a:spcAft>
            </a:pPr>
            <a:r>
              <a:rPr sz="975" b="1" i="0">
                <a:solidFill>
                  <a:srgbClr val="1F2937"/>
                </a:solidFill>
                <a:latin typeface="Calibri"/>
              </a:rPr>
              <a:t>Few-shot 範例額外 token</a:t>
            </a:r>
          </a:p>
          <a:p>
            <a:pPr algn="l">
              <a:spcAft>
                <a:spcPts val="1050"/>
              </a:spcAft>
            </a:pPr>
            <a:r>
              <a:rPr sz="900" b="0" i="0">
                <a:solidFill>
                  <a:srgbClr val="374151"/>
                </a:solidFill>
                <a:latin typeface="Calibri"/>
              </a:rPr>
              <a:t>~1,200 tokens/request — Top-9 相似範例</a:t>
            </a:r>
          </a:p>
          <a:p>
            <a:pPr algn="l">
              <a:spcAft>
                <a:spcPts val="150"/>
              </a:spcAft>
            </a:pPr>
            <a:r>
              <a:rPr sz="975" b="1" i="0">
                <a:solidFill>
                  <a:srgbClr val="1F2937"/>
                </a:solidFill>
                <a:latin typeface="Calibri"/>
              </a:rPr>
              <a:t>每次請求額外成本</a:t>
            </a:r>
          </a:p>
          <a:p>
            <a:pPr algn="l">
              <a:spcAft>
                <a:spcPts val="0"/>
              </a:spcAft>
            </a:pPr>
            <a:r>
              <a:rPr sz="975" b="1" i="0">
                <a:solidFill>
                  <a:srgbClr val="0F766E"/>
                </a:solidFill>
                <a:latin typeface="Consolas"/>
              </a:rPr>
              <a:t>~ $0.0012 可忽略不計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FB7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03 · ①   M O D E L S   &amp;   F A L L B A C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模型與備援配置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最後一輪格式化提示也跟著改</a:t>
            </a:r>
          </a:p>
        </p:txBody>
      </p:sp>
      <p:sp>
        <p:nvSpPr>
          <p:cNvPr id="7" name="Rectangle 6"/>
          <p:cNvSpPr/>
          <p:nvPr/>
        </p:nvSpPr>
        <p:spPr>
          <a:xfrm>
            <a:off x="582930" y="1851660"/>
            <a:ext cx="2194560" cy="37719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2930" y="1851660"/>
            <a:ext cx="219456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050" b="1" i="0">
                <a:solidFill>
                  <a:srgbClr val="1F2937"/>
                </a:solidFill>
                <a:latin typeface="Arial Black"/>
              </a:rPr>
              <a:t>項目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1851660"/>
            <a:ext cx="2880360" cy="377190"/>
          </a:xfrm>
          <a:prstGeom prst="rect">
            <a:avLst/>
          </a:prstGeom>
          <a:solidFill>
            <a:srgbClr val="FFE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851660"/>
            <a:ext cx="288036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050" b="1" i="0">
                <a:solidFill>
                  <a:srgbClr val="FB7048"/>
                </a:solidFill>
                <a:latin typeface="Arial Black"/>
              </a:rPr>
              <a:t>原始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29300" y="1851660"/>
            <a:ext cx="3017520" cy="377190"/>
          </a:xfrm>
          <a:prstGeom prst="rect">
            <a:avLst/>
          </a:prstGeom>
          <a:solidFill>
            <a:srgbClr val="D4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9300" y="1851660"/>
            <a:ext cx="301752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050" b="1" i="0">
                <a:solidFill>
                  <a:srgbClr val="0F766E"/>
                </a:solidFill>
                <a:latin typeface="Arial Black"/>
              </a:rPr>
              <a:t>新流程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228850"/>
            <a:ext cx="198882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主要模型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83230" y="2228850"/>
            <a:ext cx="267462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Claude Sonnet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2170" y="2228850"/>
            <a:ext cx="281178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Claude Haiku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2930" y="2606040"/>
            <a:ext cx="8298179" cy="37719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606040"/>
            <a:ext cx="198882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備援順序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3230" y="2606040"/>
            <a:ext cx="267462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ollama → claude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32170" y="2606040"/>
            <a:ext cx="281178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claude → ollama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983230"/>
            <a:ext cx="198882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1" i="0">
                <a:solidFill>
                  <a:srgbClr val="1F2937"/>
                </a:solidFill>
                <a:latin typeface="Calibri"/>
              </a:rPr>
              <a:t>Controllers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83230" y="2983230"/>
            <a:ext cx="267462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硬編碼 claude-sonnet-4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32170" y="2983230"/>
            <a:ext cx="281178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900" b="0" i="0">
                <a:solidFill>
                  <a:srgbClr val="1F2937"/>
                </a:solidFill>
                <a:latin typeface="Calibri"/>
              </a:rPr>
              <a:t>config.claudeModel[0] 統一控管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2930" y="3634739"/>
            <a:ext cx="8229600" cy="1028700"/>
          </a:xfrm>
          <a:prstGeom prst="roundRect">
            <a:avLst>
              <a:gd name="adj" fmla="val 10000"/>
            </a:avLst>
          </a:prstGeom>
          <a:solidFill>
            <a:srgbClr val="EEE8FF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8669" y="3634739"/>
            <a:ext cx="7818120" cy="102870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200" b="1" i="0">
                <a:solidFill>
                  <a:srgbClr val="7B5CF5"/>
                </a:solidFill>
                <a:latin typeface="Calibri"/>
              </a:rPr>
              <a:t>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703320"/>
            <a:ext cx="8023859" cy="89154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>
              <a:spcAft>
                <a:spcPts val="450"/>
              </a:spcAft>
            </a:pPr>
            <a:r>
              <a:rPr sz="1050" b="1" i="0">
                <a:solidFill>
                  <a:srgbClr val="5B3ED9"/>
                </a:solidFill>
                <a:latin typeface="Arial Black"/>
              </a:rPr>
              <a:t>最後一輪提示對比</a:t>
            </a:r>
          </a:p>
          <a:p>
            <a:pPr algn="l">
              <a:spcAft>
                <a:spcPts val="300"/>
              </a:spcAft>
            </a:pPr>
            <a:r>
              <a:rPr sz="975" b="0" i="0">
                <a:solidFill>
                  <a:srgbClr val="374151"/>
                </a:solidFill>
                <a:latin typeface="Calibri"/>
              </a:rPr>
              <a:t>原始:「不要用工具,直接回覆」</a:t>
            </a:r>
          </a:p>
          <a:p>
            <a:pPr algn="l">
              <a:spcAft>
                <a:spcPts val="0"/>
              </a:spcAft>
            </a:pPr>
            <a:r>
              <a:rPr sz="975" b="1" i="0">
                <a:solidFill>
                  <a:srgbClr val="5B3ED9"/>
                </a:solidFill>
                <a:latin typeface="Calibri"/>
              </a:rPr>
              <a:t>新流程:「不要用工具,整理出結構化 Markdown 回覆」+ 5 點格式要求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45769" y="240030"/>
            <a:ext cx="274320" cy="274320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205739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l"/>
            <a:r>
              <a:rPr sz="1125" b="1" i="0">
                <a:solidFill>
                  <a:srgbClr val="9CA3AF"/>
                </a:solidFill>
                <a:latin typeface="Calibri"/>
              </a:rPr>
              <a:t>04   L I M I T A T I O N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2930" y="651509"/>
            <a:ext cx="8229600" cy="65150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3150" b="1" i="0">
                <a:solidFill>
                  <a:srgbClr val="1F2937"/>
                </a:solidFill>
                <a:latin typeface="Arial Black"/>
              </a:rPr>
              <a:t>已知限制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30" y="1268730"/>
            <a:ext cx="822960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500" b="0" i="1">
                <a:solidFill>
                  <a:srgbClr val="6B7280"/>
                </a:solidFill>
                <a:latin typeface="Calibri"/>
              </a:rPr>
              <a:t>整體成效正面,但仍有三項限制需注意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7190" y="1851660"/>
            <a:ext cx="2708910" cy="253746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988819"/>
            <a:ext cx="685800" cy="308610"/>
          </a:xfrm>
          <a:prstGeom prst="roundRect">
            <a:avLst>
              <a:gd name="adj" fmla="val 10000"/>
            </a:avLst>
          </a:prstGeom>
          <a:solidFill>
            <a:srgbClr val="EF4444"/>
          </a:solidFill>
          <a:ln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88819"/>
            <a:ext cx="685800" cy="30861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125" b="1" i="0">
                <a:solidFill>
                  <a:srgbClr val="FFFFFF"/>
                </a:solidFill>
                <a:latin typeface="Arial Black"/>
              </a:rPr>
              <a:t>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34589"/>
            <a:ext cx="23660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Arial Black"/>
              </a:rPr>
              <a:t>多語系影響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48939"/>
            <a:ext cx="2366010" cy="13716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0" i="0">
                <a:solidFill>
                  <a:srgbClr val="374151"/>
                </a:solidFill>
                <a:latin typeface="Calibri"/>
              </a:rPr>
              <a:t>Trace 與規則皆為中文,非中文使用者 few-shot 匹配率較低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3260" y="1851660"/>
            <a:ext cx="2708910" cy="2537460"/>
          </a:xfrm>
          <a:prstGeom prst="roundRect">
            <a:avLst>
              <a:gd name="adj" fmla="val 10000"/>
            </a:avLst>
          </a:prstGeom>
          <a:solidFill>
            <a:srgbClr val="FFE7DB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94710" y="1988819"/>
            <a:ext cx="685800" cy="308610"/>
          </a:xfrm>
          <a:prstGeom prst="roundRect">
            <a:avLst>
              <a:gd name="adj" fmla="val 10000"/>
            </a:avLst>
          </a:prstGeom>
          <a:solidFill>
            <a:srgbClr val="FB7048"/>
          </a:solidFill>
          <a:ln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4710" y="1988819"/>
            <a:ext cx="685800" cy="30861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125" b="1" i="0">
                <a:solidFill>
                  <a:srgbClr val="FFFFFF"/>
                </a:solidFill>
                <a:latin typeface="Arial Black"/>
              </a:rPr>
              <a:t>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4710" y="2434589"/>
            <a:ext cx="23660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00" b="1" i="0">
                <a:solidFill>
                  <a:srgbClr val="FB7048"/>
                </a:solidFill>
                <a:latin typeface="Arial Black"/>
              </a:rPr>
              <a:t>工具選擇差異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4710" y="2948939"/>
            <a:ext cx="2366010" cy="13716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0" i="0">
                <a:solidFill>
                  <a:srgbClr val="374151"/>
                </a:solidFill>
                <a:latin typeface="Calibri"/>
              </a:rPr>
              <a:t>Haiku 選擇的工具與 Sonnet 不完全一致,但方向通常正確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69330" y="1851660"/>
            <a:ext cx="2708910" cy="2537460"/>
          </a:xfrm>
          <a:prstGeom prst="roundRect">
            <a:avLst>
              <a:gd name="adj" fmla="val 10000"/>
            </a:avLst>
          </a:prstGeom>
          <a:solidFill>
            <a:srgbClr val="D4F7F0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40780" y="1988819"/>
            <a:ext cx="685800" cy="308610"/>
          </a:xfrm>
          <a:prstGeom prst="roundRect">
            <a:avLst>
              <a:gd name="adj" fmla="val 10000"/>
            </a:avLst>
          </a:prstGeom>
          <a:solidFill>
            <a:srgbClr val="0EA594"/>
          </a:solidFill>
          <a:ln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0780" y="1988819"/>
            <a:ext cx="685800" cy="308610"/>
          </a:xfrm>
          <a:prstGeom prst="rect">
            <a:avLst/>
          </a:prstGeom>
          <a:noFill/>
        </p:spPr>
        <p:txBody>
          <a:bodyPr wrap="square" lIns="27432" rIns="27432" tIns="13716" bIns="13716" anchor="ctr">
            <a:spAutoFit/>
          </a:bodyPr>
          <a:lstStyle/>
          <a:p>
            <a:pPr algn="ctr"/>
            <a:r>
              <a:rPr sz="1125" b="1" i="0">
                <a:solidFill>
                  <a:srgbClr val="FFFFFF"/>
                </a:solidFill>
                <a:latin typeface="Arial Black"/>
              </a:rPr>
              <a:t>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0780" y="2434589"/>
            <a:ext cx="2366010" cy="37719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1200" b="1" i="0">
                <a:solidFill>
                  <a:srgbClr val="0EA594"/>
                </a:solidFill>
                <a:latin typeface="Arial Black"/>
              </a:rPr>
              <a:t>部分 Controller 未套用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0780" y="2948939"/>
            <a:ext cx="2366010" cy="13716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l"/>
            <a:r>
              <a:rPr sz="975" b="0" i="0">
                <a:solidFill>
                  <a:srgbClr val="374151"/>
                </a:solidFill>
                <a:latin typeface="Calibri"/>
              </a:rPr>
              <a:t>AdminController / QuickQuestionController 仍用原版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2930" y="685800"/>
            <a:ext cx="822960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050" b="0" i="1">
                <a:solidFill>
                  <a:srgbClr val="9CA3AF"/>
                </a:solidFill>
                <a:latin typeface="Calibri"/>
              </a:rPr>
              <a:t>—  總  結 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2930" y="1165860"/>
            <a:ext cx="8229600" cy="48005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 Black"/>
              </a:rPr>
              <a:t>NCHU Claude MCP Client — Haiku Alignment 優化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2930" y="1920239"/>
            <a:ext cx="2023110" cy="2400300"/>
          </a:xfrm>
          <a:prstGeom prst="roundRect">
            <a:avLst>
              <a:gd name="adj" fmla="val 10000"/>
            </a:avLst>
          </a:prstGeom>
          <a:solidFill>
            <a:srgbClr val="1E203A"/>
          </a:solidFill>
          <a:ln w="19050">
            <a:solidFill>
              <a:srgbClr val="FB70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4380" y="2091689"/>
            <a:ext cx="1680210" cy="6858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3150" b="1" i="0">
                <a:solidFill>
                  <a:srgbClr val="FB7048"/>
                </a:solidFill>
                <a:latin typeface="Arial Black"/>
              </a:rPr>
              <a:t>73%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" y="2880360"/>
            <a:ext cx="168021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 Black"/>
              </a:rPr>
              <a:t>成本節省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3326129"/>
            <a:ext cx="1680210" cy="89154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975" b="0" i="0">
                <a:solidFill>
                  <a:srgbClr val="9CA3AF"/>
                </a:solidFill>
                <a:latin typeface="Calibri"/>
              </a:rPr>
              <a:t>Input token 費用大幅降低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920239"/>
            <a:ext cx="2023110" cy="2400300"/>
          </a:xfrm>
          <a:prstGeom prst="roundRect">
            <a:avLst>
              <a:gd name="adj" fmla="val 10000"/>
            </a:avLst>
          </a:prstGeom>
          <a:solidFill>
            <a:srgbClr val="1E203A"/>
          </a:solidFill>
          <a:ln w="19050">
            <a:solidFill>
              <a:srgbClr val="7B5C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14650" y="2091689"/>
            <a:ext cx="1680210" cy="6858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3150" b="1" i="0">
                <a:solidFill>
                  <a:srgbClr val="7B5CF5"/>
                </a:solidFill>
                <a:latin typeface="Arial Black"/>
              </a:rPr>
              <a:t>3,200+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14650" y="2880360"/>
            <a:ext cx="168021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 Black"/>
              </a:rPr>
              <a:t>Trace 範例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4650" y="3326129"/>
            <a:ext cx="1680210" cy="89154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975" b="0" i="0">
                <a:solidFill>
                  <a:srgbClr val="9CA3AF"/>
                </a:solidFill>
                <a:latin typeface="Calibri"/>
              </a:rPr>
              <a:t>Few-shot alignment 品質基礎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03470" y="1920239"/>
            <a:ext cx="2023110" cy="2400300"/>
          </a:xfrm>
          <a:prstGeom prst="roundRect">
            <a:avLst>
              <a:gd name="adj" fmla="val 10000"/>
            </a:avLst>
          </a:prstGeom>
          <a:solidFill>
            <a:srgbClr val="1E203A"/>
          </a:solidFill>
          <a:ln w="19050">
            <a:solidFill>
              <a:srgbClr val="0EA5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2091689"/>
            <a:ext cx="1680210" cy="6858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3150" b="1" i="0">
                <a:solidFill>
                  <a:srgbClr val="0EA594"/>
                </a:solidFill>
                <a:latin typeface="Arial Black"/>
              </a:rPr>
              <a:t>5 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880360"/>
            <a:ext cx="168021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 Black"/>
              </a:rPr>
              <a:t>格式規範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3326129"/>
            <a:ext cx="1680210" cy="89154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975" b="0" i="0">
                <a:solidFill>
                  <a:srgbClr val="9CA3AF"/>
                </a:solidFill>
                <a:latin typeface="Calibri"/>
              </a:rPr>
              <a:t>書籍/課程/活動/人員/法規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63740" y="1920239"/>
            <a:ext cx="2023110" cy="2400300"/>
          </a:xfrm>
          <a:prstGeom prst="roundRect">
            <a:avLst>
              <a:gd name="adj" fmla="val 10000"/>
            </a:avLst>
          </a:prstGeom>
          <a:solidFill>
            <a:srgbClr val="1E203A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35190" y="2091689"/>
            <a:ext cx="1680210" cy="6858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3150" b="1" i="0">
                <a:solidFill>
                  <a:srgbClr val="EF4444"/>
                </a:solidFill>
                <a:latin typeface="Arial Black"/>
              </a:rPr>
              <a:t>7 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5190" y="2880360"/>
            <a:ext cx="1680210" cy="34290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 Black"/>
              </a:rPr>
              <a:t>Agentic 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5190" y="3326129"/>
            <a:ext cx="1680210" cy="891540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ctr"/>
            <a:r>
              <a:rPr sz="975" b="0" i="0">
                <a:solidFill>
                  <a:srgbClr val="9CA3AF"/>
                </a:solidFill>
                <a:latin typeface="Calibri"/>
              </a:rPr>
              <a:t>最大工具呼叫迭代次數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766310"/>
            <a:ext cx="1028700" cy="240029"/>
          </a:xfrm>
          <a:prstGeom prst="rect">
            <a:avLst/>
          </a:prstGeom>
          <a:noFill/>
        </p:spPr>
        <p:txBody>
          <a:bodyPr wrap="square" lIns="27432" rIns="27432" tIns="13716" bIns="13716" anchor="t">
            <a:spAutoFit/>
          </a:bodyPr>
          <a:lstStyle/>
          <a:p>
            <a:pPr algn="r"/>
            <a:r>
              <a:rPr sz="1050" b="0" i="0">
                <a:solidFill>
                  <a:srgbClr val="9CA3AF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